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2" r:id="rId7"/>
    <p:sldId id="263" r:id="rId8"/>
    <p:sldId id="264" r:id="rId9"/>
    <p:sldId id="265" r:id="rId10"/>
    <p:sldId id="266" r:id="rId11"/>
    <p:sldId id="267" r:id="rId12"/>
    <p:sldId id="268" r:id="rId13"/>
    <p:sldId id="269" r:id="rId14"/>
    <p:sldId id="270" r:id="rId15"/>
    <p:sldId id="272" r:id="rId16"/>
    <p:sldId id="292" r:id="rId17"/>
    <p:sldId id="276" r:id="rId18"/>
    <p:sldId id="278" r:id="rId19"/>
    <p:sldId id="293" r:id="rId20"/>
    <p:sldId id="283" r:id="rId21"/>
    <p:sldId id="284" r:id="rId22"/>
    <p:sldId id="285" r:id="rId23"/>
    <p:sldId id="286" r:id="rId24"/>
    <p:sldId id="291" r:id="rId25"/>
    <p:sldId id="287" r:id="rId26"/>
    <p:sldId id="289" r:id="rId27"/>
    <p:sldId id="290"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59" d="100"/>
          <a:sy n="159" d="100"/>
        </p:scale>
        <p:origin x="2562"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75155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00:00–02:00
Open with the advertised promise: an LLM is a generator, not a reliable document database. The session shows how retrieval changes the boundary of what the system can responsibly answer.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02:00–03:30
Read the four promises as the contract for the talk. Emphasize that the point is not a product tour; it is understanding the boundaries and trade-offs behind the product.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03:30–04:00
Set expectations: the demo is intentionally short and focused. The audience will see the app before receiving the theory, so every later diagram answers a question raised by the demo.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04:00–04:30
Transition immediately to the running application. Keep the demo moving; do not explain every UI control. The audience should see a complete journey.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04:30–08:30
Live sequence: select a document, show both summaries, ask a question, click a citation, then open System Services &amp; Admin Consoles. Be explicit that mock mode and real mode are different paths.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10:00–10:15
This is the heart of the talk. Everything after the demo exists to explain two things: why retrieval is necessary, and why an AI agent left unsupervised builds something plausible instead of something correct.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10:15–11:10
Resist anthropomorphising. The model is an inference engine whose output distribution is shaped by training data and by the context you supply. It has no concept of “I have not seen this.” That single fact explains both hallucination on documents and the implementation failures shown in three slides.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11:10–12:00
A prompt cannot conjure missing evidence. Retrieval changes the input distribution, which is the only lever that actually moves the output. Say clearly that grounding reduces and localises hallucination rather than eliminating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12:00–12:45
Set this up as the premise, not as a complaint. Make the point that these five constraints are ordinary engineering requirements — the sort any enterprise project states on day one. Dwell on numbers 3 and 4: naming a technology and demanding its latest version are precisely the two instructions that fight hardest against the training prior, because the model has seen the alternative and the older version far more often. This slide exists so the next slide is evidence rather than anecdote.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12:45–13:50
Tell this honestly; it is the strongest evidence in the talk. The request was explicit in both cases and the output was still React and Boot 3. Connect it straight back to the previous slide: the model is not disobeying, it is returning to its prior because the requested alternative is sparse or post-cut-off in what it learned.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13:50–14:45
The exact commands matter less than the principle: convert intent into an artefact the build can evaluate. Mention that this is also how you stop silent regressions when a later iteration quietly reintroduces the familiar pattern.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14:45–15:35
Walk through both fragments. The API is incidental; what matters is that the evidence boundary, the failure behaviour and the citation format are written down rather than hoped for.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15:35–16:20
Make the point that none of these failures were dramatic crashes. The React app ran. The Boot 3 backend ran. That is exactly the danger: plausible output passes a casual look and only fails an exacting one.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16:20–17:15
Do not read the table aloud. Make one point: the Google AI Professional Certificate is built around creativity, multi-model use and lateral synthesis rather than syntax, and that is precisely the skill set that survives when generation becomes cheap. The three layers on the right map directly onto the architecture shown in the next section.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18:00–18:20
Now show the architecture that makes the earlier claims possible. This section should feel like opening the application’s walls.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B0579-2CC9-A387-D04A-C14E6A1A97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8DF85B-D30F-BEDE-2FA6-C1A6AA561D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872B84-1EE8-55BF-2E04-8001499C6FE7}"/>
              </a:ext>
            </a:extLst>
          </p:cNvPr>
          <p:cNvSpPr>
            <a:spLocks noGrp="1"/>
          </p:cNvSpPr>
          <p:nvPr>
            <p:ph type="body" idx="1"/>
          </p:nvPr>
        </p:nvSpPr>
        <p:spPr/>
        <p:txBody>
          <a:bodyPr/>
          <a:lstStyle/>
          <a:p>
            <a:r>
              <a:rPr lang="en-US" dirty="0"/>
              <a:t>Timing: 17:15–18:00
Land this without turning it into a biography. The through-line is that the research training and the certificate serve the same purpose from two directions: navigating ambiguity, and choosing the problem. Pause here before moving into the architecture section.</a:t>
            </a:r>
          </a:p>
        </p:txBody>
      </p:sp>
      <p:sp>
        <p:nvSpPr>
          <p:cNvPr id="4" name="Slide Number Placeholder 3">
            <a:extLst>
              <a:ext uri="{FF2B5EF4-FFF2-40B4-BE49-F238E27FC236}">
                <a16:creationId xmlns:a16="http://schemas.microsoft.com/office/drawing/2014/main" id="{AA949CE5-AD7E-A213-82D6-2DEFC3A1396A}"/>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40519363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23:30–25:00
Use this as the architectural trade-off slide. Polyglot persistence is not about collecting technologies; it is about separating operational responsibilities.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27:00–27:20
Introduce the teaching device: one familiar story, two explanations. First, the audience gets the mental model; then they see the engineering detail.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36:00–36:20
The final section combines two tables and a short set of lessons. Present the numbers as engineering estimates, not audited accounting.</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36:20–39:00
Walk through the exact financial-consumption table from the synchronized ledger. Emphasize that gross AI processing is estimated from the revised credit baseline, while runtime inference remains a separate figure.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39:00–42:00
Walk through the exact commercial-valuation table from the synchronized ledger. Explain that the manual and senior-engineer values are market benchmarks, while the autonomous-agent row uses the revised engineering estimate.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42:00–44:00
Deliver the five rules briskly. This is the practical summary of the talk, not a generic AI checklist: each rule comes directly from the project’s evolution.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1628DC-CE0A-4331-A2D7-1A40559FE1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1B10C6-337C-71C2-D200-7212FB88FB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E84177-E67C-FDA7-BE0B-469EBBEB1459}"/>
              </a:ext>
            </a:extLst>
          </p:cNvPr>
          <p:cNvSpPr>
            <a:spLocks noGrp="1"/>
          </p:cNvSpPr>
          <p:nvPr>
            <p:ph type="body" idx="1"/>
          </p:nvPr>
        </p:nvSpPr>
        <p:spPr/>
        <p:txBody>
          <a:bodyPr/>
          <a:lstStyle/>
          <a:p>
            <a:r>
              <a:rPr lang="en-US" dirty="0"/>
              <a:t>Timing: 36:00–36:20
The final section combines two tables and a short set of lessons. Present the numbers as engineering estimates, not audited accounting.</a:t>
            </a:r>
          </a:p>
        </p:txBody>
      </p:sp>
      <p:sp>
        <p:nvSpPr>
          <p:cNvPr id="4" name="Slide Number Placeholder 3">
            <a:extLst>
              <a:ext uri="{FF2B5EF4-FFF2-40B4-BE49-F238E27FC236}">
                <a16:creationId xmlns:a16="http://schemas.microsoft.com/office/drawing/2014/main" id="{A122DA66-1B11-8869-6BC7-98049781533D}"/>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31509166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44:00–45:00
Pause here. Invite questions about the live demo, RAG design, local inference, the AI-assisted development process, the estimates, or how to move the BPMN design toward an executable workflow.</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Reference slide
Use this slide as the handoff. The project documentation remains versioned with the code; GitHub Pages is the presentation layer planned for the final release.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Reference slide
Leave this as the final slide if the audience wants references, or return to the Q&amp;A slide for discussion.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6748272"/>
            <a:ext cx="12191695" cy="109728"/>
          </a:xfrm>
          <a:prstGeom prst="rect">
            <a:avLst/>
          </a:prstGeom>
          <a:solidFill>
            <a:srgbClr val="0F766E"/>
          </a:solidFill>
          <a:ln w="12700">
            <a:solidFill>
              <a:srgbClr val="0F766E"/>
            </a:solidFill>
            <a:prstDash val="solid"/>
          </a:ln>
        </p:spPr>
        <p:txBody>
          <a:bodyPr/>
          <a:lstStyle/>
          <a:p>
            <a:endParaRPr lang="en-US"/>
          </a:p>
        </p:txBody>
      </p:sp>
      <p:sp>
        <p:nvSpPr>
          <p:cNvPr id="3" name="Text 1"/>
          <p:cNvSpPr/>
          <p:nvPr/>
        </p:nvSpPr>
        <p:spPr>
          <a:xfrm>
            <a:off x="411480" y="6473952"/>
            <a:ext cx="4114800" cy="164592"/>
          </a:xfrm>
          <a:prstGeom prst="rect">
            <a:avLst/>
          </a:prstGeom>
          <a:noFill/>
          <a:ln/>
        </p:spPr>
        <p:txBody>
          <a:bodyPr wrap="square" lIns="0" tIns="0" rIns="0" bIns="0" rtlCol="0" anchor="ctr"/>
          <a:lstStyle/>
          <a:p>
            <a:pPr marL="0" indent="0">
              <a:buNone/>
            </a:pPr>
            <a:r>
              <a:rPr lang="en-US" sz="800" dirty="0">
                <a:solidFill>
                  <a:srgbClr val="64748B"/>
                </a:solidFill>
                <a:latin typeface="Aptos" pitchFamily="34" charset="0"/>
                <a:ea typeface="Aptos" pitchFamily="34" charset="-122"/>
                <a:cs typeface="Aptos" pitchFamily="34" charset="-120"/>
              </a:rPr>
              <a:t>Personal Library  |  Beyond Prompting</a:t>
            </a:r>
            <a:endParaRPr lang="en-US" sz="8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8" Type="http://schemas.openxmlformats.org/officeDocument/2006/relationships/hyperlink" Target="http://localhost:13000/docs/devops-guide.html" TargetMode="External"/><Relationship Id="rId3" Type="http://schemas.openxmlformats.org/officeDocument/2006/relationships/hyperlink" Target="http://localhost:13000/docs/diagrams/architecture_diagrams.pdf" TargetMode="External"/><Relationship Id="rId7" Type="http://schemas.openxmlformats.org/officeDocument/2006/relationships/hyperlink" Target="http://localhost:13000/docs/backend-architecture.html"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hyperlink" Target="http://localhost:13000/docs/frontend-architecture.html" TargetMode="External"/><Relationship Id="rId5" Type="http://schemas.openxmlformats.org/officeDocument/2006/relationships/hyperlink" Target="http://localhost:13000/docs/diagrams/document_ingestion_rag.pdf" TargetMode="External"/><Relationship Id="rId4" Type="http://schemas.openxmlformats.org/officeDocument/2006/relationships/hyperlink" Target="http://localhost:13000/docs/rag-architecture-comparison.html"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hyperlink" Target="http://localhost:13000/docs/rag-explained-scratch.html" TargetMode="External"/><Relationship Id="rId2" Type="http://schemas.openxmlformats.org/officeDocument/2006/relationships/hyperlink" Target="http://localhost:13000/docs/wizard-of-oz-explainer.html"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F172A"/>
          </a:solidFill>
          <a:ln w="12700">
            <a:solidFill>
              <a:srgbClr val="0F172A"/>
            </a:solidFill>
            <a:prstDash val="solid"/>
          </a:ln>
        </p:spPr>
        <p:txBody>
          <a:bodyPr/>
          <a:lstStyle/>
          <a:p>
            <a:endParaRPr lang="en-US"/>
          </a:p>
        </p:txBody>
      </p:sp>
      <p:sp>
        <p:nvSpPr>
          <p:cNvPr id="3" name="Shape 1"/>
          <p:cNvSpPr/>
          <p:nvPr/>
        </p:nvSpPr>
        <p:spPr>
          <a:xfrm>
            <a:off x="0" y="0"/>
            <a:ext cx="164592" cy="6858000"/>
          </a:xfrm>
          <a:prstGeom prst="rect">
            <a:avLst/>
          </a:prstGeom>
          <a:solidFill>
            <a:srgbClr val="0F766E"/>
          </a:solidFill>
          <a:ln w="12700">
            <a:solidFill>
              <a:srgbClr val="0F766E"/>
            </a:solidFill>
            <a:prstDash val="solid"/>
          </a:ln>
        </p:spPr>
        <p:txBody>
          <a:bodyPr/>
          <a:lstStyle/>
          <a:p>
            <a:endParaRPr lang="en-US"/>
          </a:p>
        </p:txBody>
      </p:sp>
      <p:sp>
        <p:nvSpPr>
          <p:cNvPr id="4" name="Text 2"/>
          <p:cNvSpPr/>
          <p:nvPr/>
        </p:nvSpPr>
        <p:spPr>
          <a:xfrm>
            <a:off x="731520" y="731520"/>
            <a:ext cx="6400800" cy="320040"/>
          </a:xfrm>
          <a:prstGeom prst="rect">
            <a:avLst/>
          </a:prstGeom>
          <a:noFill/>
          <a:ln/>
        </p:spPr>
        <p:txBody>
          <a:bodyPr wrap="square" lIns="0" tIns="0" rIns="0" bIns="0" rtlCol="0" anchor="ctr">
            <a:normAutofit/>
          </a:bodyPr>
          <a:lstStyle/>
          <a:p>
            <a:pPr marL="0" indent="0">
              <a:buNone/>
            </a:pPr>
            <a:r>
              <a:rPr lang="en-US" sz="1400" b="1" kern="0" spc="200" dirty="0">
                <a:solidFill>
                  <a:srgbClr val="5EEAD4"/>
                </a:solidFill>
                <a:latin typeface="Aptos" pitchFamily="34" charset="0"/>
                <a:ea typeface="Aptos" pitchFamily="34" charset="-122"/>
                <a:cs typeface="Aptos" pitchFamily="34" charset="-120"/>
              </a:rPr>
              <a:t>BEYOND PROMPTING</a:t>
            </a:r>
            <a:endParaRPr lang="en-US" sz="1400" dirty="0"/>
          </a:p>
        </p:txBody>
      </p:sp>
      <p:sp>
        <p:nvSpPr>
          <p:cNvPr id="5" name="Text 3"/>
          <p:cNvSpPr/>
          <p:nvPr/>
        </p:nvSpPr>
        <p:spPr>
          <a:xfrm>
            <a:off x="731520" y="1280160"/>
            <a:ext cx="8138160" cy="2057400"/>
          </a:xfrm>
          <a:prstGeom prst="rect">
            <a:avLst/>
          </a:prstGeom>
          <a:noFill/>
          <a:ln/>
        </p:spPr>
        <p:txBody>
          <a:bodyPr wrap="square" lIns="0" tIns="0" rIns="0" bIns="0" rtlCol="0" anchor="t">
            <a:normAutofit/>
          </a:bodyPr>
          <a:lstStyle/>
          <a:p>
            <a:pPr marL="0" indent="0">
              <a:buNone/>
            </a:pPr>
            <a:r>
              <a:rPr lang="en-US" sz="3500" b="1" dirty="0">
                <a:solidFill>
                  <a:srgbClr val="FFFFFF"/>
                </a:solidFill>
                <a:latin typeface="Aptos" pitchFamily="34" charset="0"/>
                <a:ea typeface="Aptos" pitchFamily="34" charset="-122"/>
                <a:cs typeface="Aptos" pitchFamily="34" charset="-120"/>
              </a:rPr>
              <a:t>Building a Local AI</a:t>
            </a:r>
            <a:endParaRPr lang="en-US" sz="3500" dirty="0"/>
          </a:p>
          <a:p>
            <a:pPr marL="0" indent="0">
              <a:buNone/>
            </a:pPr>
            <a:r>
              <a:rPr lang="en-US" sz="3500" b="1" dirty="0">
                <a:solidFill>
                  <a:srgbClr val="FFFFFF"/>
                </a:solidFill>
                <a:latin typeface="Aptos" pitchFamily="34" charset="0"/>
                <a:ea typeface="Aptos" pitchFamily="34" charset="-122"/>
                <a:cs typeface="Aptos" pitchFamily="34" charset="-120"/>
              </a:rPr>
              <a:t>Document Assistant</a:t>
            </a:r>
            <a:endParaRPr lang="en-US" sz="3500" dirty="0"/>
          </a:p>
          <a:p>
            <a:pPr marL="0" indent="0">
              <a:buNone/>
            </a:pPr>
            <a:r>
              <a:rPr lang="en-US" sz="3500" b="1" dirty="0">
                <a:solidFill>
                  <a:srgbClr val="FFFFFF"/>
                </a:solidFill>
                <a:latin typeface="Aptos" pitchFamily="34" charset="0"/>
                <a:ea typeface="Aptos" pitchFamily="34" charset="-122"/>
                <a:cs typeface="Aptos" pitchFamily="34" charset="-120"/>
              </a:rPr>
              <a:t>with LLMs and RAG</a:t>
            </a:r>
            <a:endParaRPr lang="en-US" sz="3500" dirty="0"/>
          </a:p>
        </p:txBody>
      </p:sp>
      <p:sp>
        <p:nvSpPr>
          <p:cNvPr id="6" name="Text 4"/>
          <p:cNvSpPr/>
          <p:nvPr/>
        </p:nvSpPr>
        <p:spPr>
          <a:xfrm>
            <a:off x="758952" y="3794760"/>
            <a:ext cx="7589520" cy="777240"/>
          </a:xfrm>
          <a:prstGeom prst="rect">
            <a:avLst/>
          </a:prstGeom>
          <a:noFill/>
          <a:ln/>
        </p:spPr>
        <p:txBody>
          <a:bodyPr wrap="square" lIns="0" tIns="0" rIns="0" bIns="0" rtlCol="0" anchor="ctr">
            <a:normAutofit/>
          </a:bodyPr>
          <a:lstStyle/>
          <a:p>
            <a:pPr marL="0" indent="0">
              <a:buNone/>
            </a:pPr>
            <a:r>
              <a:rPr lang="en-US" sz="1800" dirty="0">
                <a:solidFill>
                  <a:srgbClr val="CBD5E1"/>
                </a:solidFill>
                <a:latin typeface="Aptos" pitchFamily="34" charset="0"/>
                <a:ea typeface="Aptos" pitchFamily="34" charset="-122"/>
                <a:cs typeface="Aptos" pitchFamily="34" charset="-120"/>
              </a:rPr>
              <a:t>A practical tour from PDF upload to grounded answers — and a reflection on what AI can build, what it cannot decide, and what humans must verify.</a:t>
            </a:r>
            <a:endParaRPr lang="en-US" sz="1800" dirty="0"/>
          </a:p>
        </p:txBody>
      </p:sp>
      <p:sp>
        <p:nvSpPr>
          <p:cNvPr id="7" name="Shape 5"/>
          <p:cNvSpPr/>
          <p:nvPr/>
        </p:nvSpPr>
        <p:spPr>
          <a:xfrm>
            <a:off x="749808" y="5138928"/>
            <a:ext cx="1234440" cy="310896"/>
          </a:xfrm>
          <a:prstGeom prst="roundRect">
            <a:avLst>
              <a:gd name="adj" fmla="val 44118"/>
            </a:avLst>
          </a:prstGeom>
          <a:solidFill>
            <a:srgbClr val="134E4A"/>
          </a:solidFill>
          <a:ln w="12700">
            <a:solidFill>
              <a:srgbClr val="134E4A"/>
            </a:solidFill>
            <a:prstDash val="solid"/>
          </a:ln>
        </p:spPr>
        <p:txBody>
          <a:bodyPr/>
          <a:lstStyle/>
          <a:p>
            <a:endParaRPr lang="en-US"/>
          </a:p>
        </p:txBody>
      </p:sp>
      <p:sp>
        <p:nvSpPr>
          <p:cNvPr id="8" name="Text 6"/>
          <p:cNvSpPr/>
          <p:nvPr/>
        </p:nvSpPr>
        <p:spPr>
          <a:xfrm>
            <a:off x="749808" y="5157216"/>
            <a:ext cx="1234440" cy="182880"/>
          </a:xfrm>
          <a:prstGeom prst="rect">
            <a:avLst/>
          </a:prstGeom>
          <a:noFill/>
          <a:ln/>
        </p:spPr>
        <p:txBody>
          <a:bodyPr wrap="square" lIns="0" tIns="0" rIns="0" bIns="0" rtlCol="0" anchor="ctr">
            <a:normAutofit/>
          </a:bodyPr>
          <a:lstStyle/>
          <a:p>
            <a:pPr marL="0" indent="0" algn="ctr">
              <a:buNone/>
            </a:pPr>
            <a:r>
              <a:rPr lang="en-US" sz="900" b="1" dirty="0">
                <a:solidFill>
                  <a:srgbClr val="CCFBF1"/>
                </a:solidFill>
                <a:latin typeface="Aptos" pitchFamily="34" charset="0"/>
                <a:ea typeface="Aptos" pitchFamily="34" charset="-122"/>
                <a:cs typeface="Aptos" pitchFamily="34" charset="-120"/>
              </a:rPr>
              <a:t>LOCAL-FIRST</a:t>
            </a:r>
            <a:endParaRPr lang="en-US" sz="900" dirty="0"/>
          </a:p>
        </p:txBody>
      </p:sp>
      <p:sp>
        <p:nvSpPr>
          <p:cNvPr id="9" name="Shape 7"/>
          <p:cNvSpPr/>
          <p:nvPr/>
        </p:nvSpPr>
        <p:spPr>
          <a:xfrm>
            <a:off x="2121408" y="5138928"/>
            <a:ext cx="1234440" cy="310896"/>
          </a:xfrm>
          <a:prstGeom prst="roundRect">
            <a:avLst>
              <a:gd name="adj" fmla="val 44118"/>
            </a:avLst>
          </a:prstGeom>
          <a:solidFill>
            <a:srgbClr val="1E3A8A"/>
          </a:solidFill>
          <a:ln w="12700">
            <a:solidFill>
              <a:srgbClr val="1E3A8A"/>
            </a:solidFill>
            <a:prstDash val="solid"/>
          </a:ln>
        </p:spPr>
        <p:txBody>
          <a:bodyPr/>
          <a:lstStyle/>
          <a:p>
            <a:endParaRPr lang="en-US"/>
          </a:p>
        </p:txBody>
      </p:sp>
      <p:sp>
        <p:nvSpPr>
          <p:cNvPr id="10" name="Text 8"/>
          <p:cNvSpPr/>
          <p:nvPr/>
        </p:nvSpPr>
        <p:spPr>
          <a:xfrm>
            <a:off x="2121408" y="5157216"/>
            <a:ext cx="1234440" cy="182880"/>
          </a:xfrm>
          <a:prstGeom prst="rect">
            <a:avLst/>
          </a:prstGeom>
          <a:noFill/>
          <a:ln/>
        </p:spPr>
        <p:txBody>
          <a:bodyPr wrap="square" lIns="0" tIns="0" rIns="0" bIns="0" rtlCol="0" anchor="ctr">
            <a:normAutofit/>
          </a:bodyPr>
          <a:lstStyle/>
          <a:p>
            <a:pPr marL="0" indent="0" algn="ctr">
              <a:buNone/>
            </a:pPr>
            <a:r>
              <a:rPr lang="en-US" sz="900" b="1" dirty="0">
                <a:solidFill>
                  <a:srgbClr val="DBEAFE"/>
                </a:solidFill>
                <a:latin typeface="Aptos" pitchFamily="34" charset="0"/>
                <a:ea typeface="Aptos" pitchFamily="34" charset="-122"/>
                <a:cs typeface="Aptos" pitchFamily="34" charset="-120"/>
              </a:rPr>
              <a:t>GROUNDED AI</a:t>
            </a:r>
            <a:endParaRPr lang="en-US" sz="900" dirty="0"/>
          </a:p>
        </p:txBody>
      </p:sp>
      <p:sp>
        <p:nvSpPr>
          <p:cNvPr id="11" name="Text 9"/>
          <p:cNvSpPr/>
          <p:nvPr/>
        </p:nvSpPr>
        <p:spPr>
          <a:xfrm>
            <a:off x="758952" y="5989320"/>
            <a:ext cx="6400800" cy="228600"/>
          </a:xfrm>
          <a:prstGeom prst="rect">
            <a:avLst/>
          </a:prstGeom>
          <a:noFill/>
          <a:ln/>
        </p:spPr>
        <p:txBody>
          <a:bodyPr wrap="square" lIns="0" tIns="0" rIns="0" bIns="0" rtlCol="0" anchor="ctr">
            <a:normAutofit/>
          </a:bodyPr>
          <a:lstStyle/>
          <a:p>
            <a:pPr marL="0" indent="0">
              <a:buNone/>
            </a:pPr>
            <a:r>
              <a:rPr lang="en-US" sz="1100" dirty="0">
                <a:solidFill>
                  <a:srgbClr val="94A3B8"/>
                </a:solidFill>
                <a:latin typeface="Aptos" pitchFamily="34" charset="0"/>
                <a:ea typeface="Aptos" pitchFamily="34" charset="-122"/>
                <a:cs typeface="Aptos" pitchFamily="34" charset="-120"/>
              </a:rPr>
              <a:t>Personal Library  |  Local-first document intelligence</a:t>
            </a:r>
            <a:endParaRPr lang="en-US" sz="11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marL="0" indent="0">
              <a:buNone/>
            </a:pP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marL="0" indent="0">
              <a:buNone/>
            </a:pPr>
            <a:r>
              <a:rPr lang="en-US" sz="2700" b="1" dirty="0">
                <a:solidFill>
                  <a:srgbClr val="0F172A"/>
                </a:solidFill>
                <a:latin typeface="Aptos" pitchFamily="34" charset="0"/>
                <a:ea typeface="Aptos" pitchFamily="34" charset="-122"/>
                <a:cs typeface="Aptos" pitchFamily="34" charset="-120"/>
              </a:rPr>
              <a:t>What this session will make concrete</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marL="0" indent="0">
              <a:buNone/>
            </a:pPr>
            <a:endParaRPr lang="en-US" sz="1200" dirty="0"/>
          </a:p>
        </p:txBody>
      </p:sp>
      <p:sp>
        <p:nvSpPr>
          <p:cNvPr id="5" name="Shape 3"/>
          <p:cNvSpPr/>
          <p:nvPr/>
        </p:nvSpPr>
        <p:spPr>
          <a:xfrm>
            <a:off x="594360" y="1874520"/>
            <a:ext cx="5257800" cy="1234440"/>
          </a:xfrm>
          <a:prstGeom prst="roundRect">
            <a:avLst>
              <a:gd name="adj" fmla="val 5926"/>
            </a:avLst>
          </a:prstGeom>
          <a:solidFill>
            <a:srgbClr val="FFFFFF"/>
          </a:solidFill>
          <a:ln w="12700">
            <a:solidFill>
              <a:srgbClr val="CBD5E1"/>
            </a:solidFill>
            <a:prstDash val="solid"/>
          </a:ln>
        </p:spPr>
        <p:txBody>
          <a:bodyPr/>
          <a:lstStyle/>
          <a:p>
            <a:endParaRPr lang="en-US"/>
          </a:p>
        </p:txBody>
      </p:sp>
      <p:sp>
        <p:nvSpPr>
          <p:cNvPr id="6" name="Text 4"/>
          <p:cNvSpPr/>
          <p:nvPr/>
        </p:nvSpPr>
        <p:spPr>
          <a:xfrm>
            <a:off x="822960" y="2057400"/>
            <a:ext cx="4754880" cy="201168"/>
          </a:xfrm>
          <a:prstGeom prst="rect">
            <a:avLst/>
          </a:prstGeom>
          <a:noFill/>
          <a:ln/>
        </p:spPr>
        <p:txBody>
          <a:bodyPr wrap="square" lIns="0" tIns="0" rIns="0" bIns="0" rtlCol="0" anchor="ctr">
            <a:normAutofit/>
          </a:bodyPr>
          <a:lstStyle/>
          <a:p>
            <a:pPr marL="0" indent="0">
              <a:buNone/>
            </a:pPr>
            <a:r>
              <a:rPr lang="en-US" sz="1000" b="1" kern="0" spc="100" dirty="0">
                <a:solidFill>
                  <a:srgbClr val="0F766E"/>
                </a:solidFill>
                <a:latin typeface="Aptos" pitchFamily="34" charset="0"/>
                <a:ea typeface="Aptos" pitchFamily="34" charset="-122"/>
                <a:cs typeface="Aptos" pitchFamily="34" charset="-120"/>
              </a:rPr>
              <a:t>PRIVATE INPUT</a:t>
            </a:r>
            <a:endParaRPr lang="en-US" sz="1000" dirty="0"/>
          </a:p>
        </p:txBody>
      </p:sp>
      <p:sp>
        <p:nvSpPr>
          <p:cNvPr id="7" name="Text 5"/>
          <p:cNvSpPr/>
          <p:nvPr/>
        </p:nvSpPr>
        <p:spPr>
          <a:xfrm>
            <a:off x="822960" y="2377440"/>
            <a:ext cx="4709160" cy="502920"/>
          </a:xfrm>
          <a:prstGeom prst="rect">
            <a:avLst/>
          </a:prstGeom>
          <a:noFill/>
          <a:ln/>
        </p:spPr>
        <p:txBody>
          <a:bodyPr wrap="square" lIns="0" tIns="0" rIns="0" bIns="0" rtlCol="0" anchor="ctr">
            <a:normAutofit lnSpcReduction="10000"/>
          </a:bodyPr>
          <a:lstStyle/>
          <a:p>
            <a:pPr marL="0" indent="0">
              <a:buNone/>
            </a:pPr>
            <a:r>
              <a:rPr lang="en-US" sz="1700" dirty="0">
                <a:solidFill>
                  <a:srgbClr val="0F172A"/>
                </a:solidFill>
                <a:latin typeface="Aptos" pitchFamily="34" charset="0"/>
                <a:ea typeface="Aptos" pitchFamily="34" charset="-122"/>
                <a:cs typeface="Aptos" pitchFamily="34" charset="-120"/>
              </a:rPr>
              <a:t>A PDF is uploaded locally. The system extracts text and metadata.</a:t>
            </a:r>
            <a:endParaRPr lang="en-US" sz="1700" dirty="0"/>
          </a:p>
        </p:txBody>
      </p:sp>
      <p:sp>
        <p:nvSpPr>
          <p:cNvPr id="8" name="Shape 6"/>
          <p:cNvSpPr/>
          <p:nvPr/>
        </p:nvSpPr>
        <p:spPr>
          <a:xfrm>
            <a:off x="6309360" y="1874520"/>
            <a:ext cx="5257800" cy="1234440"/>
          </a:xfrm>
          <a:prstGeom prst="roundRect">
            <a:avLst>
              <a:gd name="adj" fmla="val 5926"/>
            </a:avLst>
          </a:prstGeom>
          <a:solidFill>
            <a:srgbClr val="FFFFFF"/>
          </a:solidFill>
          <a:ln w="12700">
            <a:solidFill>
              <a:srgbClr val="CBD5E1"/>
            </a:solidFill>
            <a:prstDash val="solid"/>
          </a:ln>
        </p:spPr>
        <p:txBody>
          <a:bodyPr/>
          <a:lstStyle/>
          <a:p>
            <a:endParaRPr lang="en-US"/>
          </a:p>
        </p:txBody>
      </p:sp>
      <p:sp>
        <p:nvSpPr>
          <p:cNvPr id="9" name="Text 7"/>
          <p:cNvSpPr/>
          <p:nvPr/>
        </p:nvSpPr>
        <p:spPr>
          <a:xfrm>
            <a:off x="6537960" y="2057400"/>
            <a:ext cx="4754880" cy="201168"/>
          </a:xfrm>
          <a:prstGeom prst="rect">
            <a:avLst/>
          </a:prstGeom>
          <a:noFill/>
          <a:ln/>
        </p:spPr>
        <p:txBody>
          <a:bodyPr wrap="square" lIns="0" tIns="0" rIns="0" bIns="0" rtlCol="0" anchor="ctr">
            <a:normAutofit/>
          </a:bodyPr>
          <a:lstStyle/>
          <a:p>
            <a:pPr marL="0" indent="0">
              <a:buNone/>
            </a:pPr>
            <a:r>
              <a:rPr lang="en-US" sz="1000" b="1" kern="0" spc="100" dirty="0">
                <a:solidFill>
                  <a:srgbClr val="0F766E"/>
                </a:solidFill>
                <a:latin typeface="Aptos" pitchFamily="34" charset="0"/>
                <a:ea typeface="Aptos" pitchFamily="34" charset="-122"/>
                <a:cs typeface="Aptos" pitchFamily="34" charset="-120"/>
              </a:rPr>
              <a:t>RETRIEVAL</a:t>
            </a:r>
            <a:endParaRPr lang="en-US" sz="1000" dirty="0"/>
          </a:p>
        </p:txBody>
      </p:sp>
      <p:sp>
        <p:nvSpPr>
          <p:cNvPr id="10" name="Text 8"/>
          <p:cNvSpPr/>
          <p:nvPr/>
        </p:nvSpPr>
        <p:spPr>
          <a:xfrm>
            <a:off x="6537960" y="2377440"/>
            <a:ext cx="4709160" cy="502920"/>
          </a:xfrm>
          <a:prstGeom prst="rect">
            <a:avLst/>
          </a:prstGeom>
          <a:noFill/>
          <a:ln/>
        </p:spPr>
        <p:txBody>
          <a:bodyPr wrap="square" lIns="0" tIns="0" rIns="0" bIns="0" rtlCol="0" anchor="ctr">
            <a:normAutofit lnSpcReduction="10000"/>
          </a:bodyPr>
          <a:lstStyle/>
          <a:p>
            <a:pPr marL="0" indent="0">
              <a:buNone/>
            </a:pPr>
            <a:r>
              <a:rPr lang="en-US" sz="1700" dirty="0">
                <a:solidFill>
                  <a:srgbClr val="0F172A"/>
                </a:solidFill>
                <a:latin typeface="Aptos" pitchFamily="34" charset="0"/>
                <a:ea typeface="Aptos" pitchFamily="34" charset="-122"/>
                <a:cs typeface="Aptos" pitchFamily="34" charset="-120"/>
              </a:rPr>
              <a:t>Chunks become embeddings, then searchable points in Qdrant.</a:t>
            </a:r>
            <a:endParaRPr lang="en-US" sz="1700" dirty="0"/>
          </a:p>
        </p:txBody>
      </p:sp>
      <p:sp>
        <p:nvSpPr>
          <p:cNvPr id="11" name="Shape 9"/>
          <p:cNvSpPr/>
          <p:nvPr/>
        </p:nvSpPr>
        <p:spPr>
          <a:xfrm>
            <a:off x="594360" y="3566160"/>
            <a:ext cx="5257800" cy="1234440"/>
          </a:xfrm>
          <a:prstGeom prst="roundRect">
            <a:avLst>
              <a:gd name="adj" fmla="val 5926"/>
            </a:avLst>
          </a:prstGeom>
          <a:solidFill>
            <a:srgbClr val="FFFFFF"/>
          </a:solidFill>
          <a:ln w="12700">
            <a:solidFill>
              <a:srgbClr val="CBD5E1"/>
            </a:solidFill>
            <a:prstDash val="solid"/>
          </a:ln>
        </p:spPr>
        <p:txBody>
          <a:bodyPr/>
          <a:lstStyle/>
          <a:p>
            <a:endParaRPr lang="en-US"/>
          </a:p>
        </p:txBody>
      </p:sp>
      <p:sp>
        <p:nvSpPr>
          <p:cNvPr id="12" name="Text 10"/>
          <p:cNvSpPr/>
          <p:nvPr/>
        </p:nvSpPr>
        <p:spPr>
          <a:xfrm>
            <a:off x="822960" y="3749040"/>
            <a:ext cx="4754880" cy="201168"/>
          </a:xfrm>
          <a:prstGeom prst="rect">
            <a:avLst/>
          </a:prstGeom>
          <a:noFill/>
          <a:ln/>
        </p:spPr>
        <p:txBody>
          <a:bodyPr wrap="square" lIns="0" tIns="0" rIns="0" bIns="0" rtlCol="0" anchor="ctr">
            <a:normAutofit/>
          </a:bodyPr>
          <a:lstStyle/>
          <a:p>
            <a:pPr marL="0" indent="0">
              <a:buNone/>
            </a:pPr>
            <a:r>
              <a:rPr lang="en-US" sz="1000" b="1" kern="0" spc="100" dirty="0">
                <a:solidFill>
                  <a:srgbClr val="0F766E"/>
                </a:solidFill>
                <a:latin typeface="Aptos" pitchFamily="34" charset="0"/>
                <a:ea typeface="Aptos" pitchFamily="34" charset="-122"/>
                <a:cs typeface="Aptos" pitchFamily="34" charset="-120"/>
              </a:rPr>
              <a:t>GROUNDED OUTPUT</a:t>
            </a:r>
            <a:endParaRPr lang="en-US" sz="1000" dirty="0"/>
          </a:p>
        </p:txBody>
      </p:sp>
      <p:sp>
        <p:nvSpPr>
          <p:cNvPr id="13" name="Text 11"/>
          <p:cNvSpPr/>
          <p:nvPr/>
        </p:nvSpPr>
        <p:spPr>
          <a:xfrm>
            <a:off x="822960" y="4069080"/>
            <a:ext cx="4709160" cy="502920"/>
          </a:xfrm>
          <a:prstGeom prst="rect">
            <a:avLst/>
          </a:prstGeom>
          <a:noFill/>
          <a:ln/>
        </p:spPr>
        <p:txBody>
          <a:bodyPr wrap="square" lIns="0" tIns="0" rIns="0" bIns="0" rtlCol="0" anchor="ctr">
            <a:normAutofit lnSpcReduction="10000"/>
          </a:bodyPr>
          <a:lstStyle/>
          <a:p>
            <a:pPr marL="0" indent="0">
              <a:buNone/>
            </a:pPr>
            <a:r>
              <a:rPr lang="en-US" sz="1700" dirty="0">
                <a:solidFill>
                  <a:srgbClr val="0F172A"/>
                </a:solidFill>
                <a:latin typeface="Aptos" pitchFamily="34" charset="0"/>
                <a:ea typeface="Aptos" pitchFamily="34" charset="-122"/>
                <a:cs typeface="Aptos" pitchFamily="34" charset="-120"/>
              </a:rPr>
              <a:t>The model answers from retrieved passages and exposes citations.</a:t>
            </a:r>
            <a:endParaRPr lang="en-US" sz="1700" dirty="0"/>
          </a:p>
        </p:txBody>
      </p:sp>
      <p:sp>
        <p:nvSpPr>
          <p:cNvPr id="14" name="Shape 12"/>
          <p:cNvSpPr/>
          <p:nvPr/>
        </p:nvSpPr>
        <p:spPr>
          <a:xfrm>
            <a:off x="6309360" y="3566160"/>
            <a:ext cx="5257800" cy="1234440"/>
          </a:xfrm>
          <a:prstGeom prst="roundRect">
            <a:avLst>
              <a:gd name="adj" fmla="val 5926"/>
            </a:avLst>
          </a:prstGeom>
          <a:solidFill>
            <a:srgbClr val="CCFBF1"/>
          </a:solidFill>
          <a:ln w="12700">
            <a:solidFill>
              <a:srgbClr val="0F766E"/>
            </a:solidFill>
            <a:prstDash val="solid"/>
          </a:ln>
        </p:spPr>
        <p:txBody>
          <a:bodyPr/>
          <a:lstStyle/>
          <a:p>
            <a:endParaRPr lang="en-US"/>
          </a:p>
        </p:txBody>
      </p:sp>
      <p:sp>
        <p:nvSpPr>
          <p:cNvPr id="15" name="Text 13"/>
          <p:cNvSpPr/>
          <p:nvPr/>
        </p:nvSpPr>
        <p:spPr>
          <a:xfrm>
            <a:off x="6537960" y="3749040"/>
            <a:ext cx="4754880" cy="201168"/>
          </a:xfrm>
          <a:prstGeom prst="rect">
            <a:avLst/>
          </a:prstGeom>
          <a:noFill/>
          <a:ln/>
        </p:spPr>
        <p:txBody>
          <a:bodyPr wrap="square" lIns="0" tIns="0" rIns="0" bIns="0" rtlCol="0" anchor="ctr">
            <a:normAutofit/>
          </a:bodyPr>
          <a:lstStyle/>
          <a:p>
            <a:pPr marL="0" indent="0">
              <a:buNone/>
            </a:pPr>
            <a:r>
              <a:rPr lang="en-US" sz="1000" b="1" kern="0" spc="100" dirty="0">
                <a:solidFill>
                  <a:srgbClr val="0F766E"/>
                </a:solidFill>
                <a:latin typeface="Aptos" pitchFamily="34" charset="0"/>
                <a:ea typeface="Aptos" pitchFamily="34" charset="-122"/>
                <a:cs typeface="Aptos" pitchFamily="34" charset="-120"/>
              </a:rPr>
              <a:t>ENGINEERING LESSON</a:t>
            </a:r>
            <a:endParaRPr lang="en-US" sz="1000" dirty="0"/>
          </a:p>
        </p:txBody>
      </p:sp>
      <p:sp>
        <p:nvSpPr>
          <p:cNvPr id="16" name="Text 14"/>
          <p:cNvSpPr/>
          <p:nvPr/>
        </p:nvSpPr>
        <p:spPr>
          <a:xfrm>
            <a:off x="6537960" y="4069080"/>
            <a:ext cx="4709160" cy="502920"/>
          </a:xfrm>
          <a:prstGeom prst="rect">
            <a:avLst/>
          </a:prstGeom>
          <a:noFill/>
          <a:ln/>
        </p:spPr>
        <p:txBody>
          <a:bodyPr wrap="square" lIns="0" tIns="0" rIns="0" bIns="0" rtlCol="0" anchor="ctr">
            <a:normAutofit lnSpcReduction="10000"/>
          </a:bodyPr>
          <a:lstStyle/>
          <a:p>
            <a:pPr marL="0" indent="0">
              <a:buNone/>
            </a:pPr>
            <a:r>
              <a:rPr lang="en-US" sz="1700" b="1" dirty="0">
                <a:solidFill>
                  <a:srgbClr val="0F172A"/>
                </a:solidFill>
                <a:latin typeface="Aptos" pitchFamily="34" charset="0"/>
                <a:ea typeface="Aptos" pitchFamily="34" charset="-122"/>
                <a:cs typeface="Aptos" pitchFamily="34" charset="-120"/>
              </a:rPr>
              <a:t>AI can accelerate implementation, but it does not supply intent or verification.</a:t>
            </a:r>
            <a:endParaRPr lang="en-US" sz="1700" dirty="0"/>
          </a:p>
        </p:txBody>
      </p:sp>
      <p:sp>
        <p:nvSpPr>
          <p:cNvPr id="17" name="Text 15"/>
          <p:cNvSpPr/>
          <p:nvPr/>
        </p:nvSpPr>
        <p:spPr>
          <a:xfrm>
            <a:off x="640080" y="5532120"/>
            <a:ext cx="914400" cy="182880"/>
          </a:xfrm>
          <a:prstGeom prst="rect">
            <a:avLst/>
          </a:prstGeom>
          <a:noFill/>
          <a:ln/>
        </p:spPr>
        <p:txBody>
          <a:bodyPr wrap="square" lIns="0" tIns="0" rIns="0" bIns="0" rtlCol="0" anchor="ctr">
            <a:normAutofit/>
          </a:bodyPr>
          <a:lstStyle/>
          <a:p>
            <a:pPr marL="0" indent="0">
              <a:buNone/>
            </a:pPr>
            <a:r>
              <a:rPr lang="en-US" sz="1000" b="1" dirty="0">
                <a:solidFill>
                  <a:srgbClr val="64748B"/>
                </a:solidFill>
                <a:latin typeface="Aptos" pitchFamily="34" charset="0"/>
                <a:ea typeface="Aptos" pitchFamily="34" charset="-122"/>
                <a:cs typeface="Aptos" pitchFamily="34" charset="-120"/>
              </a:rPr>
              <a:t>Keywords</a:t>
            </a:r>
            <a:endParaRPr lang="en-US" sz="1000" dirty="0"/>
          </a:p>
        </p:txBody>
      </p:sp>
      <p:sp>
        <p:nvSpPr>
          <p:cNvPr id="18" name="Shape 16"/>
          <p:cNvSpPr/>
          <p:nvPr/>
        </p:nvSpPr>
        <p:spPr>
          <a:xfrm>
            <a:off x="1508760" y="5468112"/>
            <a:ext cx="1143000" cy="310896"/>
          </a:xfrm>
          <a:prstGeom prst="roundRect">
            <a:avLst>
              <a:gd name="adj" fmla="val 44118"/>
            </a:avLst>
          </a:prstGeom>
          <a:solidFill>
            <a:srgbClr val="CCFBF1"/>
          </a:solidFill>
          <a:ln w="12700">
            <a:solidFill>
              <a:srgbClr val="CCFBF1"/>
            </a:solidFill>
            <a:prstDash val="solid"/>
          </a:ln>
        </p:spPr>
        <p:txBody>
          <a:bodyPr/>
          <a:lstStyle/>
          <a:p>
            <a:endParaRPr lang="en-US"/>
          </a:p>
        </p:txBody>
      </p:sp>
      <p:sp>
        <p:nvSpPr>
          <p:cNvPr id="19" name="Text 17"/>
          <p:cNvSpPr/>
          <p:nvPr/>
        </p:nvSpPr>
        <p:spPr>
          <a:xfrm>
            <a:off x="1508760" y="5486400"/>
            <a:ext cx="1143000" cy="182880"/>
          </a:xfrm>
          <a:prstGeom prst="rect">
            <a:avLst/>
          </a:prstGeom>
          <a:noFill/>
          <a:ln/>
        </p:spPr>
        <p:txBody>
          <a:bodyPr wrap="square" lIns="0" tIns="0" rIns="0" bIns="0" rtlCol="0" anchor="ctr">
            <a:normAutofit/>
          </a:bodyPr>
          <a:lstStyle/>
          <a:p>
            <a:pPr marL="0" indent="0" algn="ctr">
              <a:buNone/>
            </a:pPr>
            <a:r>
              <a:rPr lang="en-US" sz="900" b="1" dirty="0">
                <a:solidFill>
                  <a:srgbClr val="0F766E"/>
                </a:solidFill>
                <a:latin typeface="Aptos" pitchFamily="34" charset="0"/>
                <a:ea typeface="Aptos" pitchFamily="34" charset="-122"/>
                <a:cs typeface="Aptos" pitchFamily="34" charset="-120"/>
              </a:rPr>
              <a:t>RAG</a:t>
            </a:r>
            <a:endParaRPr lang="en-US" sz="900" dirty="0"/>
          </a:p>
        </p:txBody>
      </p:sp>
      <p:sp>
        <p:nvSpPr>
          <p:cNvPr id="20" name="Shape 18"/>
          <p:cNvSpPr/>
          <p:nvPr/>
        </p:nvSpPr>
        <p:spPr>
          <a:xfrm>
            <a:off x="2834640" y="5468112"/>
            <a:ext cx="1143000" cy="310896"/>
          </a:xfrm>
          <a:prstGeom prst="roundRect">
            <a:avLst>
              <a:gd name="adj" fmla="val 44118"/>
            </a:avLst>
          </a:prstGeom>
          <a:solidFill>
            <a:srgbClr val="E2E8F0"/>
          </a:solidFill>
          <a:ln w="12700">
            <a:solidFill>
              <a:srgbClr val="E2E8F0"/>
            </a:solidFill>
            <a:prstDash val="solid"/>
          </a:ln>
        </p:spPr>
        <p:txBody>
          <a:bodyPr/>
          <a:lstStyle/>
          <a:p>
            <a:endParaRPr lang="en-US"/>
          </a:p>
        </p:txBody>
      </p:sp>
      <p:sp>
        <p:nvSpPr>
          <p:cNvPr id="21" name="Text 19"/>
          <p:cNvSpPr/>
          <p:nvPr/>
        </p:nvSpPr>
        <p:spPr>
          <a:xfrm>
            <a:off x="2834640" y="5486400"/>
            <a:ext cx="1143000" cy="182880"/>
          </a:xfrm>
          <a:prstGeom prst="rect">
            <a:avLst/>
          </a:prstGeom>
          <a:noFill/>
          <a:ln/>
        </p:spPr>
        <p:txBody>
          <a:bodyPr wrap="square" lIns="0" tIns="0" rIns="0" bIns="0" rtlCol="0" anchor="ctr">
            <a:normAutofit/>
          </a:bodyPr>
          <a:lstStyle/>
          <a:p>
            <a:pPr marL="0" indent="0" algn="ctr">
              <a:buNone/>
            </a:pPr>
            <a:r>
              <a:rPr lang="en-US" sz="900" b="1" dirty="0">
                <a:solidFill>
                  <a:srgbClr val="334155"/>
                </a:solidFill>
                <a:latin typeface="Aptos" pitchFamily="34" charset="0"/>
                <a:ea typeface="Aptos" pitchFamily="34" charset="-122"/>
                <a:cs typeface="Aptos" pitchFamily="34" charset="-120"/>
              </a:rPr>
              <a:t>Ollama</a:t>
            </a:r>
            <a:endParaRPr lang="en-US" sz="900" dirty="0"/>
          </a:p>
        </p:txBody>
      </p:sp>
      <p:sp>
        <p:nvSpPr>
          <p:cNvPr id="22" name="Shape 20"/>
          <p:cNvSpPr/>
          <p:nvPr/>
        </p:nvSpPr>
        <p:spPr>
          <a:xfrm>
            <a:off x="4160520" y="5468112"/>
            <a:ext cx="1143000" cy="310896"/>
          </a:xfrm>
          <a:prstGeom prst="roundRect">
            <a:avLst>
              <a:gd name="adj" fmla="val 44118"/>
            </a:avLst>
          </a:prstGeom>
          <a:solidFill>
            <a:srgbClr val="CCFBF1"/>
          </a:solidFill>
          <a:ln w="12700">
            <a:solidFill>
              <a:srgbClr val="CCFBF1"/>
            </a:solidFill>
            <a:prstDash val="solid"/>
          </a:ln>
        </p:spPr>
        <p:txBody>
          <a:bodyPr/>
          <a:lstStyle/>
          <a:p>
            <a:endParaRPr lang="en-US"/>
          </a:p>
        </p:txBody>
      </p:sp>
      <p:sp>
        <p:nvSpPr>
          <p:cNvPr id="23" name="Text 21"/>
          <p:cNvSpPr/>
          <p:nvPr/>
        </p:nvSpPr>
        <p:spPr>
          <a:xfrm>
            <a:off x="4160520" y="5486400"/>
            <a:ext cx="1143000" cy="182880"/>
          </a:xfrm>
          <a:prstGeom prst="rect">
            <a:avLst/>
          </a:prstGeom>
          <a:noFill/>
          <a:ln/>
        </p:spPr>
        <p:txBody>
          <a:bodyPr wrap="square" lIns="0" tIns="0" rIns="0" bIns="0" rtlCol="0" anchor="ctr">
            <a:normAutofit/>
          </a:bodyPr>
          <a:lstStyle/>
          <a:p>
            <a:pPr marL="0" indent="0" algn="ctr">
              <a:buNone/>
            </a:pPr>
            <a:r>
              <a:rPr lang="en-US" sz="900" b="1" dirty="0">
                <a:solidFill>
                  <a:srgbClr val="0F766E"/>
                </a:solidFill>
                <a:latin typeface="Aptos" pitchFamily="34" charset="0"/>
                <a:ea typeface="Aptos" pitchFamily="34" charset="-122"/>
                <a:cs typeface="Aptos" pitchFamily="34" charset="-120"/>
              </a:rPr>
              <a:t>Qdrant</a:t>
            </a:r>
            <a:endParaRPr lang="en-US" sz="900" dirty="0"/>
          </a:p>
        </p:txBody>
      </p:sp>
      <p:sp>
        <p:nvSpPr>
          <p:cNvPr id="24" name="Shape 22"/>
          <p:cNvSpPr/>
          <p:nvPr/>
        </p:nvSpPr>
        <p:spPr>
          <a:xfrm>
            <a:off x="5486400" y="5468112"/>
            <a:ext cx="1143000" cy="310896"/>
          </a:xfrm>
          <a:prstGeom prst="roundRect">
            <a:avLst>
              <a:gd name="adj" fmla="val 44118"/>
            </a:avLst>
          </a:prstGeom>
          <a:solidFill>
            <a:srgbClr val="E2E8F0"/>
          </a:solidFill>
          <a:ln w="12700">
            <a:solidFill>
              <a:srgbClr val="E2E8F0"/>
            </a:solidFill>
            <a:prstDash val="solid"/>
          </a:ln>
        </p:spPr>
        <p:txBody>
          <a:bodyPr/>
          <a:lstStyle/>
          <a:p>
            <a:endParaRPr lang="en-US"/>
          </a:p>
        </p:txBody>
      </p:sp>
      <p:sp>
        <p:nvSpPr>
          <p:cNvPr id="25" name="Text 23"/>
          <p:cNvSpPr/>
          <p:nvPr/>
        </p:nvSpPr>
        <p:spPr>
          <a:xfrm>
            <a:off x="5486400" y="5486400"/>
            <a:ext cx="1143000" cy="182880"/>
          </a:xfrm>
          <a:prstGeom prst="rect">
            <a:avLst/>
          </a:prstGeom>
          <a:noFill/>
          <a:ln/>
        </p:spPr>
        <p:txBody>
          <a:bodyPr wrap="square" lIns="0" tIns="0" rIns="0" bIns="0" rtlCol="0" anchor="ctr">
            <a:normAutofit/>
          </a:bodyPr>
          <a:lstStyle/>
          <a:p>
            <a:pPr marL="0" indent="0" algn="ctr">
              <a:buNone/>
            </a:pPr>
            <a:r>
              <a:rPr lang="en-US" sz="900" b="1" dirty="0">
                <a:solidFill>
                  <a:srgbClr val="334155"/>
                </a:solidFill>
                <a:latin typeface="Aptos" pitchFamily="34" charset="0"/>
                <a:ea typeface="Aptos" pitchFamily="34" charset="-122"/>
                <a:cs typeface="Aptos" pitchFamily="34" charset="-120"/>
              </a:rPr>
              <a:t>Embeddings</a:t>
            </a:r>
            <a:endParaRPr lang="en-US" sz="900" dirty="0"/>
          </a:p>
        </p:txBody>
      </p:sp>
      <p:sp>
        <p:nvSpPr>
          <p:cNvPr id="26" name="Shape 24"/>
          <p:cNvSpPr/>
          <p:nvPr/>
        </p:nvSpPr>
        <p:spPr>
          <a:xfrm>
            <a:off x="6812280" y="5468112"/>
            <a:ext cx="1143000" cy="310896"/>
          </a:xfrm>
          <a:prstGeom prst="roundRect">
            <a:avLst>
              <a:gd name="adj" fmla="val 44118"/>
            </a:avLst>
          </a:prstGeom>
          <a:solidFill>
            <a:srgbClr val="CCFBF1"/>
          </a:solidFill>
          <a:ln w="12700">
            <a:solidFill>
              <a:srgbClr val="CCFBF1"/>
            </a:solidFill>
            <a:prstDash val="solid"/>
          </a:ln>
        </p:spPr>
        <p:txBody>
          <a:bodyPr/>
          <a:lstStyle/>
          <a:p>
            <a:endParaRPr lang="en-US"/>
          </a:p>
        </p:txBody>
      </p:sp>
      <p:sp>
        <p:nvSpPr>
          <p:cNvPr id="27" name="Text 25"/>
          <p:cNvSpPr/>
          <p:nvPr/>
        </p:nvSpPr>
        <p:spPr>
          <a:xfrm>
            <a:off x="6812280" y="5486400"/>
            <a:ext cx="1143000" cy="182880"/>
          </a:xfrm>
          <a:prstGeom prst="rect">
            <a:avLst/>
          </a:prstGeom>
          <a:noFill/>
          <a:ln/>
        </p:spPr>
        <p:txBody>
          <a:bodyPr wrap="square" lIns="0" tIns="0" rIns="0" bIns="0" rtlCol="0" anchor="ctr">
            <a:normAutofit/>
          </a:bodyPr>
          <a:lstStyle/>
          <a:p>
            <a:pPr marL="0" indent="0" algn="ctr">
              <a:buNone/>
            </a:pPr>
            <a:r>
              <a:rPr lang="en-US" sz="900" b="1" dirty="0">
                <a:solidFill>
                  <a:srgbClr val="0F766E"/>
                </a:solidFill>
                <a:latin typeface="Aptos" pitchFamily="34" charset="0"/>
                <a:ea typeface="Aptos" pitchFamily="34" charset="-122"/>
                <a:cs typeface="Aptos" pitchFamily="34" charset="-120"/>
              </a:rPr>
              <a:t>Spring AI</a:t>
            </a:r>
            <a:endParaRPr lang="en-US" sz="900" dirty="0"/>
          </a:p>
        </p:txBody>
      </p:sp>
      <p:sp>
        <p:nvSpPr>
          <p:cNvPr id="28" name="Shape 26"/>
          <p:cNvSpPr/>
          <p:nvPr/>
        </p:nvSpPr>
        <p:spPr>
          <a:xfrm>
            <a:off x="8138160" y="5468112"/>
            <a:ext cx="1143000" cy="310896"/>
          </a:xfrm>
          <a:prstGeom prst="roundRect">
            <a:avLst>
              <a:gd name="adj" fmla="val 44118"/>
            </a:avLst>
          </a:prstGeom>
          <a:solidFill>
            <a:srgbClr val="E2E8F0"/>
          </a:solidFill>
          <a:ln w="12700">
            <a:solidFill>
              <a:srgbClr val="E2E8F0"/>
            </a:solidFill>
            <a:prstDash val="solid"/>
          </a:ln>
        </p:spPr>
        <p:txBody>
          <a:bodyPr/>
          <a:lstStyle/>
          <a:p>
            <a:endParaRPr lang="en-US"/>
          </a:p>
        </p:txBody>
      </p:sp>
      <p:sp>
        <p:nvSpPr>
          <p:cNvPr id="29" name="Text 27"/>
          <p:cNvSpPr/>
          <p:nvPr/>
        </p:nvSpPr>
        <p:spPr>
          <a:xfrm>
            <a:off x="8138160" y="5486400"/>
            <a:ext cx="1143000" cy="182880"/>
          </a:xfrm>
          <a:prstGeom prst="rect">
            <a:avLst/>
          </a:prstGeom>
          <a:noFill/>
          <a:ln/>
        </p:spPr>
        <p:txBody>
          <a:bodyPr wrap="square" lIns="0" tIns="0" rIns="0" bIns="0" rtlCol="0" anchor="ctr">
            <a:normAutofit/>
          </a:bodyPr>
          <a:lstStyle/>
          <a:p>
            <a:pPr marL="0" indent="0" algn="ctr">
              <a:buNone/>
            </a:pPr>
            <a:r>
              <a:rPr lang="en-US" sz="900" b="1" dirty="0">
                <a:solidFill>
                  <a:srgbClr val="334155"/>
                </a:solidFill>
                <a:latin typeface="Aptos" pitchFamily="34" charset="0"/>
                <a:ea typeface="Aptos" pitchFamily="34" charset="-122"/>
                <a:cs typeface="Aptos" pitchFamily="34" charset="-120"/>
              </a:rPr>
              <a:t>Local AI</a:t>
            </a:r>
            <a:endParaRPr lang="en-US" sz="900" dirty="0"/>
          </a:p>
        </p:txBody>
      </p:sp>
      <p:sp>
        <p:nvSpPr>
          <p:cNvPr id="30" name="Shape 28"/>
          <p:cNvSpPr/>
          <p:nvPr/>
        </p:nvSpPr>
        <p:spPr>
          <a:xfrm>
            <a:off x="9464040" y="5468112"/>
            <a:ext cx="1143000" cy="310896"/>
          </a:xfrm>
          <a:prstGeom prst="roundRect">
            <a:avLst>
              <a:gd name="adj" fmla="val 44118"/>
            </a:avLst>
          </a:prstGeom>
          <a:solidFill>
            <a:srgbClr val="CCFBF1"/>
          </a:solidFill>
          <a:ln w="12700">
            <a:solidFill>
              <a:srgbClr val="CCFBF1"/>
            </a:solidFill>
            <a:prstDash val="solid"/>
          </a:ln>
        </p:spPr>
        <p:txBody>
          <a:bodyPr/>
          <a:lstStyle/>
          <a:p>
            <a:endParaRPr lang="en-US"/>
          </a:p>
        </p:txBody>
      </p:sp>
      <p:sp>
        <p:nvSpPr>
          <p:cNvPr id="31" name="Text 29"/>
          <p:cNvSpPr/>
          <p:nvPr/>
        </p:nvSpPr>
        <p:spPr>
          <a:xfrm>
            <a:off x="9464040" y="5486400"/>
            <a:ext cx="1143000" cy="182880"/>
          </a:xfrm>
          <a:prstGeom prst="rect">
            <a:avLst/>
          </a:prstGeom>
          <a:noFill/>
          <a:ln/>
        </p:spPr>
        <p:txBody>
          <a:bodyPr wrap="square" lIns="0" tIns="0" rIns="0" bIns="0" rtlCol="0" anchor="ctr">
            <a:normAutofit/>
          </a:bodyPr>
          <a:lstStyle/>
          <a:p>
            <a:pPr marL="0" indent="0" algn="ctr">
              <a:buNone/>
            </a:pPr>
            <a:r>
              <a:rPr lang="en-US" sz="900" b="1" dirty="0">
                <a:solidFill>
                  <a:srgbClr val="0F766E"/>
                </a:solidFill>
                <a:latin typeface="Aptos" pitchFamily="34" charset="0"/>
                <a:ea typeface="Aptos" pitchFamily="34" charset="-122"/>
                <a:cs typeface="Aptos" pitchFamily="34" charset="-120"/>
              </a:rPr>
              <a:t>Semantic Search</a:t>
            </a:r>
            <a:endParaRPr lang="en-US" sz="900" dirty="0"/>
          </a:p>
        </p:txBody>
      </p:sp>
      <p:sp>
        <p:nvSpPr>
          <p:cNvPr id="32"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marL="0" indent="0">
              <a:buNone/>
            </a:pPr>
            <a:r>
              <a:rPr lang="en-US" sz="900" b="1" kern="0" spc="110" dirty="0">
                <a:solidFill>
                  <a:srgbClr val="0F766E"/>
                </a:solidFill>
                <a:latin typeface="Aptos" pitchFamily="34" charset="0"/>
                <a:ea typeface="Aptos" pitchFamily="34" charset="-122"/>
                <a:cs typeface="Aptos" pitchFamily="34" charset="-120"/>
              </a:rPr>
              <a:t>ROADMAP</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marL="0" indent="0">
              <a:buNone/>
            </a:pPr>
            <a:r>
              <a:rPr lang="en-US" sz="2700" b="1" dirty="0">
                <a:solidFill>
                  <a:srgbClr val="0F172A"/>
                </a:solidFill>
                <a:latin typeface="Aptos" pitchFamily="34" charset="0"/>
                <a:ea typeface="Aptos" pitchFamily="34" charset="-122"/>
                <a:cs typeface="Aptos" pitchFamily="34" charset="-120"/>
              </a:rPr>
              <a:t>Six sections, one continuous story</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marL="0" indent="0">
              <a:buNone/>
            </a:pPr>
            <a:endParaRPr lang="en-US" sz="1200" dirty="0"/>
          </a:p>
        </p:txBody>
      </p:sp>
      <p:sp>
        <p:nvSpPr>
          <p:cNvPr id="5" name="Shape 3"/>
          <p:cNvSpPr/>
          <p:nvPr/>
        </p:nvSpPr>
        <p:spPr>
          <a:xfrm>
            <a:off x="713232" y="2130552"/>
            <a:ext cx="10835640" cy="0"/>
          </a:xfrm>
          <a:prstGeom prst="line">
            <a:avLst/>
          </a:prstGeom>
          <a:noFill/>
          <a:ln w="12700">
            <a:solidFill>
              <a:srgbClr val="CBD5E1"/>
            </a:solidFill>
            <a:prstDash val="solid"/>
          </a:ln>
        </p:spPr>
        <p:txBody>
          <a:bodyPr/>
          <a:lstStyle/>
          <a:p>
            <a:endParaRPr lang="en-US"/>
          </a:p>
        </p:txBody>
      </p:sp>
      <p:sp>
        <p:nvSpPr>
          <p:cNvPr id="6" name="Text 4"/>
          <p:cNvSpPr/>
          <p:nvPr/>
        </p:nvSpPr>
        <p:spPr>
          <a:xfrm>
            <a:off x="713232" y="1691640"/>
            <a:ext cx="411480" cy="365760"/>
          </a:xfrm>
          <a:prstGeom prst="rect">
            <a:avLst/>
          </a:prstGeom>
          <a:noFill/>
          <a:ln/>
        </p:spPr>
        <p:txBody>
          <a:bodyPr wrap="square" lIns="0" tIns="0" rIns="0" bIns="0" rtlCol="0" anchor="ctr">
            <a:normAutofit/>
          </a:bodyPr>
          <a:lstStyle/>
          <a:p>
            <a:pPr marL="0" indent="0" algn="ctr">
              <a:buNone/>
            </a:pPr>
            <a:r>
              <a:rPr lang="en-US" sz="2000" b="1" dirty="0">
                <a:solidFill>
                  <a:srgbClr val="0F766E"/>
                </a:solidFill>
                <a:latin typeface="Aptos" pitchFamily="34" charset="0"/>
                <a:ea typeface="Aptos" pitchFamily="34" charset="-122"/>
                <a:cs typeface="Aptos" pitchFamily="34" charset="-120"/>
              </a:rPr>
              <a:t>1</a:t>
            </a:r>
            <a:endParaRPr lang="en-US" sz="2000" dirty="0"/>
          </a:p>
        </p:txBody>
      </p:sp>
      <p:sp>
        <p:nvSpPr>
          <p:cNvPr id="7" name="Text 5"/>
          <p:cNvSpPr/>
          <p:nvPr/>
        </p:nvSpPr>
        <p:spPr>
          <a:xfrm>
            <a:off x="1371600" y="1691640"/>
            <a:ext cx="2743200" cy="292608"/>
          </a:xfrm>
          <a:prstGeom prst="rect">
            <a:avLst/>
          </a:prstGeom>
          <a:noFill/>
          <a:ln/>
        </p:spPr>
        <p:txBody>
          <a:bodyPr wrap="square" lIns="0" tIns="0" rIns="0" bIns="0" rtlCol="0" anchor="ctr">
            <a:normAutofit/>
          </a:bodyPr>
          <a:lstStyle/>
          <a:p>
            <a:pPr marL="0" indent="0">
              <a:buNone/>
            </a:pPr>
            <a:r>
              <a:rPr lang="en-US" sz="1700" b="1" dirty="0">
                <a:solidFill>
                  <a:srgbClr val="0F172A"/>
                </a:solidFill>
                <a:latin typeface="Aptos" pitchFamily="34" charset="0"/>
                <a:ea typeface="Aptos" pitchFamily="34" charset="-122"/>
                <a:cs typeface="Aptos" pitchFamily="34" charset="-120"/>
              </a:rPr>
              <a:t>Live demo</a:t>
            </a:r>
            <a:endParaRPr lang="en-US" sz="1700" dirty="0"/>
          </a:p>
        </p:txBody>
      </p:sp>
      <p:sp>
        <p:nvSpPr>
          <p:cNvPr id="8" name="Text 6"/>
          <p:cNvSpPr/>
          <p:nvPr/>
        </p:nvSpPr>
        <p:spPr>
          <a:xfrm>
            <a:off x="4572000" y="1691640"/>
            <a:ext cx="6766560" cy="292608"/>
          </a:xfrm>
          <a:prstGeom prst="rect">
            <a:avLst/>
          </a:prstGeom>
          <a:noFill/>
          <a:ln/>
        </p:spPr>
        <p:txBody>
          <a:bodyPr wrap="square" lIns="0" tIns="0" rIns="0" bIns="0" rtlCol="0" anchor="ctr">
            <a:normAutofit/>
          </a:bodyPr>
          <a:lstStyle/>
          <a:p>
            <a:pPr marL="0" indent="0">
              <a:buNone/>
            </a:pPr>
            <a:r>
              <a:rPr lang="en-US" sz="1400" dirty="0">
                <a:solidFill>
                  <a:srgbClr val="334155"/>
                </a:solidFill>
                <a:latin typeface="Aptos" pitchFamily="34" charset="0"/>
                <a:ea typeface="Aptos" pitchFamily="34" charset="-122"/>
                <a:cs typeface="Aptos" pitchFamily="34" charset="-120"/>
              </a:rPr>
              <a:t>See upload, summaries, RAG chat, citations, and system consoles.</a:t>
            </a:r>
            <a:endParaRPr lang="en-US" sz="1400" dirty="0"/>
          </a:p>
        </p:txBody>
      </p:sp>
      <p:sp>
        <p:nvSpPr>
          <p:cNvPr id="9" name="Shape 7"/>
          <p:cNvSpPr/>
          <p:nvPr/>
        </p:nvSpPr>
        <p:spPr>
          <a:xfrm>
            <a:off x="713232" y="2843784"/>
            <a:ext cx="10835640" cy="0"/>
          </a:xfrm>
          <a:prstGeom prst="line">
            <a:avLst/>
          </a:prstGeom>
          <a:noFill/>
          <a:ln w="12700">
            <a:solidFill>
              <a:srgbClr val="CBD5E1"/>
            </a:solidFill>
            <a:prstDash val="solid"/>
          </a:ln>
        </p:spPr>
        <p:txBody>
          <a:bodyPr/>
          <a:lstStyle/>
          <a:p>
            <a:endParaRPr lang="en-US"/>
          </a:p>
        </p:txBody>
      </p:sp>
      <p:sp>
        <p:nvSpPr>
          <p:cNvPr id="10" name="Text 8"/>
          <p:cNvSpPr/>
          <p:nvPr/>
        </p:nvSpPr>
        <p:spPr>
          <a:xfrm>
            <a:off x="713232" y="2404872"/>
            <a:ext cx="411480" cy="365760"/>
          </a:xfrm>
          <a:prstGeom prst="rect">
            <a:avLst/>
          </a:prstGeom>
          <a:noFill/>
          <a:ln/>
        </p:spPr>
        <p:txBody>
          <a:bodyPr wrap="square" lIns="0" tIns="0" rIns="0" bIns="0" rtlCol="0" anchor="ctr">
            <a:normAutofit/>
          </a:bodyPr>
          <a:lstStyle/>
          <a:p>
            <a:pPr marL="0" indent="0" algn="ctr">
              <a:buNone/>
            </a:pPr>
            <a:r>
              <a:rPr lang="en-US" sz="2000" b="1" dirty="0">
                <a:solidFill>
                  <a:srgbClr val="0F766E"/>
                </a:solidFill>
                <a:latin typeface="Aptos" pitchFamily="34" charset="0"/>
                <a:ea typeface="Aptos" pitchFamily="34" charset="-122"/>
                <a:cs typeface="Aptos" pitchFamily="34" charset="-120"/>
              </a:rPr>
              <a:t>2</a:t>
            </a:r>
            <a:endParaRPr lang="en-US" sz="2000" dirty="0"/>
          </a:p>
        </p:txBody>
      </p:sp>
      <p:sp>
        <p:nvSpPr>
          <p:cNvPr id="11" name="Text 9"/>
          <p:cNvSpPr/>
          <p:nvPr/>
        </p:nvSpPr>
        <p:spPr>
          <a:xfrm>
            <a:off x="1371600" y="2404872"/>
            <a:ext cx="2743200" cy="292608"/>
          </a:xfrm>
          <a:prstGeom prst="rect">
            <a:avLst/>
          </a:prstGeom>
          <a:noFill/>
          <a:ln/>
        </p:spPr>
        <p:txBody>
          <a:bodyPr wrap="square" lIns="0" tIns="0" rIns="0" bIns="0" rtlCol="0" anchor="ctr">
            <a:normAutofit/>
          </a:bodyPr>
          <a:lstStyle/>
          <a:p>
            <a:pPr marL="0" indent="0">
              <a:buNone/>
            </a:pPr>
            <a:r>
              <a:rPr lang="en-US" sz="1700" b="1" dirty="0">
                <a:solidFill>
                  <a:srgbClr val="0F172A"/>
                </a:solidFill>
                <a:latin typeface="Aptos" pitchFamily="34" charset="0"/>
                <a:ea typeface="Aptos" pitchFamily="34" charset="-122"/>
                <a:cs typeface="Aptos" pitchFamily="34" charset="-120"/>
              </a:rPr>
              <a:t>Why / how</a:t>
            </a:r>
            <a:endParaRPr lang="en-US" sz="1700" dirty="0"/>
          </a:p>
        </p:txBody>
      </p:sp>
      <p:sp>
        <p:nvSpPr>
          <p:cNvPr id="12" name="Text 10"/>
          <p:cNvSpPr/>
          <p:nvPr/>
        </p:nvSpPr>
        <p:spPr>
          <a:xfrm>
            <a:off x="4572000" y="2404872"/>
            <a:ext cx="6766560" cy="292608"/>
          </a:xfrm>
          <a:prstGeom prst="rect">
            <a:avLst/>
          </a:prstGeom>
          <a:noFill/>
          <a:ln/>
        </p:spPr>
        <p:txBody>
          <a:bodyPr wrap="square" lIns="0" tIns="0" rIns="0" bIns="0" rtlCol="0" anchor="ctr">
            <a:normAutofit/>
          </a:bodyPr>
          <a:lstStyle/>
          <a:p>
            <a:pPr marL="0" indent="0">
              <a:buNone/>
            </a:pPr>
            <a:r>
              <a:rPr lang="en-US" sz="1400" dirty="0">
                <a:solidFill>
                  <a:srgbClr val="334155"/>
                </a:solidFill>
                <a:latin typeface="Aptos" pitchFamily="34" charset="0"/>
                <a:ea typeface="Aptos" pitchFamily="34" charset="-122"/>
                <a:cs typeface="Aptos" pitchFamily="34" charset="-120"/>
              </a:rPr>
              <a:t>Hallucination, training priors, machine-checkable architecture, human judgment.</a:t>
            </a:r>
            <a:endParaRPr lang="en-US" sz="1400" dirty="0"/>
          </a:p>
        </p:txBody>
      </p:sp>
      <p:sp>
        <p:nvSpPr>
          <p:cNvPr id="13" name="Shape 11"/>
          <p:cNvSpPr/>
          <p:nvPr/>
        </p:nvSpPr>
        <p:spPr>
          <a:xfrm>
            <a:off x="713232" y="3557016"/>
            <a:ext cx="10835640" cy="0"/>
          </a:xfrm>
          <a:prstGeom prst="line">
            <a:avLst/>
          </a:prstGeom>
          <a:noFill/>
          <a:ln w="12700">
            <a:solidFill>
              <a:srgbClr val="CBD5E1"/>
            </a:solidFill>
            <a:prstDash val="solid"/>
          </a:ln>
        </p:spPr>
        <p:txBody>
          <a:bodyPr/>
          <a:lstStyle/>
          <a:p>
            <a:endParaRPr lang="en-US"/>
          </a:p>
        </p:txBody>
      </p:sp>
      <p:sp>
        <p:nvSpPr>
          <p:cNvPr id="14" name="Text 12"/>
          <p:cNvSpPr/>
          <p:nvPr/>
        </p:nvSpPr>
        <p:spPr>
          <a:xfrm>
            <a:off x="713232" y="3118104"/>
            <a:ext cx="411480" cy="365760"/>
          </a:xfrm>
          <a:prstGeom prst="rect">
            <a:avLst/>
          </a:prstGeom>
          <a:noFill/>
          <a:ln/>
        </p:spPr>
        <p:txBody>
          <a:bodyPr wrap="square" lIns="0" tIns="0" rIns="0" bIns="0" rtlCol="0" anchor="ctr">
            <a:normAutofit/>
          </a:bodyPr>
          <a:lstStyle/>
          <a:p>
            <a:pPr marL="0" indent="0" algn="ctr">
              <a:buNone/>
            </a:pPr>
            <a:r>
              <a:rPr lang="en-US" sz="2000" b="1" dirty="0">
                <a:solidFill>
                  <a:srgbClr val="0F766E"/>
                </a:solidFill>
                <a:latin typeface="Aptos" pitchFamily="34" charset="0"/>
                <a:ea typeface="Aptos" pitchFamily="34" charset="-122"/>
                <a:cs typeface="Aptos" pitchFamily="34" charset="-120"/>
              </a:rPr>
              <a:t>3</a:t>
            </a:r>
            <a:endParaRPr lang="en-US" sz="2000" dirty="0"/>
          </a:p>
        </p:txBody>
      </p:sp>
      <p:sp>
        <p:nvSpPr>
          <p:cNvPr id="15" name="Text 13"/>
          <p:cNvSpPr/>
          <p:nvPr/>
        </p:nvSpPr>
        <p:spPr>
          <a:xfrm>
            <a:off x="1371600" y="3118104"/>
            <a:ext cx="2743200" cy="292608"/>
          </a:xfrm>
          <a:prstGeom prst="rect">
            <a:avLst/>
          </a:prstGeom>
          <a:noFill/>
          <a:ln/>
        </p:spPr>
        <p:txBody>
          <a:bodyPr wrap="square" lIns="0" tIns="0" rIns="0" bIns="0" rtlCol="0" anchor="ctr">
            <a:normAutofit/>
          </a:bodyPr>
          <a:lstStyle/>
          <a:p>
            <a:pPr marL="0" indent="0">
              <a:buNone/>
            </a:pPr>
            <a:r>
              <a:rPr lang="en-US" sz="1700" b="1" dirty="0">
                <a:solidFill>
                  <a:srgbClr val="0F172A"/>
                </a:solidFill>
                <a:latin typeface="Aptos" pitchFamily="34" charset="0"/>
                <a:ea typeface="Aptos" pitchFamily="34" charset="-122"/>
                <a:cs typeface="Aptos" pitchFamily="34" charset="-120"/>
              </a:rPr>
              <a:t>Architecture</a:t>
            </a:r>
            <a:endParaRPr lang="en-US" sz="1700" dirty="0"/>
          </a:p>
        </p:txBody>
      </p:sp>
      <p:sp>
        <p:nvSpPr>
          <p:cNvPr id="16" name="Text 14"/>
          <p:cNvSpPr/>
          <p:nvPr/>
        </p:nvSpPr>
        <p:spPr>
          <a:xfrm>
            <a:off x="4572000" y="3118104"/>
            <a:ext cx="6766560" cy="292608"/>
          </a:xfrm>
          <a:prstGeom prst="rect">
            <a:avLst/>
          </a:prstGeom>
          <a:noFill/>
          <a:ln/>
        </p:spPr>
        <p:txBody>
          <a:bodyPr wrap="square" lIns="0" tIns="0" rIns="0" bIns="0" rtlCol="0" anchor="ctr">
            <a:normAutofit/>
          </a:bodyPr>
          <a:lstStyle/>
          <a:p>
            <a:pPr marL="0" indent="0">
              <a:buNone/>
            </a:pPr>
            <a:r>
              <a:rPr lang="en-US" sz="1400" dirty="0">
                <a:solidFill>
                  <a:srgbClr val="334155"/>
                </a:solidFill>
                <a:latin typeface="Aptos" pitchFamily="34" charset="0"/>
                <a:ea typeface="Aptos" pitchFamily="34" charset="-122"/>
                <a:cs typeface="Aptos" pitchFamily="34" charset="-120"/>
              </a:rPr>
              <a:t>Designs, BPMN, services, persistence, and contracts.</a:t>
            </a:r>
            <a:endParaRPr lang="en-US" sz="1400" dirty="0"/>
          </a:p>
        </p:txBody>
      </p:sp>
      <p:sp>
        <p:nvSpPr>
          <p:cNvPr id="17" name="Shape 15"/>
          <p:cNvSpPr/>
          <p:nvPr/>
        </p:nvSpPr>
        <p:spPr>
          <a:xfrm>
            <a:off x="713232" y="4270248"/>
            <a:ext cx="10835640" cy="0"/>
          </a:xfrm>
          <a:prstGeom prst="line">
            <a:avLst/>
          </a:prstGeom>
          <a:noFill/>
          <a:ln w="12700">
            <a:solidFill>
              <a:srgbClr val="CBD5E1"/>
            </a:solidFill>
            <a:prstDash val="solid"/>
          </a:ln>
        </p:spPr>
        <p:txBody>
          <a:bodyPr/>
          <a:lstStyle/>
          <a:p>
            <a:endParaRPr lang="en-US"/>
          </a:p>
        </p:txBody>
      </p:sp>
      <p:sp>
        <p:nvSpPr>
          <p:cNvPr id="18" name="Text 16"/>
          <p:cNvSpPr/>
          <p:nvPr/>
        </p:nvSpPr>
        <p:spPr>
          <a:xfrm>
            <a:off x="713232" y="3831336"/>
            <a:ext cx="411480" cy="365760"/>
          </a:xfrm>
          <a:prstGeom prst="rect">
            <a:avLst/>
          </a:prstGeom>
          <a:noFill/>
          <a:ln/>
        </p:spPr>
        <p:txBody>
          <a:bodyPr wrap="square" lIns="0" tIns="0" rIns="0" bIns="0" rtlCol="0" anchor="ctr">
            <a:normAutofit/>
          </a:bodyPr>
          <a:lstStyle/>
          <a:p>
            <a:pPr marL="0" indent="0" algn="ctr">
              <a:buNone/>
            </a:pPr>
            <a:r>
              <a:rPr lang="en-US" sz="2000" b="1" dirty="0">
                <a:solidFill>
                  <a:srgbClr val="0F766E"/>
                </a:solidFill>
                <a:latin typeface="Aptos" pitchFamily="34" charset="0"/>
                <a:ea typeface="Aptos" pitchFamily="34" charset="-122"/>
                <a:cs typeface="Aptos" pitchFamily="34" charset="-120"/>
              </a:rPr>
              <a:t>4</a:t>
            </a:r>
            <a:endParaRPr lang="en-US" sz="2000" dirty="0"/>
          </a:p>
        </p:txBody>
      </p:sp>
      <p:sp>
        <p:nvSpPr>
          <p:cNvPr id="19" name="Text 17"/>
          <p:cNvSpPr/>
          <p:nvPr/>
        </p:nvSpPr>
        <p:spPr>
          <a:xfrm>
            <a:off x="1371600" y="3831336"/>
            <a:ext cx="2743200" cy="292608"/>
          </a:xfrm>
          <a:prstGeom prst="rect">
            <a:avLst/>
          </a:prstGeom>
          <a:noFill/>
          <a:ln/>
        </p:spPr>
        <p:txBody>
          <a:bodyPr wrap="square" lIns="0" tIns="0" rIns="0" bIns="0" rtlCol="0" anchor="ctr">
            <a:normAutofit/>
          </a:bodyPr>
          <a:lstStyle/>
          <a:p>
            <a:pPr marL="0" indent="0">
              <a:buNone/>
            </a:pPr>
            <a:r>
              <a:rPr lang="en-US" sz="1700" b="1" dirty="0">
                <a:solidFill>
                  <a:srgbClr val="0F172A"/>
                </a:solidFill>
                <a:latin typeface="Aptos" pitchFamily="34" charset="0"/>
              </a:rPr>
              <a:t>From Kansas to Vectors</a:t>
            </a:r>
            <a:endParaRPr lang="en-US" sz="1700" dirty="0"/>
          </a:p>
        </p:txBody>
      </p:sp>
      <p:sp>
        <p:nvSpPr>
          <p:cNvPr id="20" name="Text 18"/>
          <p:cNvSpPr/>
          <p:nvPr/>
        </p:nvSpPr>
        <p:spPr>
          <a:xfrm>
            <a:off x="4572000" y="3831336"/>
            <a:ext cx="6766560" cy="292608"/>
          </a:xfrm>
          <a:prstGeom prst="rect">
            <a:avLst/>
          </a:prstGeom>
          <a:noFill/>
          <a:ln/>
        </p:spPr>
        <p:txBody>
          <a:bodyPr wrap="square" lIns="0" tIns="0" rIns="0" bIns="0" rtlCol="0" anchor="ctr">
            <a:normAutofit/>
          </a:bodyPr>
          <a:lstStyle/>
          <a:p>
            <a:pPr marL="0" indent="0">
              <a:buNone/>
            </a:pPr>
            <a:r>
              <a:rPr lang="en-US" sz="1400" dirty="0">
                <a:solidFill>
                  <a:srgbClr val="334155"/>
                </a:solidFill>
                <a:latin typeface="Aptos" pitchFamily="34" charset="0"/>
                <a:ea typeface="Aptos" pitchFamily="34" charset="-122"/>
                <a:cs typeface="Aptos" pitchFamily="34" charset="-120"/>
              </a:rPr>
              <a:t>Beginner analogy, then a condensed advanced pipeline with code.</a:t>
            </a:r>
            <a:endParaRPr lang="en-US" sz="1400" dirty="0"/>
          </a:p>
        </p:txBody>
      </p:sp>
      <p:sp>
        <p:nvSpPr>
          <p:cNvPr id="21" name="Shape 19"/>
          <p:cNvSpPr/>
          <p:nvPr/>
        </p:nvSpPr>
        <p:spPr>
          <a:xfrm>
            <a:off x="713232" y="4983480"/>
            <a:ext cx="10835640" cy="0"/>
          </a:xfrm>
          <a:prstGeom prst="line">
            <a:avLst/>
          </a:prstGeom>
          <a:noFill/>
          <a:ln w="12700">
            <a:solidFill>
              <a:srgbClr val="CBD5E1"/>
            </a:solidFill>
            <a:prstDash val="solid"/>
          </a:ln>
        </p:spPr>
        <p:txBody>
          <a:bodyPr/>
          <a:lstStyle/>
          <a:p>
            <a:endParaRPr lang="en-US"/>
          </a:p>
        </p:txBody>
      </p:sp>
      <p:sp>
        <p:nvSpPr>
          <p:cNvPr id="22" name="Text 20"/>
          <p:cNvSpPr/>
          <p:nvPr/>
        </p:nvSpPr>
        <p:spPr>
          <a:xfrm>
            <a:off x="713232" y="4544568"/>
            <a:ext cx="411480" cy="365760"/>
          </a:xfrm>
          <a:prstGeom prst="rect">
            <a:avLst/>
          </a:prstGeom>
          <a:noFill/>
          <a:ln/>
        </p:spPr>
        <p:txBody>
          <a:bodyPr wrap="square" lIns="0" tIns="0" rIns="0" bIns="0" rtlCol="0" anchor="ctr">
            <a:normAutofit/>
          </a:bodyPr>
          <a:lstStyle/>
          <a:p>
            <a:pPr marL="0" indent="0" algn="ctr">
              <a:buNone/>
            </a:pPr>
            <a:r>
              <a:rPr lang="en-US" sz="2000" b="1" dirty="0">
                <a:solidFill>
                  <a:srgbClr val="0F766E"/>
                </a:solidFill>
                <a:latin typeface="Aptos" pitchFamily="34" charset="0"/>
                <a:ea typeface="Aptos" pitchFamily="34" charset="-122"/>
                <a:cs typeface="Aptos" pitchFamily="34" charset="-120"/>
              </a:rPr>
              <a:t>5</a:t>
            </a:r>
            <a:endParaRPr lang="en-US" sz="2000" dirty="0"/>
          </a:p>
        </p:txBody>
      </p:sp>
      <p:sp>
        <p:nvSpPr>
          <p:cNvPr id="23" name="Text 21"/>
          <p:cNvSpPr/>
          <p:nvPr/>
        </p:nvSpPr>
        <p:spPr>
          <a:xfrm>
            <a:off x="1371600" y="4544568"/>
            <a:ext cx="2743200" cy="292608"/>
          </a:xfrm>
          <a:prstGeom prst="rect">
            <a:avLst/>
          </a:prstGeom>
          <a:noFill/>
          <a:ln/>
        </p:spPr>
        <p:txBody>
          <a:bodyPr wrap="square" lIns="0" tIns="0" rIns="0" bIns="0" rtlCol="0" anchor="ctr">
            <a:normAutofit/>
          </a:bodyPr>
          <a:lstStyle/>
          <a:p>
            <a:pPr marL="0" indent="0">
              <a:buNone/>
            </a:pPr>
            <a:r>
              <a:rPr lang="en-US" sz="1700" b="1" dirty="0">
                <a:solidFill>
                  <a:srgbClr val="0F172A"/>
                </a:solidFill>
                <a:latin typeface="Aptos" pitchFamily="34" charset="0"/>
                <a:ea typeface="Aptos" pitchFamily="34" charset="-122"/>
                <a:cs typeface="Aptos" pitchFamily="34" charset="-120"/>
              </a:rPr>
              <a:t>Evidence &amp; lessons</a:t>
            </a:r>
            <a:endParaRPr lang="en-US" sz="1700" dirty="0"/>
          </a:p>
        </p:txBody>
      </p:sp>
      <p:sp>
        <p:nvSpPr>
          <p:cNvPr id="24" name="Text 22"/>
          <p:cNvSpPr/>
          <p:nvPr/>
        </p:nvSpPr>
        <p:spPr>
          <a:xfrm>
            <a:off x="4572000" y="4544568"/>
            <a:ext cx="6766560" cy="292608"/>
          </a:xfrm>
          <a:prstGeom prst="rect">
            <a:avLst/>
          </a:prstGeom>
          <a:noFill/>
          <a:ln/>
        </p:spPr>
        <p:txBody>
          <a:bodyPr wrap="square" lIns="0" tIns="0" rIns="0" bIns="0" rtlCol="0" anchor="ctr">
            <a:normAutofit/>
          </a:bodyPr>
          <a:lstStyle/>
          <a:p>
            <a:pPr marL="0" indent="0">
              <a:buNone/>
            </a:pPr>
            <a:r>
              <a:rPr lang="en-US" sz="1400" dirty="0">
                <a:solidFill>
                  <a:srgbClr val="334155"/>
                </a:solidFill>
                <a:latin typeface="Aptos" pitchFamily="34" charset="0"/>
                <a:ea typeface="Aptos" pitchFamily="34" charset="-122"/>
                <a:cs typeface="Aptos" pitchFamily="34" charset="-120"/>
              </a:rPr>
              <a:t>Comparison tables, estimates, limits, and the closing motto.</a:t>
            </a:r>
            <a:endParaRPr lang="en-US" sz="1400" dirty="0"/>
          </a:p>
        </p:txBody>
      </p:sp>
      <p:sp>
        <p:nvSpPr>
          <p:cNvPr id="25" name="Shape 23"/>
          <p:cNvSpPr/>
          <p:nvPr/>
        </p:nvSpPr>
        <p:spPr>
          <a:xfrm>
            <a:off x="713232" y="5696712"/>
            <a:ext cx="10835640" cy="0"/>
          </a:xfrm>
          <a:prstGeom prst="line">
            <a:avLst/>
          </a:prstGeom>
          <a:noFill/>
          <a:ln w="12700">
            <a:solidFill>
              <a:srgbClr val="CBD5E1"/>
            </a:solidFill>
            <a:prstDash val="solid"/>
          </a:ln>
        </p:spPr>
        <p:txBody>
          <a:bodyPr/>
          <a:lstStyle/>
          <a:p>
            <a:endParaRPr lang="en-US"/>
          </a:p>
        </p:txBody>
      </p:sp>
      <p:sp>
        <p:nvSpPr>
          <p:cNvPr id="26" name="Text 24"/>
          <p:cNvSpPr/>
          <p:nvPr/>
        </p:nvSpPr>
        <p:spPr>
          <a:xfrm>
            <a:off x="713232" y="5257800"/>
            <a:ext cx="411480" cy="365760"/>
          </a:xfrm>
          <a:prstGeom prst="rect">
            <a:avLst/>
          </a:prstGeom>
          <a:noFill/>
          <a:ln/>
        </p:spPr>
        <p:txBody>
          <a:bodyPr wrap="square" lIns="0" tIns="0" rIns="0" bIns="0" rtlCol="0" anchor="ctr">
            <a:normAutofit/>
          </a:bodyPr>
          <a:lstStyle/>
          <a:p>
            <a:pPr marL="0" indent="0" algn="ctr">
              <a:buNone/>
            </a:pPr>
            <a:r>
              <a:rPr lang="en-US" sz="2000" b="1" dirty="0">
                <a:solidFill>
                  <a:srgbClr val="0F766E"/>
                </a:solidFill>
                <a:latin typeface="Aptos" pitchFamily="34" charset="0"/>
                <a:ea typeface="Aptos" pitchFamily="34" charset="-122"/>
                <a:cs typeface="Aptos" pitchFamily="34" charset="-120"/>
              </a:rPr>
              <a:t>6</a:t>
            </a:r>
            <a:endParaRPr lang="en-US" sz="2000" dirty="0"/>
          </a:p>
        </p:txBody>
      </p:sp>
      <p:sp>
        <p:nvSpPr>
          <p:cNvPr id="27" name="Text 25"/>
          <p:cNvSpPr/>
          <p:nvPr/>
        </p:nvSpPr>
        <p:spPr>
          <a:xfrm>
            <a:off x="1371600" y="5257800"/>
            <a:ext cx="2743200" cy="292608"/>
          </a:xfrm>
          <a:prstGeom prst="rect">
            <a:avLst/>
          </a:prstGeom>
          <a:noFill/>
          <a:ln/>
        </p:spPr>
        <p:txBody>
          <a:bodyPr wrap="square" lIns="0" tIns="0" rIns="0" bIns="0" rtlCol="0" anchor="ctr">
            <a:normAutofit/>
          </a:bodyPr>
          <a:lstStyle/>
          <a:p>
            <a:pPr marL="0" indent="0">
              <a:buNone/>
            </a:pPr>
            <a:r>
              <a:rPr lang="en-US" sz="1700" b="1" dirty="0">
                <a:solidFill>
                  <a:srgbClr val="0F172A"/>
                </a:solidFill>
                <a:latin typeface="Aptos" pitchFamily="34" charset="0"/>
              </a:rPr>
              <a:t>Q&amp;A</a:t>
            </a:r>
            <a:endParaRPr lang="en-US" sz="1700" dirty="0"/>
          </a:p>
        </p:txBody>
      </p:sp>
      <p:sp>
        <p:nvSpPr>
          <p:cNvPr id="28" name="Text 26"/>
          <p:cNvSpPr/>
          <p:nvPr/>
        </p:nvSpPr>
        <p:spPr>
          <a:xfrm>
            <a:off x="4572000" y="5257800"/>
            <a:ext cx="6766560" cy="292608"/>
          </a:xfrm>
          <a:prstGeom prst="rect">
            <a:avLst/>
          </a:prstGeom>
          <a:noFill/>
          <a:ln/>
        </p:spPr>
        <p:txBody>
          <a:bodyPr wrap="square" lIns="0" tIns="0" rIns="0" bIns="0" rtlCol="0" anchor="ctr">
            <a:normAutofit/>
          </a:bodyPr>
          <a:lstStyle/>
          <a:p>
            <a:pPr marL="0" indent="0">
              <a:buNone/>
            </a:pPr>
            <a:endParaRPr lang="en-US" sz="1400" dirty="0"/>
          </a:p>
        </p:txBody>
      </p:sp>
      <p:sp>
        <p:nvSpPr>
          <p:cNvPr id="29"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F172A"/>
          </a:solidFill>
          <a:ln w="12700">
            <a:solidFill>
              <a:srgbClr val="0F172A"/>
            </a:solidFill>
            <a:prstDash val="solid"/>
          </a:ln>
        </p:spPr>
        <p:txBody>
          <a:bodyPr/>
          <a:lstStyle/>
          <a:p>
            <a:endParaRPr lang="en-US"/>
          </a:p>
        </p:txBody>
      </p:sp>
      <p:sp>
        <p:nvSpPr>
          <p:cNvPr id="3" name="Shape 1"/>
          <p:cNvSpPr/>
          <p:nvPr/>
        </p:nvSpPr>
        <p:spPr>
          <a:xfrm>
            <a:off x="640080" y="960120"/>
            <a:ext cx="109728" cy="4480560"/>
          </a:xfrm>
          <a:prstGeom prst="rect">
            <a:avLst/>
          </a:prstGeom>
          <a:solidFill>
            <a:srgbClr val="0F766E"/>
          </a:solidFill>
          <a:ln w="12700">
            <a:solidFill>
              <a:srgbClr val="0F766E"/>
            </a:solidFill>
            <a:prstDash val="solid"/>
          </a:ln>
        </p:spPr>
        <p:txBody>
          <a:bodyPr/>
          <a:lstStyle/>
          <a:p>
            <a:endParaRPr lang="en-US"/>
          </a:p>
        </p:txBody>
      </p:sp>
      <p:sp>
        <p:nvSpPr>
          <p:cNvPr id="4" name="Text 2"/>
          <p:cNvSpPr/>
          <p:nvPr/>
        </p:nvSpPr>
        <p:spPr>
          <a:xfrm>
            <a:off x="1024128" y="960120"/>
            <a:ext cx="2011680" cy="1097280"/>
          </a:xfrm>
          <a:prstGeom prst="rect">
            <a:avLst/>
          </a:prstGeom>
          <a:noFill/>
          <a:ln/>
        </p:spPr>
        <p:txBody>
          <a:bodyPr wrap="square" lIns="0" tIns="0" rIns="0" bIns="0" rtlCol="0" anchor="ctr">
            <a:normAutofit/>
          </a:bodyPr>
          <a:lstStyle/>
          <a:p>
            <a:pPr marL="0" indent="0">
              <a:buNone/>
            </a:pPr>
            <a:r>
              <a:rPr lang="en-US" sz="5800" b="1" dirty="0">
                <a:solidFill>
                  <a:srgbClr val="0F766E"/>
                </a:solidFill>
                <a:latin typeface="Aptos" pitchFamily="34" charset="0"/>
                <a:ea typeface="Aptos" pitchFamily="34" charset="-122"/>
                <a:cs typeface="Aptos" pitchFamily="34" charset="-120"/>
              </a:rPr>
              <a:t>01</a:t>
            </a:r>
            <a:endParaRPr lang="en-US" sz="5800" dirty="0"/>
          </a:p>
        </p:txBody>
      </p:sp>
      <p:sp>
        <p:nvSpPr>
          <p:cNvPr id="5" name="Text 3"/>
          <p:cNvSpPr/>
          <p:nvPr/>
        </p:nvSpPr>
        <p:spPr>
          <a:xfrm>
            <a:off x="1024128" y="2148840"/>
            <a:ext cx="9784080" cy="10058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Aptos" pitchFamily="34" charset="0"/>
                <a:ea typeface="Aptos" pitchFamily="34" charset="-122"/>
                <a:cs typeface="Aptos" pitchFamily="34" charset="-120"/>
              </a:rPr>
              <a:t>Live demo: from library item to grounded answer</a:t>
            </a:r>
            <a:endParaRPr lang="en-US" sz="3200" dirty="0"/>
          </a:p>
        </p:txBody>
      </p:sp>
      <p:sp>
        <p:nvSpPr>
          <p:cNvPr id="6" name="Text 4"/>
          <p:cNvSpPr/>
          <p:nvPr/>
        </p:nvSpPr>
        <p:spPr>
          <a:xfrm>
            <a:off x="1060704" y="4645152"/>
            <a:ext cx="8595360" cy="658368"/>
          </a:xfrm>
          <a:prstGeom prst="rect">
            <a:avLst/>
          </a:prstGeom>
          <a:noFill/>
          <a:ln/>
        </p:spPr>
        <p:txBody>
          <a:bodyPr wrap="square" lIns="0" tIns="0" rIns="0" bIns="0" rtlCol="0" anchor="ctr">
            <a:normAutofit/>
          </a:bodyPr>
          <a:lstStyle/>
          <a:p>
            <a:pPr marL="0" indent="0">
              <a:buNone/>
            </a:pPr>
            <a:r>
              <a:rPr lang="en-US" sz="1900" i="1" dirty="0">
                <a:solidFill>
                  <a:srgbClr val="E2E8F0"/>
                </a:solidFill>
                <a:latin typeface="Aptos" pitchFamily="34" charset="0"/>
                <a:ea typeface="Aptos" pitchFamily="34" charset="-122"/>
                <a:cs typeface="Aptos" pitchFamily="34" charset="-120"/>
              </a:rPr>
              <a:t>The goal is not to make the model sound confident.</a:t>
            </a:r>
            <a:endParaRPr lang="en-US" sz="1900" dirty="0"/>
          </a:p>
          <a:p>
            <a:pPr marL="0" indent="0">
              <a:buNone/>
            </a:pPr>
            <a:r>
              <a:rPr lang="en-US" sz="1900" i="1" dirty="0">
                <a:solidFill>
                  <a:srgbClr val="E2E8F0"/>
                </a:solidFill>
                <a:latin typeface="Aptos" pitchFamily="34" charset="0"/>
                <a:ea typeface="Aptos" pitchFamily="34" charset="-122"/>
                <a:cs typeface="Aptos" pitchFamily="34" charset="-120"/>
              </a:rPr>
              <a:t>The goal is to make the system useful, inspectable, and honest.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marL="0" indent="0">
              <a:buNone/>
            </a:pPr>
            <a:r>
              <a:rPr lang="en-US" sz="900" b="1" kern="0" spc="110" dirty="0">
                <a:solidFill>
                  <a:srgbClr val="0F766E"/>
                </a:solidFill>
                <a:latin typeface="Aptos" pitchFamily="34" charset="0"/>
                <a:ea typeface="Aptos" pitchFamily="34" charset="-122"/>
                <a:cs typeface="Aptos" pitchFamily="34" charset="-120"/>
              </a:rPr>
              <a:t>LIVE DEMO</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marL="0" indent="0">
              <a:buNone/>
            </a:pPr>
            <a:r>
              <a:rPr lang="en-US" sz="2700" b="1" dirty="0">
                <a:solidFill>
                  <a:srgbClr val="0F172A"/>
                </a:solidFill>
                <a:latin typeface="Aptos" pitchFamily="34" charset="0"/>
                <a:ea typeface="Aptos" pitchFamily="34" charset="-122"/>
                <a:cs typeface="Aptos" pitchFamily="34" charset="-120"/>
              </a:rPr>
              <a:t>One document, several inspectable surfaces</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marL="0" indent="0">
              <a:buNone/>
            </a:pPr>
            <a:endParaRPr lang="en-US" sz="1200" dirty="0"/>
          </a:p>
        </p:txBody>
      </p:sp>
      <p:sp>
        <p:nvSpPr>
          <p:cNvPr id="5" name="Shape 3"/>
          <p:cNvSpPr/>
          <p:nvPr/>
        </p:nvSpPr>
        <p:spPr>
          <a:xfrm>
            <a:off x="594360" y="1783080"/>
            <a:ext cx="3337560" cy="1298448"/>
          </a:xfrm>
          <a:prstGeom prst="roundRect">
            <a:avLst>
              <a:gd name="adj" fmla="val 5634"/>
            </a:avLst>
          </a:prstGeom>
          <a:solidFill>
            <a:srgbClr val="FFFFFF"/>
          </a:solidFill>
          <a:ln w="12700">
            <a:solidFill>
              <a:srgbClr val="CBD5E1"/>
            </a:solidFill>
            <a:prstDash val="solid"/>
          </a:ln>
        </p:spPr>
        <p:txBody>
          <a:bodyPr/>
          <a:lstStyle/>
          <a:p>
            <a:endParaRPr lang="en-US"/>
          </a:p>
        </p:txBody>
      </p:sp>
      <p:sp>
        <p:nvSpPr>
          <p:cNvPr id="6" name="Text 4"/>
          <p:cNvSpPr/>
          <p:nvPr/>
        </p:nvSpPr>
        <p:spPr>
          <a:xfrm>
            <a:off x="795528" y="1947672"/>
            <a:ext cx="365760" cy="320040"/>
          </a:xfrm>
          <a:prstGeom prst="rect">
            <a:avLst/>
          </a:prstGeom>
          <a:noFill/>
          <a:ln/>
        </p:spPr>
        <p:txBody>
          <a:bodyPr wrap="square" lIns="0" tIns="0" rIns="0" bIns="0" rtlCol="0" anchor="ctr">
            <a:normAutofit lnSpcReduction="10000"/>
          </a:bodyPr>
          <a:lstStyle/>
          <a:p>
            <a:pPr marL="0" indent="0">
              <a:buNone/>
            </a:pPr>
            <a:r>
              <a:rPr lang="en-US" sz="2200" b="1" dirty="0">
                <a:solidFill>
                  <a:srgbClr val="0F766E"/>
                </a:solidFill>
                <a:latin typeface="Aptos" pitchFamily="34" charset="0"/>
                <a:ea typeface="Aptos" pitchFamily="34" charset="-122"/>
                <a:cs typeface="Aptos" pitchFamily="34" charset="-120"/>
              </a:rPr>
              <a:t>1</a:t>
            </a:r>
            <a:endParaRPr lang="en-US" sz="2200" dirty="0"/>
          </a:p>
        </p:txBody>
      </p:sp>
      <p:sp>
        <p:nvSpPr>
          <p:cNvPr id="7" name="Text 5"/>
          <p:cNvSpPr/>
          <p:nvPr/>
        </p:nvSpPr>
        <p:spPr>
          <a:xfrm>
            <a:off x="1325880" y="1947672"/>
            <a:ext cx="2377440" cy="228600"/>
          </a:xfrm>
          <a:prstGeom prst="rect">
            <a:avLst/>
          </a:prstGeom>
          <a:noFill/>
          <a:ln/>
        </p:spPr>
        <p:txBody>
          <a:bodyPr wrap="square" lIns="0" tIns="0" rIns="0" bIns="0" rtlCol="0" anchor="ctr">
            <a:normAutofit lnSpcReduction="10000"/>
          </a:bodyPr>
          <a:lstStyle/>
          <a:p>
            <a:pPr marL="0" indent="0">
              <a:buNone/>
            </a:pPr>
            <a:r>
              <a:rPr lang="en-US" sz="1600" b="1" dirty="0">
                <a:solidFill>
                  <a:srgbClr val="0F172A"/>
                </a:solidFill>
                <a:latin typeface="Aptos" pitchFamily="34" charset="0"/>
                <a:ea typeface="Aptos" pitchFamily="34" charset="-122"/>
                <a:cs typeface="Aptos" pitchFamily="34" charset="-120"/>
              </a:rPr>
              <a:t>Upload / select</a:t>
            </a:r>
            <a:endParaRPr lang="en-US" sz="1600" dirty="0"/>
          </a:p>
        </p:txBody>
      </p:sp>
      <p:sp>
        <p:nvSpPr>
          <p:cNvPr id="8" name="Text 6"/>
          <p:cNvSpPr/>
          <p:nvPr/>
        </p:nvSpPr>
        <p:spPr>
          <a:xfrm>
            <a:off x="1325880" y="2313432"/>
            <a:ext cx="2331720" cy="502920"/>
          </a:xfrm>
          <a:prstGeom prst="rect">
            <a:avLst/>
          </a:prstGeom>
          <a:noFill/>
          <a:ln/>
        </p:spPr>
        <p:txBody>
          <a:bodyPr wrap="square" lIns="0" tIns="0" rIns="0" bIns="0" rtlCol="0" anchor="ctr">
            <a:normAutofit/>
          </a:bodyPr>
          <a:lstStyle/>
          <a:p>
            <a:pPr marL="0" indent="0">
              <a:buNone/>
            </a:pPr>
            <a:r>
              <a:rPr lang="en-US" sz="1200" dirty="0">
                <a:solidFill>
                  <a:srgbClr val="334155"/>
                </a:solidFill>
                <a:latin typeface="Aptos" pitchFamily="34" charset="0"/>
                <a:ea typeface="Aptos" pitchFamily="34" charset="-122"/>
                <a:cs typeface="Aptos" pitchFamily="34" charset="-120"/>
              </a:rPr>
              <a:t>PDF → extracted metadata, versioned file, summaries</a:t>
            </a:r>
            <a:endParaRPr lang="en-US" sz="1200" dirty="0"/>
          </a:p>
        </p:txBody>
      </p:sp>
      <p:sp>
        <p:nvSpPr>
          <p:cNvPr id="9" name="Shape 7"/>
          <p:cNvSpPr/>
          <p:nvPr/>
        </p:nvSpPr>
        <p:spPr>
          <a:xfrm>
            <a:off x="4389120" y="1783080"/>
            <a:ext cx="3337560" cy="1298448"/>
          </a:xfrm>
          <a:prstGeom prst="roundRect">
            <a:avLst>
              <a:gd name="adj" fmla="val 5634"/>
            </a:avLst>
          </a:prstGeom>
          <a:solidFill>
            <a:srgbClr val="FFFFFF"/>
          </a:solidFill>
          <a:ln w="12700">
            <a:solidFill>
              <a:srgbClr val="CBD5E1"/>
            </a:solidFill>
            <a:prstDash val="solid"/>
          </a:ln>
        </p:spPr>
        <p:txBody>
          <a:bodyPr/>
          <a:lstStyle/>
          <a:p>
            <a:endParaRPr lang="en-US"/>
          </a:p>
        </p:txBody>
      </p:sp>
      <p:sp>
        <p:nvSpPr>
          <p:cNvPr id="10" name="Text 8"/>
          <p:cNvSpPr/>
          <p:nvPr/>
        </p:nvSpPr>
        <p:spPr>
          <a:xfrm>
            <a:off x="4590288" y="1947672"/>
            <a:ext cx="365760" cy="320040"/>
          </a:xfrm>
          <a:prstGeom prst="rect">
            <a:avLst/>
          </a:prstGeom>
          <a:noFill/>
          <a:ln/>
        </p:spPr>
        <p:txBody>
          <a:bodyPr wrap="square" lIns="0" tIns="0" rIns="0" bIns="0" rtlCol="0" anchor="ctr">
            <a:normAutofit lnSpcReduction="10000"/>
          </a:bodyPr>
          <a:lstStyle/>
          <a:p>
            <a:pPr marL="0" indent="0">
              <a:buNone/>
            </a:pPr>
            <a:r>
              <a:rPr lang="en-US" sz="2200" b="1" dirty="0">
                <a:solidFill>
                  <a:srgbClr val="0F766E"/>
                </a:solidFill>
                <a:latin typeface="Aptos" pitchFamily="34" charset="0"/>
                <a:ea typeface="Aptos" pitchFamily="34" charset="-122"/>
                <a:cs typeface="Aptos" pitchFamily="34" charset="-120"/>
              </a:rPr>
              <a:t>2</a:t>
            </a:r>
            <a:endParaRPr lang="en-US" sz="2200" dirty="0"/>
          </a:p>
        </p:txBody>
      </p:sp>
      <p:sp>
        <p:nvSpPr>
          <p:cNvPr id="11" name="Text 9"/>
          <p:cNvSpPr/>
          <p:nvPr/>
        </p:nvSpPr>
        <p:spPr>
          <a:xfrm>
            <a:off x="5120640" y="1947672"/>
            <a:ext cx="2377440" cy="228600"/>
          </a:xfrm>
          <a:prstGeom prst="rect">
            <a:avLst/>
          </a:prstGeom>
          <a:noFill/>
          <a:ln/>
        </p:spPr>
        <p:txBody>
          <a:bodyPr wrap="square" lIns="0" tIns="0" rIns="0" bIns="0" rtlCol="0" anchor="ctr">
            <a:normAutofit lnSpcReduction="10000"/>
          </a:bodyPr>
          <a:lstStyle/>
          <a:p>
            <a:pPr marL="0" indent="0">
              <a:buNone/>
            </a:pPr>
            <a:r>
              <a:rPr lang="en-US" sz="1600" b="1" dirty="0">
                <a:solidFill>
                  <a:srgbClr val="0F172A"/>
                </a:solidFill>
                <a:latin typeface="Aptos" pitchFamily="34" charset="0"/>
                <a:ea typeface="Aptos" pitchFamily="34" charset="-122"/>
                <a:cs typeface="Aptos" pitchFamily="34" charset="-120"/>
              </a:rPr>
              <a:t>Ask a question</a:t>
            </a:r>
            <a:endParaRPr lang="en-US" sz="1600" dirty="0"/>
          </a:p>
        </p:txBody>
      </p:sp>
      <p:sp>
        <p:nvSpPr>
          <p:cNvPr id="12" name="Text 10"/>
          <p:cNvSpPr/>
          <p:nvPr/>
        </p:nvSpPr>
        <p:spPr>
          <a:xfrm>
            <a:off x="5120640" y="2313432"/>
            <a:ext cx="2331720" cy="502920"/>
          </a:xfrm>
          <a:prstGeom prst="rect">
            <a:avLst/>
          </a:prstGeom>
          <a:noFill/>
          <a:ln/>
        </p:spPr>
        <p:txBody>
          <a:bodyPr wrap="square" lIns="0" tIns="0" rIns="0" bIns="0" rtlCol="0" anchor="ctr">
            <a:normAutofit/>
          </a:bodyPr>
          <a:lstStyle/>
          <a:p>
            <a:pPr marL="0" indent="0">
              <a:buNone/>
            </a:pPr>
            <a:r>
              <a:rPr lang="en-US" sz="1200" dirty="0">
                <a:solidFill>
                  <a:srgbClr val="334155"/>
                </a:solidFill>
                <a:latin typeface="Aptos" pitchFamily="34" charset="0"/>
                <a:ea typeface="Aptos" pitchFamily="34" charset="-122"/>
                <a:cs typeface="Aptos" pitchFamily="34" charset="-120"/>
              </a:rPr>
              <a:t>RAG chat → answer plus source excerpts</a:t>
            </a:r>
            <a:endParaRPr lang="en-US" sz="1200" dirty="0"/>
          </a:p>
        </p:txBody>
      </p:sp>
      <p:sp>
        <p:nvSpPr>
          <p:cNvPr id="13" name="Shape 11"/>
          <p:cNvSpPr/>
          <p:nvPr/>
        </p:nvSpPr>
        <p:spPr>
          <a:xfrm>
            <a:off x="8183880" y="1783080"/>
            <a:ext cx="3337560" cy="1298448"/>
          </a:xfrm>
          <a:prstGeom prst="roundRect">
            <a:avLst>
              <a:gd name="adj" fmla="val 5634"/>
            </a:avLst>
          </a:prstGeom>
          <a:solidFill>
            <a:srgbClr val="FFFFFF"/>
          </a:solidFill>
          <a:ln w="12700">
            <a:solidFill>
              <a:srgbClr val="CBD5E1"/>
            </a:solidFill>
            <a:prstDash val="solid"/>
          </a:ln>
        </p:spPr>
        <p:txBody>
          <a:bodyPr/>
          <a:lstStyle/>
          <a:p>
            <a:endParaRPr lang="en-US"/>
          </a:p>
        </p:txBody>
      </p:sp>
      <p:sp>
        <p:nvSpPr>
          <p:cNvPr id="14" name="Text 12"/>
          <p:cNvSpPr/>
          <p:nvPr/>
        </p:nvSpPr>
        <p:spPr>
          <a:xfrm>
            <a:off x="8385048" y="1947672"/>
            <a:ext cx="365760" cy="320040"/>
          </a:xfrm>
          <a:prstGeom prst="rect">
            <a:avLst/>
          </a:prstGeom>
          <a:noFill/>
          <a:ln/>
        </p:spPr>
        <p:txBody>
          <a:bodyPr wrap="square" lIns="0" tIns="0" rIns="0" bIns="0" rtlCol="0" anchor="ctr">
            <a:normAutofit lnSpcReduction="10000"/>
          </a:bodyPr>
          <a:lstStyle/>
          <a:p>
            <a:pPr marL="0" indent="0">
              <a:buNone/>
            </a:pPr>
            <a:r>
              <a:rPr lang="en-US" sz="2200" b="1" dirty="0">
                <a:solidFill>
                  <a:srgbClr val="0F766E"/>
                </a:solidFill>
                <a:latin typeface="Aptos" pitchFamily="34" charset="0"/>
                <a:ea typeface="Aptos" pitchFamily="34" charset="-122"/>
                <a:cs typeface="Aptos" pitchFamily="34" charset="-120"/>
              </a:rPr>
              <a:t>3</a:t>
            </a:r>
            <a:endParaRPr lang="en-US" sz="2200" dirty="0"/>
          </a:p>
        </p:txBody>
      </p:sp>
      <p:sp>
        <p:nvSpPr>
          <p:cNvPr id="15" name="Text 13"/>
          <p:cNvSpPr/>
          <p:nvPr/>
        </p:nvSpPr>
        <p:spPr>
          <a:xfrm>
            <a:off x="8915400" y="1947672"/>
            <a:ext cx="2377440" cy="228600"/>
          </a:xfrm>
          <a:prstGeom prst="rect">
            <a:avLst/>
          </a:prstGeom>
          <a:noFill/>
          <a:ln/>
        </p:spPr>
        <p:txBody>
          <a:bodyPr wrap="square" lIns="0" tIns="0" rIns="0" bIns="0" rtlCol="0" anchor="ctr">
            <a:normAutofit lnSpcReduction="10000"/>
          </a:bodyPr>
          <a:lstStyle/>
          <a:p>
            <a:pPr marL="0" indent="0">
              <a:buNone/>
            </a:pPr>
            <a:r>
              <a:rPr lang="en-US" sz="1600" b="1" dirty="0">
                <a:solidFill>
                  <a:srgbClr val="0F172A"/>
                </a:solidFill>
                <a:latin typeface="Aptos" pitchFamily="34" charset="0"/>
                <a:ea typeface="Aptos" pitchFamily="34" charset="-122"/>
                <a:cs typeface="Aptos" pitchFamily="34" charset="-120"/>
              </a:rPr>
              <a:t>Inspect storage</a:t>
            </a:r>
            <a:endParaRPr lang="en-US" sz="1600" dirty="0"/>
          </a:p>
        </p:txBody>
      </p:sp>
      <p:sp>
        <p:nvSpPr>
          <p:cNvPr id="16" name="Text 14"/>
          <p:cNvSpPr/>
          <p:nvPr/>
        </p:nvSpPr>
        <p:spPr>
          <a:xfrm>
            <a:off x="8915400" y="2313432"/>
            <a:ext cx="2331720" cy="502920"/>
          </a:xfrm>
          <a:prstGeom prst="rect">
            <a:avLst/>
          </a:prstGeom>
          <a:noFill/>
          <a:ln/>
        </p:spPr>
        <p:txBody>
          <a:bodyPr wrap="square" lIns="0" tIns="0" rIns="0" bIns="0" rtlCol="0" anchor="ctr">
            <a:normAutofit/>
          </a:bodyPr>
          <a:lstStyle/>
          <a:p>
            <a:pPr marL="0" indent="0">
              <a:buNone/>
            </a:pPr>
            <a:r>
              <a:rPr lang="en-US" sz="1200" dirty="0">
                <a:solidFill>
                  <a:srgbClr val="334155"/>
                </a:solidFill>
                <a:latin typeface="Aptos" pitchFamily="34" charset="0"/>
                <a:ea typeface="Aptos" pitchFamily="34" charset="-122"/>
                <a:cs typeface="Aptos" pitchFamily="34" charset="-120"/>
              </a:rPr>
              <a:t>Mongo Express → document state and version history</a:t>
            </a:r>
            <a:endParaRPr lang="en-US" sz="1200" dirty="0"/>
          </a:p>
        </p:txBody>
      </p:sp>
      <p:sp>
        <p:nvSpPr>
          <p:cNvPr id="17" name="Shape 15"/>
          <p:cNvSpPr/>
          <p:nvPr/>
        </p:nvSpPr>
        <p:spPr>
          <a:xfrm>
            <a:off x="594360" y="3657600"/>
            <a:ext cx="3337560" cy="1298448"/>
          </a:xfrm>
          <a:prstGeom prst="roundRect">
            <a:avLst>
              <a:gd name="adj" fmla="val 5634"/>
            </a:avLst>
          </a:prstGeom>
          <a:solidFill>
            <a:srgbClr val="FFFFFF"/>
          </a:solidFill>
          <a:ln w="12700">
            <a:solidFill>
              <a:srgbClr val="CBD5E1"/>
            </a:solidFill>
            <a:prstDash val="solid"/>
          </a:ln>
        </p:spPr>
        <p:txBody>
          <a:bodyPr/>
          <a:lstStyle/>
          <a:p>
            <a:endParaRPr lang="en-US"/>
          </a:p>
        </p:txBody>
      </p:sp>
      <p:sp>
        <p:nvSpPr>
          <p:cNvPr id="18" name="Text 16"/>
          <p:cNvSpPr/>
          <p:nvPr/>
        </p:nvSpPr>
        <p:spPr>
          <a:xfrm>
            <a:off x="795528" y="3822192"/>
            <a:ext cx="365760" cy="320040"/>
          </a:xfrm>
          <a:prstGeom prst="rect">
            <a:avLst/>
          </a:prstGeom>
          <a:noFill/>
          <a:ln/>
        </p:spPr>
        <p:txBody>
          <a:bodyPr wrap="square" lIns="0" tIns="0" rIns="0" bIns="0" rtlCol="0" anchor="ctr">
            <a:normAutofit lnSpcReduction="10000"/>
          </a:bodyPr>
          <a:lstStyle/>
          <a:p>
            <a:pPr marL="0" indent="0">
              <a:buNone/>
            </a:pPr>
            <a:r>
              <a:rPr lang="en-US" sz="2200" b="1" dirty="0">
                <a:solidFill>
                  <a:srgbClr val="0F766E"/>
                </a:solidFill>
                <a:latin typeface="Aptos" pitchFamily="34" charset="0"/>
                <a:ea typeface="Aptos" pitchFamily="34" charset="-122"/>
                <a:cs typeface="Aptos" pitchFamily="34" charset="-120"/>
              </a:rPr>
              <a:t>4</a:t>
            </a:r>
            <a:endParaRPr lang="en-US" sz="2200" dirty="0"/>
          </a:p>
        </p:txBody>
      </p:sp>
      <p:sp>
        <p:nvSpPr>
          <p:cNvPr id="19" name="Text 17"/>
          <p:cNvSpPr/>
          <p:nvPr/>
        </p:nvSpPr>
        <p:spPr>
          <a:xfrm>
            <a:off x="1325880" y="3822192"/>
            <a:ext cx="2377440" cy="228600"/>
          </a:xfrm>
          <a:prstGeom prst="rect">
            <a:avLst/>
          </a:prstGeom>
          <a:noFill/>
          <a:ln/>
        </p:spPr>
        <p:txBody>
          <a:bodyPr wrap="square" lIns="0" tIns="0" rIns="0" bIns="0" rtlCol="0" anchor="ctr">
            <a:normAutofit lnSpcReduction="10000"/>
          </a:bodyPr>
          <a:lstStyle/>
          <a:p>
            <a:pPr marL="0" indent="0">
              <a:buNone/>
            </a:pPr>
            <a:r>
              <a:rPr lang="en-US" sz="1600" b="1" dirty="0">
                <a:solidFill>
                  <a:srgbClr val="0F172A"/>
                </a:solidFill>
                <a:latin typeface="Aptos" pitchFamily="34" charset="0"/>
                <a:ea typeface="Aptos" pitchFamily="34" charset="-122"/>
                <a:cs typeface="Aptos" pitchFamily="34" charset="-120"/>
              </a:rPr>
              <a:t>Inspect vectors</a:t>
            </a:r>
            <a:endParaRPr lang="en-US" sz="1600" dirty="0"/>
          </a:p>
        </p:txBody>
      </p:sp>
      <p:sp>
        <p:nvSpPr>
          <p:cNvPr id="20" name="Text 18"/>
          <p:cNvSpPr/>
          <p:nvPr/>
        </p:nvSpPr>
        <p:spPr>
          <a:xfrm>
            <a:off x="1325880" y="4187952"/>
            <a:ext cx="2331720" cy="502920"/>
          </a:xfrm>
          <a:prstGeom prst="rect">
            <a:avLst/>
          </a:prstGeom>
          <a:noFill/>
          <a:ln/>
        </p:spPr>
        <p:txBody>
          <a:bodyPr wrap="square" lIns="0" tIns="0" rIns="0" bIns="0" rtlCol="0" anchor="ctr">
            <a:normAutofit/>
          </a:bodyPr>
          <a:lstStyle/>
          <a:p>
            <a:pPr marL="0" indent="0">
              <a:buNone/>
            </a:pPr>
            <a:r>
              <a:rPr lang="en-US" sz="1200" dirty="0">
                <a:solidFill>
                  <a:srgbClr val="334155"/>
                </a:solidFill>
                <a:latin typeface="Aptos" pitchFamily="34" charset="0"/>
                <a:ea typeface="Aptos" pitchFamily="34" charset="-122"/>
                <a:cs typeface="Aptos" pitchFamily="34" charset="-120"/>
              </a:rPr>
              <a:t>Qdrant dashboard → collection and payload points</a:t>
            </a:r>
            <a:endParaRPr lang="en-US" sz="1200" dirty="0"/>
          </a:p>
        </p:txBody>
      </p:sp>
      <p:sp>
        <p:nvSpPr>
          <p:cNvPr id="21" name="Shape 19"/>
          <p:cNvSpPr/>
          <p:nvPr/>
        </p:nvSpPr>
        <p:spPr>
          <a:xfrm>
            <a:off x="4389120" y="3657600"/>
            <a:ext cx="3337560" cy="1298448"/>
          </a:xfrm>
          <a:prstGeom prst="roundRect">
            <a:avLst>
              <a:gd name="adj" fmla="val 5634"/>
            </a:avLst>
          </a:prstGeom>
          <a:solidFill>
            <a:srgbClr val="FFFFFF"/>
          </a:solidFill>
          <a:ln w="12700">
            <a:solidFill>
              <a:srgbClr val="CBD5E1"/>
            </a:solidFill>
            <a:prstDash val="solid"/>
          </a:ln>
        </p:spPr>
        <p:txBody>
          <a:bodyPr/>
          <a:lstStyle/>
          <a:p>
            <a:endParaRPr lang="en-US"/>
          </a:p>
        </p:txBody>
      </p:sp>
      <p:sp>
        <p:nvSpPr>
          <p:cNvPr id="22" name="Text 20"/>
          <p:cNvSpPr/>
          <p:nvPr/>
        </p:nvSpPr>
        <p:spPr>
          <a:xfrm>
            <a:off x="4590288" y="3822192"/>
            <a:ext cx="365760" cy="320040"/>
          </a:xfrm>
          <a:prstGeom prst="rect">
            <a:avLst/>
          </a:prstGeom>
          <a:noFill/>
          <a:ln/>
        </p:spPr>
        <p:txBody>
          <a:bodyPr wrap="square" lIns="0" tIns="0" rIns="0" bIns="0" rtlCol="0" anchor="ctr">
            <a:normAutofit lnSpcReduction="10000"/>
          </a:bodyPr>
          <a:lstStyle/>
          <a:p>
            <a:pPr marL="0" indent="0">
              <a:buNone/>
            </a:pPr>
            <a:r>
              <a:rPr lang="en-US" sz="2200" b="1" dirty="0">
                <a:solidFill>
                  <a:srgbClr val="0F766E"/>
                </a:solidFill>
                <a:latin typeface="Aptos" pitchFamily="34" charset="0"/>
                <a:ea typeface="Aptos" pitchFamily="34" charset="-122"/>
                <a:cs typeface="Aptos" pitchFamily="34" charset="-120"/>
              </a:rPr>
              <a:t>5</a:t>
            </a:r>
            <a:endParaRPr lang="en-US" sz="2200" dirty="0"/>
          </a:p>
        </p:txBody>
      </p:sp>
      <p:sp>
        <p:nvSpPr>
          <p:cNvPr id="23" name="Text 21"/>
          <p:cNvSpPr/>
          <p:nvPr/>
        </p:nvSpPr>
        <p:spPr>
          <a:xfrm>
            <a:off x="5120640" y="3822192"/>
            <a:ext cx="2377440" cy="228600"/>
          </a:xfrm>
          <a:prstGeom prst="rect">
            <a:avLst/>
          </a:prstGeom>
          <a:noFill/>
          <a:ln/>
        </p:spPr>
        <p:txBody>
          <a:bodyPr wrap="square" lIns="0" tIns="0" rIns="0" bIns="0" rtlCol="0" anchor="ctr">
            <a:normAutofit lnSpcReduction="10000"/>
          </a:bodyPr>
          <a:lstStyle/>
          <a:p>
            <a:pPr marL="0" indent="0">
              <a:buNone/>
            </a:pPr>
            <a:r>
              <a:rPr lang="en-US" sz="1600" b="1" dirty="0">
                <a:solidFill>
                  <a:srgbClr val="0F172A"/>
                </a:solidFill>
                <a:latin typeface="Aptos" pitchFamily="34" charset="0"/>
                <a:ea typeface="Aptos" pitchFamily="34" charset="-122"/>
                <a:cs typeface="Aptos" pitchFamily="34" charset="-120"/>
              </a:rPr>
              <a:t>Inspect contracts</a:t>
            </a:r>
            <a:endParaRPr lang="en-US" sz="1600" dirty="0"/>
          </a:p>
        </p:txBody>
      </p:sp>
      <p:sp>
        <p:nvSpPr>
          <p:cNvPr id="24" name="Text 22"/>
          <p:cNvSpPr/>
          <p:nvPr/>
        </p:nvSpPr>
        <p:spPr>
          <a:xfrm>
            <a:off x="5120640" y="4187952"/>
            <a:ext cx="2331720" cy="502920"/>
          </a:xfrm>
          <a:prstGeom prst="rect">
            <a:avLst/>
          </a:prstGeom>
          <a:noFill/>
          <a:ln/>
        </p:spPr>
        <p:txBody>
          <a:bodyPr wrap="square" lIns="0" tIns="0" rIns="0" bIns="0" rtlCol="0" anchor="ctr">
            <a:normAutofit/>
          </a:bodyPr>
          <a:lstStyle/>
          <a:p>
            <a:pPr marL="0" indent="0">
              <a:buNone/>
            </a:pPr>
            <a:r>
              <a:rPr lang="en-US" sz="1200" dirty="0">
                <a:solidFill>
                  <a:srgbClr val="334155"/>
                </a:solidFill>
                <a:latin typeface="Aptos" pitchFamily="34" charset="0"/>
                <a:ea typeface="Aptos" pitchFamily="34" charset="-122"/>
                <a:cs typeface="Aptos" pitchFamily="34" charset="-120"/>
              </a:rPr>
              <a:t>Swagger Editor → OpenAPI endpoints</a:t>
            </a:r>
            <a:endParaRPr lang="en-US" sz="1200" dirty="0"/>
          </a:p>
        </p:txBody>
      </p:sp>
      <p:sp>
        <p:nvSpPr>
          <p:cNvPr id="25" name="Shape 23"/>
          <p:cNvSpPr/>
          <p:nvPr/>
        </p:nvSpPr>
        <p:spPr>
          <a:xfrm>
            <a:off x="8183880" y="3657600"/>
            <a:ext cx="3337560" cy="1298448"/>
          </a:xfrm>
          <a:prstGeom prst="roundRect">
            <a:avLst>
              <a:gd name="adj" fmla="val 5634"/>
            </a:avLst>
          </a:prstGeom>
          <a:solidFill>
            <a:srgbClr val="FFFFFF"/>
          </a:solidFill>
          <a:ln w="12700">
            <a:solidFill>
              <a:srgbClr val="CBD5E1"/>
            </a:solidFill>
            <a:prstDash val="solid"/>
          </a:ln>
        </p:spPr>
        <p:txBody>
          <a:bodyPr/>
          <a:lstStyle/>
          <a:p>
            <a:endParaRPr lang="en-US"/>
          </a:p>
        </p:txBody>
      </p:sp>
      <p:sp>
        <p:nvSpPr>
          <p:cNvPr id="26" name="Text 24"/>
          <p:cNvSpPr/>
          <p:nvPr/>
        </p:nvSpPr>
        <p:spPr>
          <a:xfrm>
            <a:off x="8385048" y="3822192"/>
            <a:ext cx="365760" cy="320040"/>
          </a:xfrm>
          <a:prstGeom prst="rect">
            <a:avLst/>
          </a:prstGeom>
          <a:noFill/>
          <a:ln/>
        </p:spPr>
        <p:txBody>
          <a:bodyPr wrap="square" lIns="0" tIns="0" rIns="0" bIns="0" rtlCol="0" anchor="ctr">
            <a:normAutofit lnSpcReduction="10000"/>
          </a:bodyPr>
          <a:lstStyle/>
          <a:p>
            <a:pPr marL="0" indent="0">
              <a:buNone/>
            </a:pPr>
            <a:r>
              <a:rPr lang="en-US" sz="2200" b="1" dirty="0">
                <a:solidFill>
                  <a:srgbClr val="0F766E"/>
                </a:solidFill>
                <a:latin typeface="Aptos" pitchFamily="34" charset="0"/>
                <a:ea typeface="Aptos" pitchFamily="34" charset="-122"/>
                <a:cs typeface="Aptos" pitchFamily="34" charset="-120"/>
              </a:rPr>
              <a:t>6</a:t>
            </a:r>
            <a:endParaRPr lang="en-US" sz="2200" dirty="0"/>
          </a:p>
        </p:txBody>
      </p:sp>
      <p:sp>
        <p:nvSpPr>
          <p:cNvPr id="27" name="Text 25"/>
          <p:cNvSpPr/>
          <p:nvPr/>
        </p:nvSpPr>
        <p:spPr>
          <a:xfrm>
            <a:off x="8915400" y="3822192"/>
            <a:ext cx="2377440" cy="228600"/>
          </a:xfrm>
          <a:prstGeom prst="rect">
            <a:avLst/>
          </a:prstGeom>
          <a:noFill/>
          <a:ln/>
        </p:spPr>
        <p:txBody>
          <a:bodyPr wrap="square" lIns="0" tIns="0" rIns="0" bIns="0" rtlCol="0" anchor="ctr">
            <a:normAutofit lnSpcReduction="10000"/>
          </a:bodyPr>
          <a:lstStyle/>
          <a:p>
            <a:pPr marL="0" indent="0">
              <a:buNone/>
            </a:pPr>
            <a:r>
              <a:rPr lang="en-US" sz="1600" b="1" dirty="0">
                <a:solidFill>
                  <a:srgbClr val="0F172A"/>
                </a:solidFill>
                <a:latin typeface="Aptos" pitchFamily="34" charset="0"/>
                <a:ea typeface="Aptos" pitchFamily="34" charset="-122"/>
                <a:cs typeface="Aptos" pitchFamily="34" charset="-120"/>
              </a:rPr>
              <a:t>Inspect operations</a:t>
            </a:r>
            <a:endParaRPr lang="en-US" sz="1600" dirty="0"/>
          </a:p>
        </p:txBody>
      </p:sp>
      <p:sp>
        <p:nvSpPr>
          <p:cNvPr id="28" name="Text 26"/>
          <p:cNvSpPr/>
          <p:nvPr/>
        </p:nvSpPr>
        <p:spPr>
          <a:xfrm>
            <a:off x="8915400" y="4187952"/>
            <a:ext cx="2331720" cy="502920"/>
          </a:xfrm>
          <a:prstGeom prst="rect">
            <a:avLst/>
          </a:prstGeom>
          <a:noFill/>
          <a:ln/>
        </p:spPr>
        <p:txBody>
          <a:bodyPr wrap="square" lIns="0" tIns="0" rIns="0" bIns="0" rtlCol="0" anchor="ctr">
            <a:normAutofit/>
          </a:bodyPr>
          <a:lstStyle/>
          <a:p>
            <a:pPr marL="0" indent="0">
              <a:buNone/>
            </a:pPr>
            <a:r>
              <a:rPr lang="en-US" sz="1200" dirty="0">
                <a:solidFill>
                  <a:srgbClr val="334155"/>
                </a:solidFill>
                <a:latin typeface="Aptos" pitchFamily="34" charset="0"/>
                <a:ea typeface="Aptos" pitchFamily="34" charset="-122"/>
                <a:cs typeface="Aptos" pitchFamily="34" charset="-120"/>
              </a:rPr>
              <a:t>Keycloak, Ollama, storage browser, health</a:t>
            </a:r>
            <a:endParaRPr lang="en-US" sz="1200" dirty="0"/>
          </a:p>
        </p:txBody>
      </p:sp>
      <p:sp>
        <p:nvSpPr>
          <p:cNvPr id="29" name="Text 27"/>
          <p:cNvSpPr/>
          <p:nvPr/>
        </p:nvSpPr>
        <p:spPr>
          <a:xfrm>
            <a:off x="640080" y="5806440"/>
            <a:ext cx="10698480" cy="274320"/>
          </a:xfrm>
          <a:prstGeom prst="rect">
            <a:avLst/>
          </a:prstGeom>
          <a:noFill/>
          <a:ln/>
        </p:spPr>
        <p:txBody>
          <a:bodyPr wrap="square" lIns="0" tIns="0" rIns="0" bIns="0" rtlCol="0" anchor="ctr">
            <a:normAutofit/>
          </a:bodyPr>
          <a:lstStyle/>
          <a:p>
            <a:pPr marL="0" indent="0">
              <a:buNone/>
            </a:pPr>
            <a:endParaRPr lang="en-US" sz="1600" dirty="0"/>
          </a:p>
        </p:txBody>
      </p:sp>
      <p:sp>
        <p:nvSpPr>
          <p:cNvPr id="30"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F172A"/>
          </a:solidFill>
          <a:ln w="12700">
            <a:solidFill>
              <a:srgbClr val="0F172A"/>
            </a:solidFill>
            <a:prstDash val="solid"/>
          </a:ln>
        </p:spPr>
        <p:txBody>
          <a:bodyPr/>
          <a:lstStyle/>
          <a:p>
            <a:endParaRPr lang="en-US"/>
          </a:p>
        </p:txBody>
      </p:sp>
      <p:sp>
        <p:nvSpPr>
          <p:cNvPr id="3" name="Shape 1"/>
          <p:cNvSpPr/>
          <p:nvPr/>
        </p:nvSpPr>
        <p:spPr>
          <a:xfrm>
            <a:off x="640080" y="960120"/>
            <a:ext cx="109728" cy="4480560"/>
          </a:xfrm>
          <a:prstGeom prst="rect">
            <a:avLst/>
          </a:prstGeom>
          <a:solidFill>
            <a:srgbClr val="1D4ED8"/>
          </a:solidFill>
          <a:ln w="12700">
            <a:solidFill>
              <a:srgbClr val="1D4ED8"/>
            </a:solidFill>
            <a:prstDash val="solid"/>
          </a:ln>
        </p:spPr>
        <p:txBody>
          <a:bodyPr/>
          <a:lstStyle/>
          <a:p>
            <a:endParaRPr lang="en-US"/>
          </a:p>
        </p:txBody>
      </p:sp>
      <p:sp>
        <p:nvSpPr>
          <p:cNvPr id="4" name="Text 2"/>
          <p:cNvSpPr/>
          <p:nvPr/>
        </p:nvSpPr>
        <p:spPr>
          <a:xfrm>
            <a:off x="1024128" y="960120"/>
            <a:ext cx="2011680" cy="1097280"/>
          </a:xfrm>
          <a:prstGeom prst="rect">
            <a:avLst/>
          </a:prstGeom>
          <a:noFill/>
          <a:ln/>
        </p:spPr>
        <p:txBody>
          <a:bodyPr wrap="square" lIns="0" tIns="0" rIns="0" bIns="0" rtlCol="0" anchor="ctr">
            <a:normAutofit/>
          </a:bodyPr>
          <a:lstStyle/>
          <a:p>
            <a:pPr marL="0" indent="0">
              <a:buNone/>
            </a:pPr>
            <a:r>
              <a:rPr lang="en-US" sz="5800" b="1" dirty="0">
                <a:solidFill>
                  <a:srgbClr val="1D4ED8"/>
                </a:solidFill>
                <a:latin typeface="Aptos" pitchFamily="34" charset="0"/>
                <a:ea typeface="Aptos" pitchFamily="34" charset="-122"/>
                <a:cs typeface="Aptos" pitchFamily="34" charset="-120"/>
              </a:rPr>
              <a:t>02</a:t>
            </a:r>
            <a:endParaRPr lang="en-US" sz="5800" dirty="0"/>
          </a:p>
        </p:txBody>
      </p:sp>
      <p:sp>
        <p:nvSpPr>
          <p:cNvPr id="5" name="Text 3"/>
          <p:cNvSpPr/>
          <p:nvPr/>
        </p:nvSpPr>
        <p:spPr>
          <a:xfrm>
            <a:off x="1024128" y="2148840"/>
            <a:ext cx="9784080" cy="10058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Aptos" pitchFamily="34" charset="0"/>
                <a:ea typeface="Aptos" pitchFamily="34" charset="-122"/>
                <a:cs typeface="Aptos" pitchFamily="34" charset="-120"/>
              </a:rPr>
              <a:t>Why and how: what a model knows, what it invents, and what only you can decide</a:t>
            </a:r>
            <a:endParaRPr lang="en-US" sz="3200" dirty="0"/>
          </a:p>
        </p:txBody>
      </p:sp>
      <p:sp>
        <p:nvSpPr>
          <p:cNvPr id="6" name="Text 4"/>
          <p:cNvSpPr/>
          <p:nvPr/>
        </p:nvSpPr>
        <p:spPr>
          <a:xfrm>
            <a:off x="1060704" y="4645152"/>
            <a:ext cx="8595360" cy="658368"/>
          </a:xfrm>
          <a:prstGeom prst="rect">
            <a:avLst/>
          </a:prstGeom>
          <a:noFill/>
          <a:ln/>
        </p:spPr>
        <p:txBody>
          <a:bodyPr wrap="square" lIns="0" tIns="0" rIns="0" bIns="0" rtlCol="0" anchor="ctr">
            <a:normAutofit/>
          </a:bodyPr>
          <a:lstStyle/>
          <a:p>
            <a:pPr marL="0" indent="0">
              <a:buNone/>
            </a:pPr>
            <a:r>
              <a:rPr lang="en-US" sz="1900" i="1" dirty="0">
                <a:solidFill>
                  <a:srgbClr val="E2E8F0"/>
                </a:solidFill>
                <a:latin typeface="Aptos" pitchFamily="34" charset="0"/>
                <a:ea typeface="Aptos" pitchFamily="34" charset="-122"/>
                <a:cs typeface="Aptos" pitchFamily="34" charset="-120"/>
              </a:rPr>
              <a:t>The goal is not to make the model sound confident.</a:t>
            </a:r>
            <a:endParaRPr lang="en-US" sz="1900" dirty="0"/>
          </a:p>
          <a:p>
            <a:pPr marL="0" indent="0">
              <a:buNone/>
            </a:pPr>
            <a:r>
              <a:rPr lang="en-US" sz="1900" i="1" dirty="0">
                <a:solidFill>
                  <a:srgbClr val="E2E8F0"/>
                </a:solidFill>
                <a:latin typeface="Aptos" pitchFamily="34" charset="0"/>
                <a:ea typeface="Aptos" pitchFamily="34" charset="-122"/>
                <a:cs typeface="Aptos" pitchFamily="34" charset="-120"/>
              </a:rPr>
              <a:t>The goal is to make the system useful, inspectable, and honest.</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marL="0" indent="0">
              <a:buNone/>
            </a:pPr>
            <a:r>
              <a:rPr lang="en-US" sz="900" b="1" kern="0" spc="110" dirty="0">
                <a:solidFill>
                  <a:srgbClr val="0F766E"/>
                </a:solidFill>
                <a:latin typeface="Aptos" pitchFamily="34" charset="0"/>
                <a:ea typeface="Aptos" pitchFamily="34" charset="-122"/>
                <a:cs typeface="Aptos" pitchFamily="34" charset="-120"/>
              </a:rPr>
              <a:t>TRAINED, NOT THINKING</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marL="0" indent="0">
              <a:buNone/>
            </a:pPr>
            <a:r>
              <a:rPr lang="en-US" sz="2700" b="1" dirty="0">
                <a:solidFill>
                  <a:srgbClr val="0F172A"/>
                </a:solidFill>
                <a:latin typeface="Aptos" pitchFamily="34" charset="0"/>
                <a:ea typeface="Aptos" pitchFamily="34" charset="-122"/>
                <a:cs typeface="Aptos" pitchFamily="34" charset="-120"/>
              </a:rPr>
              <a:t>A model knows what it learned, at the moment it learned it</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marL="0" indent="0">
              <a:buNone/>
            </a:pPr>
            <a:r>
              <a:rPr lang="en-US" sz="1200" dirty="0">
                <a:solidFill>
                  <a:srgbClr val="64748B"/>
                </a:solidFill>
                <a:latin typeface="Aptos" pitchFamily="34" charset="0"/>
                <a:ea typeface="Aptos" pitchFamily="34" charset="-122"/>
                <a:cs typeface="Aptos" pitchFamily="34" charset="-120"/>
              </a:rPr>
              <a:t>No imagination. No creativity. No awareness of anything that happened after the training cut-off.</a:t>
            </a:r>
            <a:endParaRPr lang="en-US" sz="1200" dirty="0"/>
          </a:p>
        </p:txBody>
      </p:sp>
      <p:sp>
        <p:nvSpPr>
          <p:cNvPr id="5" name="Shape 3"/>
          <p:cNvSpPr/>
          <p:nvPr/>
        </p:nvSpPr>
        <p:spPr>
          <a:xfrm>
            <a:off x="566928" y="1783080"/>
            <a:ext cx="2514600" cy="3108960"/>
          </a:xfrm>
          <a:prstGeom prst="roundRect">
            <a:avLst>
              <a:gd name="adj" fmla="val 2909"/>
            </a:avLst>
          </a:prstGeom>
          <a:solidFill>
            <a:srgbClr val="FFFFFF"/>
          </a:solidFill>
          <a:ln w="12700">
            <a:solidFill>
              <a:srgbClr val="CBD5E1"/>
            </a:solidFill>
            <a:prstDash val="solid"/>
          </a:ln>
        </p:spPr>
        <p:txBody>
          <a:bodyPr/>
          <a:lstStyle/>
          <a:p>
            <a:endParaRPr lang="en-US"/>
          </a:p>
        </p:txBody>
      </p:sp>
      <p:sp>
        <p:nvSpPr>
          <p:cNvPr id="6" name="Text 4"/>
          <p:cNvSpPr/>
          <p:nvPr/>
        </p:nvSpPr>
        <p:spPr>
          <a:xfrm>
            <a:off x="749808" y="2029968"/>
            <a:ext cx="2148840" cy="228600"/>
          </a:xfrm>
          <a:prstGeom prst="rect">
            <a:avLst/>
          </a:prstGeom>
          <a:noFill/>
          <a:ln/>
        </p:spPr>
        <p:txBody>
          <a:bodyPr wrap="square" lIns="0" tIns="0" rIns="0" bIns="0" rtlCol="0" anchor="ctr">
            <a:normAutofit/>
          </a:bodyPr>
          <a:lstStyle/>
          <a:p>
            <a:pPr marL="0" indent="0">
              <a:buNone/>
            </a:pPr>
            <a:r>
              <a:rPr lang="en-US" sz="1100" b="1" kern="0" spc="100" dirty="0">
                <a:solidFill>
                  <a:srgbClr val="1D4ED8"/>
                </a:solidFill>
                <a:latin typeface="Aptos" pitchFamily="34" charset="0"/>
                <a:ea typeface="Aptos" pitchFamily="34" charset="-122"/>
                <a:cs typeface="Aptos" pitchFamily="34" charset="-120"/>
              </a:rPr>
              <a:t>FROZEN IN TIME</a:t>
            </a:r>
            <a:endParaRPr lang="en-US" sz="1100" dirty="0"/>
          </a:p>
        </p:txBody>
      </p:sp>
      <p:sp>
        <p:nvSpPr>
          <p:cNvPr id="7" name="Text 5"/>
          <p:cNvSpPr/>
          <p:nvPr/>
        </p:nvSpPr>
        <p:spPr>
          <a:xfrm>
            <a:off x="749808" y="2487168"/>
            <a:ext cx="2148840" cy="2194560"/>
          </a:xfrm>
          <a:prstGeom prst="rect">
            <a:avLst/>
          </a:prstGeom>
          <a:noFill/>
          <a:ln/>
        </p:spPr>
        <p:txBody>
          <a:bodyPr wrap="square" lIns="0" tIns="0" rIns="0" bIns="0" rtlCol="0" anchor="t">
            <a:normAutofit/>
          </a:bodyPr>
          <a:lstStyle/>
          <a:p>
            <a:pPr marL="0" indent="0">
              <a:buNone/>
            </a:pPr>
            <a:r>
              <a:rPr lang="en-US" sz="1400" dirty="0">
                <a:solidFill>
                  <a:srgbClr val="334155"/>
                </a:solidFill>
                <a:latin typeface="Aptos" pitchFamily="34" charset="0"/>
                <a:ea typeface="Aptos" pitchFamily="34" charset="-122"/>
                <a:cs typeface="Aptos" pitchFamily="34" charset="-120"/>
              </a:rPr>
              <a:t>Knowledge stops at the training cut-off. Anything released afterwards is, to the model, simply absent — not “new”, not “unknown”, absent.</a:t>
            </a:r>
            <a:endParaRPr lang="en-US" sz="1400" dirty="0"/>
          </a:p>
        </p:txBody>
      </p:sp>
      <p:sp>
        <p:nvSpPr>
          <p:cNvPr id="8" name="Shape 6"/>
          <p:cNvSpPr/>
          <p:nvPr/>
        </p:nvSpPr>
        <p:spPr>
          <a:xfrm>
            <a:off x="3419856" y="1783080"/>
            <a:ext cx="2514600" cy="3108960"/>
          </a:xfrm>
          <a:prstGeom prst="roundRect">
            <a:avLst>
              <a:gd name="adj" fmla="val 2909"/>
            </a:avLst>
          </a:prstGeom>
          <a:solidFill>
            <a:srgbClr val="FFFFFF"/>
          </a:solidFill>
          <a:ln w="12700">
            <a:solidFill>
              <a:srgbClr val="CBD5E1"/>
            </a:solidFill>
            <a:prstDash val="solid"/>
          </a:ln>
        </p:spPr>
        <p:txBody>
          <a:bodyPr/>
          <a:lstStyle/>
          <a:p>
            <a:endParaRPr lang="en-US"/>
          </a:p>
        </p:txBody>
      </p:sp>
      <p:sp>
        <p:nvSpPr>
          <p:cNvPr id="9" name="Text 7"/>
          <p:cNvSpPr/>
          <p:nvPr/>
        </p:nvSpPr>
        <p:spPr>
          <a:xfrm>
            <a:off x="3602736" y="2029968"/>
            <a:ext cx="2148840" cy="228600"/>
          </a:xfrm>
          <a:prstGeom prst="rect">
            <a:avLst/>
          </a:prstGeom>
          <a:noFill/>
          <a:ln/>
        </p:spPr>
        <p:txBody>
          <a:bodyPr wrap="square" lIns="0" tIns="0" rIns="0" bIns="0" rtlCol="0" anchor="ctr">
            <a:normAutofit/>
          </a:bodyPr>
          <a:lstStyle/>
          <a:p>
            <a:pPr marL="0" indent="0">
              <a:buNone/>
            </a:pPr>
            <a:r>
              <a:rPr lang="en-US" sz="1100" b="1" kern="0" spc="100" dirty="0">
                <a:solidFill>
                  <a:srgbClr val="1D4ED8"/>
                </a:solidFill>
                <a:latin typeface="Aptos" pitchFamily="34" charset="0"/>
                <a:ea typeface="Aptos" pitchFamily="34" charset="-122"/>
                <a:cs typeface="Aptos" pitchFamily="34" charset="-120"/>
              </a:rPr>
              <a:t>NO IMAGINATION</a:t>
            </a:r>
            <a:endParaRPr lang="en-US" sz="1100" dirty="0"/>
          </a:p>
        </p:txBody>
      </p:sp>
      <p:sp>
        <p:nvSpPr>
          <p:cNvPr id="10" name="Text 8"/>
          <p:cNvSpPr/>
          <p:nvPr/>
        </p:nvSpPr>
        <p:spPr>
          <a:xfrm>
            <a:off x="3602736" y="2487168"/>
            <a:ext cx="2148840" cy="2194560"/>
          </a:xfrm>
          <a:prstGeom prst="rect">
            <a:avLst/>
          </a:prstGeom>
          <a:noFill/>
          <a:ln/>
        </p:spPr>
        <p:txBody>
          <a:bodyPr wrap="square" lIns="0" tIns="0" rIns="0" bIns="0" rtlCol="0" anchor="t">
            <a:normAutofit/>
          </a:bodyPr>
          <a:lstStyle/>
          <a:p>
            <a:pPr marL="0" indent="0">
              <a:buNone/>
            </a:pPr>
            <a:r>
              <a:rPr lang="en-US" sz="1400" dirty="0">
                <a:solidFill>
                  <a:srgbClr val="334155"/>
                </a:solidFill>
                <a:latin typeface="Aptos" pitchFamily="34" charset="0"/>
                <a:ea typeface="Aptos" pitchFamily="34" charset="-122"/>
                <a:cs typeface="Aptos" pitchFamily="34" charset="-120"/>
              </a:rPr>
              <a:t>It does not invent a design. It reproduces the most probable continuation of the patterns it has already seen many times.</a:t>
            </a:r>
            <a:endParaRPr lang="en-US" sz="1400" dirty="0"/>
          </a:p>
        </p:txBody>
      </p:sp>
      <p:sp>
        <p:nvSpPr>
          <p:cNvPr id="11" name="Shape 9"/>
          <p:cNvSpPr/>
          <p:nvPr/>
        </p:nvSpPr>
        <p:spPr>
          <a:xfrm>
            <a:off x="6272784" y="1783080"/>
            <a:ext cx="2514600" cy="3108960"/>
          </a:xfrm>
          <a:prstGeom prst="roundRect">
            <a:avLst>
              <a:gd name="adj" fmla="val 2909"/>
            </a:avLst>
          </a:prstGeom>
          <a:solidFill>
            <a:srgbClr val="FEF3C7"/>
          </a:solidFill>
          <a:ln w="12700">
            <a:solidFill>
              <a:srgbClr val="B45309"/>
            </a:solidFill>
            <a:prstDash val="solid"/>
          </a:ln>
        </p:spPr>
        <p:txBody>
          <a:bodyPr/>
          <a:lstStyle/>
          <a:p>
            <a:endParaRPr lang="en-US"/>
          </a:p>
        </p:txBody>
      </p:sp>
      <p:sp>
        <p:nvSpPr>
          <p:cNvPr id="12" name="Text 10"/>
          <p:cNvSpPr/>
          <p:nvPr/>
        </p:nvSpPr>
        <p:spPr>
          <a:xfrm>
            <a:off x="6455664" y="2029968"/>
            <a:ext cx="2148840" cy="228600"/>
          </a:xfrm>
          <a:prstGeom prst="rect">
            <a:avLst/>
          </a:prstGeom>
          <a:noFill/>
          <a:ln/>
        </p:spPr>
        <p:txBody>
          <a:bodyPr wrap="square" lIns="0" tIns="0" rIns="0" bIns="0" rtlCol="0" anchor="ctr">
            <a:normAutofit/>
          </a:bodyPr>
          <a:lstStyle/>
          <a:p>
            <a:pPr marL="0" indent="0">
              <a:buNone/>
            </a:pPr>
            <a:r>
              <a:rPr lang="en-US" sz="1100" b="1" kern="0" spc="100" dirty="0">
                <a:solidFill>
                  <a:srgbClr val="B45309"/>
                </a:solidFill>
                <a:latin typeface="Aptos" pitchFamily="34" charset="0"/>
                <a:ea typeface="Aptos" pitchFamily="34" charset="-122"/>
                <a:cs typeface="Aptos" pitchFamily="34" charset="-120"/>
              </a:rPr>
              <a:t>NO SELF-DOUBT</a:t>
            </a:r>
            <a:endParaRPr lang="en-US" sz="1100" dirty="0"/>
          </a:p>
        </p:txBody>
      </p:sp>
      <p:sp>
        <p:nvSpPr>
          <p:cNvPr id="13" name="Text 11"/>
          <p:cNvSpPr/>
          <p:nvPr/>
        </p:nvSpPr>
        <p:spPr>
          <a:xfrm>
            <a:off x="6455664" y="2487168"/>
            <a:ext cx="2148840" cy="2194560"/>
          </a:xfrm>
          <a:prstGeom prst="rect">
            <a:avLst/>
          </a:prstGeom>
          <a:noFill/>
          <a:ln/>
        </p:spPr>
        <p:txBody>
          <a:bodyPr wrap="square" lIns="0" tIns="0" rIns="0" bIns="0" rtlCol="0" anchor="t">
            <a:normAutofit/>
          </a:bodyPr>
          <a:lstStyle/>
          <a:p>
            <a:pPr marL="0" indent="0">
              <a:buNone/>
            </a:pPr>
            <a:r>
              <a:rPr lang="en-US" sz="1400" dirty="0">
                <a:solidFill>
                  <a:srgbClr val="334155"/>
                </a:solidFill>
                <a:latin typeface="Aptos" pitchFamily="34" charset="0"/>
                <a:ea typeface="Aptos" pitchFamily="34" charset="-122"/>
                <a:cs typeface="Aptos" pitchFamily="34" charset="-120"/>
              </a:rPr>
              <a:t>Recalling and fabricating are the same operation internally. Confidence is a writing style, not a measure of evidence.</a:t>
            </a:r>
            <a:endParaRPr lang="en-US" sz="1400" dirty="0"/>
          </a:p>
        </p:txBody>
      </p:sp>
      <p:sp>
        <p:nvSpPr>
          <p:cNvPr id="14" name="Shape 12"/>
          <p:cNvSpPr/>
          <p:nvPr/>
        </p:nvSpPr>
        <p:spPr>
          <a:xfrm>
            <a:off x="9125712" y="1783080"/>
            <a:ext cx="2514600" cy="3108960"/>
          </a:xfrm>
          <a:prstGeom prst="roundRect">
            <a:avLst>
              <a:gd name="adj" fmla="val 2909"/>
            </a:avLst>
          </a:prstGeom>
          <a:solidFill>
            <a:srgbClr val="FEE2E2"/>
          </a:solidFill>
          <a:ln w="12700">
            <a:solidFill>
              <a:srgbClr val="B91C1C"/>
            </a:solidFill>
            <a:prstDash val="solid"/>
          </a:ln>
        </p:spPr>
        <p:txBody>
          <a:bodyPr/>
          <a:lstStyle/>
          <a:p>
            <a:endParaRPr lang="en-US"/>
          </a:p>
        </p:txBody>
      </p:sp>
      <p:sp>
        <p:nvSpPr>
          <p:cNvPr id="15" name="Text 13"/>
          <p:cNvSpPr/>
          <p:nvPr/>
        </p:nvSpPr>
        <p:spPr>
          <a:xfrm>
            <a:off x="9308592" y="2029968"/>
            <a:ext cx="2148840" cy="228600"/>
          </a:xfrm>
          <a:prstGeom prst="rect">
            <a:avLst/>
          </a:prstGeom>
          <a:noFill/>
          <a:ln/>
        </p:spPr>
        <p:txBody>
          <a:bodyPr wrap="square" lIns="0" tIns="0" rIns="0" bIns="0" rtlCol="0" anchor="ctr">
            <a:normAutofit/>
          </a:bodyPr>
          <a:lstStyle/>
          <a:p>
            <a:pPr marL="0" indent="0">
              <a:buNone/>
            </a:pPr>
            <a:r>
              <a:rPr lang="en-US" sz="1100" b="1" kern="0" spc="100" dirty="0">
                <a:solidFill>
                  <a:srgbClr val="B91C1C"/>
                </a:solidFill>
                <a:latin typeface="Aptos" pitchFamily="34" charset="0"/>
                <a:ea typeface="Aptos" pitchFamily="34" charset="-122"/>
                <a:cs typeface="Aptos" pitchFamily="34" charset="-120"/>
              </a:rPr>
              <a:t>THE PRIOR WINS</a:t>
            </a:r>
            <a:endParaRPr lang="en-US" sz="1100" dirty="0"/>
          </a:p>
        </p:txBody>
      </p:sp>
      <p:sp>
        <p:nvSpPr>
          <p:cNvPr id="16" name="Text 14"/>
          <p:cNvSpPr/>
          <p:nvPr/>
        </p:nvSpPr>
        <p:spPr>
          <a:xfrm>
            <a:off x="9308592" y="2487168"/>
            <a:ext cx="2148840" cy="2194560"/>
          </a:xfrm>
          <a:prstGeom prst="rect">
            <a:avLst/>
          </a:prstGeom>
          <a:noFill/>
          <a:ln/>
        </p:spPr>
        <p:txBody>
          <a:bodyPr wrap="square" lIns="0" tIns="0" rIns="0" bIns="0" rtlCol="0" anchor="t">
            <a:normAutofit/>
          </a:bodyPr>
          <a:lstStyle/>
          <a:p>
            <a:pPr marL="0" indent="0">
              <a:buNone/>
            </a:pPr>
            <a:r>
              <a:rPr lang="en-US" sz="1400" dirty="0">
                <a:solidFill>
                  <a:srgbClr val="334155"/>
                </a:solidFill>
                <a:latin typeface="Aptos" pitchFamily="34" charset="0"/>
                <a:ea typeface="Aptos" pitchFamily="34" charset="-122"/>
                <a:cs typeface="Aptos" pitchFamily="34" charset="-120"/>
              </a:rPr>
              <a:t>Tell it not to use a familiar pattern and it still drifts back whenever the alternative is thin in its training data.</a:t>
            </a:r>
            <a:endParaRPr lang="en-US" sz="1400" dirty="0"/>
          </a:p>
        </p:txBody>
      </p:sp>
      <p:sp>
        <p:nvSpPr>
          <p:cNvPr id="17" name="Text 15"/>
          <p:cNvSpPr/>
          <p:nvPr/>
        </p:nvSpPr>
        <p:spPr>
          <a:xfrm>
            <a:off x="731520" y="5230368"/>
            <a:ext cx="10698480" cy="411480"/>
          </a:xfrm>
          <a:prstGeom prst="rect">
            <a:avLst/>
          </a:prstGeom>
          <a:noFill/>
          <a:ln/>
        </p:spPr>
        <p:txBody>
          <a:bodyPr wrap="square" lIns="0" tIns="0" rIns="0" bIns="0" rtlCol="0" anchor="ctr">
            <a:normAutofit fontScale="85000" lnSpcReduction="10000"/>
          </a:bodyPr>
          <a:lstStyle/>
          <a:p>
            <a:pPr marL="0" indent="0" algn="ctr">
              <a:buNone/>
            </a:pPr>
            <a:r>
              <a:rPr lang="en-US" sz="2000" b="1" dirty="0">
                <a:solidFill>
                  <a:srgbClr val="0F172A"/>
                </a:solidFill>
                <a:latin typeface="Aptos" pitchFamily="34" charset="0"/>
                <a:ea typeface="Aptos" pitchFamily="34" charset="-122"/>
                <a:cs typeface="Aptos" pitchFamily="34" charset="-120"/>
              </a:rPr>
              <a:t>Hallucination is not a malfunction. It is the very same mechanism that produces all the correct answers.</a:t>
            </a:r>
            <a:endParaRPr lang="en-US" sz="2000" dirty="0"/>
          </a:p>
        </p:txBody>
      </p:sp>
      <p:sp>
        <p:nvSpPr>
          <p:cNvPr id="18" name="Text 16"/>
          <p:cNvSpPr/>
          <p:nvPr/>
        </p:nvSpPr>
        <p:spPr>
          <a:xfrm>
            <a:off x="731520" y="5760720"/>
            <a:ext cx="10698480" cy="365760"/>
          </a:xfrm>
          <a:prstGeom prst="rect">
            <a:avLst/>
          </a:prstGeom>
          <a:noFill/>
          <a:ln/>
        </p:spPr>
        <p:txBody>
          <a:bodyPr wrap="square" lIns="0" tIns="0" rIns="0" bIns="0" rtlCol="0" anchor="ctr">
            <a:normAutofit fontScale="92500" lnSpcReduction="10000"/>
          </a:bodyPr>
          <a:lstStyle/>
          <a:p>
            <a:pPr marL="0" indent="0" algn="ctr">
              <a:buNone/>
            </a:pPr>
            <a:r>
              <a:rPr lang="en-US" sz="1400" dirty="0">
                <a:solidFill>
                  <a:srgbClr val="64748B"/>
                </a:solidFill>
                <a:latin typeface="Aptos" pitchFamily="34" charset="0"/>
                <a:ea typeface="Aptos" pitchFamily="34" charset="-122"/>
                <a:cs typeface="Aptos" pitchFamily="34" charset="-120"/>
              </a:rPr>
              <a:t>So the engineering question is never “how do I stop it inventing?” — it is “what evidence did I put in front of it, and can I check the answer against that evidence?”</a:t>
            </a:r>
            <a:endParaRPr lang="en-US" sz="14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marL="0" indent="0">
              <a:buNone/>
            </a:pPr>
            <a:r>
              <a:rPr lang="en-US" sz="900" b="1" kern="0" spc="110" dirty="0">
                <a:solidFill>
                  <a:srgbClr val="0F766E"/>
                </a:solidFill>
                <a:latin typeface="Aptos" pitchFamily="34" charset="0"/>
                <a:ea typeface="Aptos" pitchFamily="34" charset="-122"/>
                <a:cs typeface="Aptos" pitchFamily="34" charset="-120"/>
              </a:rPr>
              <a:t>MODEL BOUNDARY</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fontScale="92500"/>
          </a:bodyPr>
          <a:lstStyle/>
          <a:p>
            <a:pPr marL="0" indent="0">
              <a:buNone/>
            </a:pPr>
            <a:r>
              <a:rPr lang="en-US" sz="2700" b="1" dirty="0">
                <a:solidFill>
                  <a:srgbClr val="0F172A"/>
                </a:solidFill>
                <a:latin typeface="Aptos" pitchFamily="34" charset="0"/>
                <a:ea typeface="Aptos" pitchFamily="34" charset="-122"/>
                <a:cs typeface="Aptos" pitchFamily="34" charset="-120"/>
              </a:rPr>
              <a:t>A model predicts plausible continuations; it does not “know” your document</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marL="0" indent="0">
              <a:buNone/>
            </a:pPr>
            <a:r>
              <a:rPr lang="en-US" sz="1200" dirty="0">
                <a:solidFill>
                  <a:srgbClr val="64748B"/>
                </a:solidFill>
                <a:latin typeface="Aptos" pitchFamily="34" charset="0"/>
                <a:ea typeface="Aptos" pitchFamily="34" charset="-122"/>
                <a:cs typeface="Aptos" pitchFamily="34" charset="-120"/>
              </a:rPr>
              <a:t>This is why “please do not use your prior knowledge” is not a reliable control boundary.</a:t>
            </a:r>
            <a:endParaRPr lang="en-US" sz="1200" dirty="0"/>
          </a:p>
        </p:txBody>
      </p:sp>
      <p:sp>
        <p:nvSpPr>
          <p:cNvPr id="5" name="Shape 3"/>
          <p:cNvSpPr/>
          <p:nvPr/>
        </p:nvSpPr>
        <p:spPr>
          <a:xfrm>
            <a:off x="640080" y="1783080"/>
            <a:ext cx="4983480" cy="3337560"/>
          </a:xfrm>
          <a:prstGeom prst="roundRect">
            <a:avLst>
              <a:gd name="adj" fmla="val 2192"/>
            </a:avLst>
          </a:prstGeom>
          <a:solidFill>
            <a:srgbClr val="FFFFFF"/>
          </a:solidFill>
          <a:ln w="12700">
            <a:solidFill>
              <a:srgbClr val="CBD5E1"/>
            </a:solidFill>
            <a:prstDash val="solid"/>
          </a:ln>
        </p:spPr>
        <p:txBody>
          <a:bodyPr/>
          <a:lstStyle/>
          <a:p>
            <a:endParaRPr lang="en-US"/>
          </a:p>
        </p:txBody>
      </p:sp>
      <p:sp>
        <p:nvSpPr>
          <p:cNvPr id="6" name="Text 4"/>
          <p:cNvSpPr/>
          <p:nvPr/>
        </p:nvSpPr>
        <p:spPr>
          <a:xfrm>
            <a:off x="914400" y="2057400"/>
            <a:ext cx="4389120" cy="320040"/>
          </a:xfrm>
          <a:prstGeom prst="rect">
            <a:avLst/>
          </a:prstGeom>
          <a:noFill/>
          <a:ln/>
        </p:spPr>
        <p:txBody>
          <a:bodyPr wrap="square" lIns="0" tIns="0" rIns="0" bIns="0" rtlCol="0" anchor="ctr">
            <a:normAutofit/>
          </a:bodyPr>
          <a:lstStyle/>
          <a:p>
            <a:pPr marL="0" indent="0">
              <a:buNone/>
            </a:pPr>
            <a:r>
              <a:rPr lang="en-US" sz="2000" b="1" dirty="0">
                <a:solidFill>
                  <a:srgbClr val="B91C1C"/>
                </a:solidFill>
                <a:latin typeface="Aptos" pitchFamily="34" charset="0"/>
                <a:ea typeface="Aptos" pitchFamily="34" charset="-122"/>
                <a:cs typeface="Aptos" pitchFamily="34" charset="-120"/>
              </a:rPr>
              <a:t>Without retrieval</a:t>
            </a:r>
            <a:endParaRPr lang="en-US" sz="2000" dirty="0"/>
          </a:p>
        </p:txBody>
      </p:sp>
      <p:sp>
        <p:nvSpPr>
          <p:cNvPr id="7" name="Text 5"/>
          <p:cNvSpPr/>
          <p:nvPr/>
        </p:nvSpPr>
        <p:spPr>
          <a:xfrm>
            <a:off x="914400" y="2697480"/>
            <a:ext cx="4343400" cy="1645920"/>
          </a:xfrm>
          <a:prstGeom prst="rect">
            <a:avLst/>
          </a:prstGeom>
          <a:noFill/>
          <a:ln/>
        </p:spPr>
        <p:txBody>
          <a:bodyPr wrap="square" lIns="0" tIns="0" rIns="0" bIns="0" rtlCol="0" anchor="ctr">
            <a:normAutofit/>
          </a:bodyPr>
          <a:lstStyle/>
          <a:p>
            <a:pPr marL="0" indent="0" algn="ctr">
              <a:buNone/>
            </a:pPr>
            <a:r>
              <a:rPr lang="en-US" sz="2000" dirty="0">
                <a:solidFill>
                  <a:srgbClr val="0F172A"/>
                </a:solidFill>
                <a:latin typeface="Aptos" pitchFamily="34" charset="0"/>
                <a:ea typeface="Aptos" pitchFamily="34" charset="-122"/>
                <a:cs typeface="Aptos" pitchFamily="34" charset="-120"/>
              </a:rPr>
              <a:t>Question about a private PDF</a:t>
            </a:r>
            <a:endParaRPr lang="en-US" sz="2000" dirty="0"/>
          </a:p>
          <a:p>
            <a:pPr marL="0" indent="0" algn="ctr">
              <a:buNone/>
            </a:pPr>
            <a:r>
              <a:rPr lang="en-US" sz="2000" dirty="0">
                <a:solidFill>
                  <a:srgbClr val="0F172A"/>
                </a:solidFill>
                <a:latin typeface="Aptos" pitchFamily="34" charset="0"/>
                <a:ea typeface="Aptos" pitchFamily="34" charset="-122"/>
                <a:cs typeface="Aptos" pitchFamily="34" charset="-120"/>
              </a:rPr>
              <a:t>        ↓</a:t>
            </a:r>
            <a:endParaRPr lang="en-US" sz="2000" dirty="0"/>
          </a:p>
          <a:p>
            <a:pPr marL="0" indent="0" algn="ctr">
              <a:buNone/>
            </a:pPr>
            <a:r>
              <a:rPr lang="en-US" sz="2000" dirty="0">
                <a:solidFill>
                  <a:srgbClr val="0F172A"/>
                </a:solidFill>
                <a:latin typeface="Aptos" pitchFamily="34" charset="0"/>
                <a:ea typeface="Aptos" pitchFamily="34" charset="-122"/>
                <a:cs typeface="Aptos" pitchFamily="34" charset="-120"/>
              </a:rPr>
              <a:t>model’s learned patterns + prompt</a:t>
            </a:r>
            <a:endParaRPr lang="en-US" sz="2000" dirty="0"/>
          </a:p>
          <a:p>
            <a:pPr marL="0" indent="0" algn="ctr">
              <a:buNone/>
            </a:pPr>
            <a:r>
              <a:rPr lang="en-US" sz="2000" dirty="0">
                <a:solidFill>
                  <a:srgbClr val="0F172A"/>
                </a:solidFill>
                <a:latin typeface="Aptos" pitchFamily="34" charset="0"/>
                <a:ea typeface="Aptos" pitchFamily="34" charset="-122"/>
                <a:cs typeface="Aptos" pitchFamily="34" charset="-120"/>
              </a:rPr>
              <a:t>        ↓</a:t>
            </a:r>
            <a:endParaRPr lang="en-US" sz="2000" dirty="0"/>
          </a:p>
          <a:p>
            <a:pPr marL="0" indent="0" algn="ctr">
              <a:buNone/>
            </a:pPr>
            <a:r>
              <a:rPr lang="en-US" sz="2000" dirty="0">
                <a:solidFill>
                  <a:srgbClr val="0F172A"/>
                </a:solidFill>
                <a:latin typeface="Aptos" pitchFamily="34" charset="0"/>
                <a:ea typeface="Aptos" pitchFamily="34" charset="-122"/>
                <a:cs typeface="Aptos" pitchFamily="34" charset="-120"/>
              </a:rPr>
              <a:t>plausible answer, possibly invented</a:t>
            </a:r>
            <a:endParaRPr lang="en-US" sz="2000" dirty="0"/>
          </a:p>
        </p:txBody>
      </p:sp>
      <p:sp>
        <p:nvSpPr>
          <p:cNvPr id="8" name="Shape 6"/>
          <p:cNvSpPr/>
          <p:nvPr/>
        </p:nvSpPr>
        <p:spPr>
          <a:xfrm>
            <a:off x="6537960" y="1783080"/>
            <a:ext cx="4983480" cy="3337560"/>
          </a:xfrm>
          <a:prstGeom prst="roundRect">
            <a:avLst>
              <a:gd name="adj" fmla="val 2192"/>
            </a:avLst>
          </a:prstGeom>
          <a:solidFill>
            <a:srgbClr val="CCFBF1"/>
          </a:solidFill>
          <a:ln w="12700">
            <a:solidFill>
              <a:srgbClr val="0F766E"/>
            </a:solidFill>
            <a:prstDash val="solid"/>
          </a:ln>
        </p:spPr>
        <p:txBody>
          <a:bodyPr/>
          <a:lstStyle/>
          <a:p>
            <a:endParaRPr lang="en-US"/>
          </a:p>
        </p:txBody>
      </p:sp>
      <p:sp>
        <p:nvSpPr>
          <p:cNvPr id="9" name="Text 7"/>
          <p:cNvSpPr/>
          <p:nvPr/>
        </p:nvSpPr>
        <p:spPr>
          <a:xfrm>
            <a:off x="6812280" y="2057400"/>
            <a:ext cx="4389120" cy="320040"/>
          </a:xfrm>
          <a:prstGeom prst="rect">
            <a:avLst/>
          </a:prstGeom>
          <a:noFill/>
          <a:ln/>
        </p:spPr>
        <p:txBody>
          <a:bodyPr wrap="square" lIns="0" tIns="0" rIns="0" bIns="0" rtlCol="0" anchor="ctr">
            <a:normAutofit/>
          </a:bodyPr>
          <a:lstStyle/>
          <a:p>
            <a:pPr marL="0" indent="0">
              <a:buNone/>
            </a:pPr>
            <a:r>
              <a:rPr lang="en-US" sz="2000" b="1" dirty="0">
                <a:solidFill>
                  <a:srgbClr val="0F766E"/>
                </a:solidFill>
                <a:latin typeface="Aptos" pitchFamily="34" charset="0"/>
                <a:ea typeface="Aptos" pitchFamily="34" charset="-122"/>
                <a:cs typeface="Aptos" pitchFamily="34" charset="-120"/>
              </a:rPr>
              <a:t>With retrieval</a:t>
            </a:r>
            <a:endParaRPr lang="en-US" sz="2000" dirty="0"/>
          </a:p>
        </p:txBody>
      </p:sp>
      <p:sp>
        <p:nvSpPr>
          <p:cNvPr id="10" name="Text 8"/>
          <p:cNvSpPr/>
          <p:nvPr/>
        </p:nvSpPr>
        <p:spPr>
          <a:xfrm>
            <a:off x="6812280" y="2697480"/>
            <a:ext cx="4343400" cy="1645920"/>
          </a:xfrm>
          <a:prstGeom prst="rect">
            <a:avLst/>
          </a:prstGeom>
          <a:noFill/>
          <a:ln/>
        </p:spPr>
        <p:txBody>
          <a:bodyPr wrap="square" lIns="0" tIns="0" rIns="0" bIns="0" rtlCol="0" anchor="ctr">
            <a:normAutofit/>
          </a:bodyPr>
          <a:lstStyle/>
          <a:p>
            <a:pPr marL="0" indent="0" algn="ctr">
              <a:buNone/>
            </a:pPr>
            <a:r>
              <a:rPr lang="en-US" sz="2000" dirty="0">
                <a:solidFill>
                  <a:srgbClr val="0F172A"/>
                </a:solidFill>
                <a:latin typeface="Aptos" pitchFamily="34" charset="0"/>
                <a:ea typeface="Aptos" pitchFamily="34" charset="-122"/>
                <a:cs typeface="Aptos" pitchFamily="34" charset="-120"/>
              </a:rPr>
              <a:t>Question about a private PDF</a:t>
            </a:r>
            <a:endParaRPr lang="en-US" sz="2000" dirty="0"/>
          </a:p>
          <a:p>
            <a:pPr marL="0" indent="0" algn="ctr">
              <a:buNone/>
            </a:pPr>
            <a:r>
              <a:rPr lang="en-US" sz="2000" dirty="0">
                <a:solidFill>
                  <a:srgbClr val="0F172A"/>
                </a:solidFill>
                <a:latin typeface="Aptos" pitchFamily="34" charset="0"/>
                <a:ea typeface="Aptos" pitchFamily="34" charset="-122"/>
                <a:cs typeface="Aptos" pitchFamily="34" charset="-120"/>
              </a:rPr>
              <a:t>        ↓</a:t>
            </a:r>
            <a:endParaRPr lang="en-US" sz="2000" dirty="0"/>
          </a:p>
          <a:p>
            <a:pPr marL="0" indent="0" algn="ctr">
              <a:buNone/>
            </a:pPr>
            <a:r>
              <a:rPr lang="en-US" sz="2000" dirty="0">
                <a:solidFill>
                  <a:srgbClr val="0F172A"/>
                </a:solidFill>
                <a:latin typeface="Aptos" pitchFamily="34" charset="0"/>
                <a:ea typeface="Aptos" pitchFamily="34" charset="-122"/>
                <a:cs typeface="Aptos" pitchFamily="34" charset="-120"/>
              </a:rPr>
              <a:t>retrieve relevant source passages</a:t>
            </a:r>
            <a:endParaRPr lang="en-US" sz="2000" dirty="0"/>
          </a:p>
          <a:p>
            <a:pPr marL="0" indent="0" algn="ctr">
              <a:buNone/>
            </a:pPr>
            <a:r>
              <a:rPr lang="en-US" sz="2000" dirty="0">
                <a:solidFill>
                  <a:srgbClr val="0F172A"/>
                </a:solidFill>
                <a:latin typeface="Aptos" pitchFamily="34" charset="0"/>
                <a:ea typeface="Aptos" pitchFamily="34" charset="-122"/>
                <a:cs typeface="Aptos" pitchFamily="34" charset="-120"/>
              </a:rPr>
              <a:t>        ↓</a:t>
            </a:r>
            <a:endParaRPr lang="en-US" sz="2000" dirty="0"/>
          </a:p>
          <a:p>
            <a:pPr marL="0" indent="0" algn="ctr">
              <a:buNone/>
            </a:pPr>
            <a:r>
              <a:rPr lang="en-US" sz="2000" dirty="0">
                <a:solidFill>
                  <a:srgbClr val="0F172A"/>
                </a:solidFill>
                <a:latin typeface="Aptos" pitchFamily="34" charset="0"/>
                <a:ea typeface="Aptos" pitchFamily="34" charset="-122"/>
                <a:cs typeface="Aptos" pitchFamily="34" charset="-120"/>
              </a:rPr>
              <a:t>answer constrained by evidence</a:t>
            </a:r>
            <a:endParaRPr lang="en-US" sz="2000" dirty="0"/>
          </a:p>
        </p:txBody>
      </p:sp>
      <p:sp>
        <p:nvSpPr>
          <p:cNvPr id="11" name="Text 9"/>
          <p:cNvSpPr/>
          <p:nvPr/>
        </p:nvSpPr>
        <p:spPr>
          <a:xfrm>
            <a:off x="868680" y="5596128"/>
            <a:ext cx="10515600" cy="411480"/>
          </a:xfrm>
          <a:prstGeom prst="rect">
            <a:avLst/>
          </a:prstGeom>
          <a:noFill/>
          <a:ln/>
        </p:spPr>
        <p:txBody>
          <a:bodyPr wrap="square" lIns="0" tIns="0" rIns="0" bIns="0" rtlCol="0" anchor="ctr">
            <a:normAutofit fontScale="92500"/>
          </a:bodyPr>
          <a:lstStyle/>
          <a:p>
            <a:pPr marL="0" indent="0" algn="ctr">
              <a:buNone/>
            </a:pPr>
            <a:r>
              <a:rPr lang="en-US" sz="1600" b="1" dirty="0">
                <a:solidFill>
                  <a:srgbClr val="334155"/>
                </a:solidFill>
                <a:latin typeface="Aptos" pitchFamily="34" charset="0"/>
                <a:ea typeface="Aptos" pitchFamily="34" charset="-122"/>
                <a:cs typeface="Aptos" pitchFamily="34" charset="-120"/>
              </a:rPr>
              <a:t>Grounding does not make hallucination impossible. It makes unsupported answers easier to detect, limit, and investigate.</a:t>
            </a:r>
            <a:endParaRPr lang="en-US" sz="16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marL="0" indent="0">
              <a:buNone/>
            </a:pPr>
            <a:r>
              <a:rPr lang="en-US" sz="900" b="1" kern="0" spc="110" dirty="0">
                <a:solidFill>
                  <a:srgbClr val="0F766E"/>
                </a:solidFill>
                <a:latin typeface="Aptos" pitchFamily="34" charset="0"/>
                <a:ea typeface="Aptos" pitchFamily="34" charset="-122"/>
                <a:cs typeface="Aptos" pitchFamily="34" charset="-120"/>
              </a:rPr>
              <a:t>THE BRIEF</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marL="0" indent="0">
              <a:buNone/>
            </a:pPr>
            <a:r>
              <a:rPr lang="en-US" sz="2700" b="1" dirty="0">
                <a:solidFill>
                  <a:srgbClr val="0F172A"/>
                </a:solidFill>
                <a:latin typeface="Aptos" pitchFamily="34" charset="0"/>
                <a:ea typeface="Aptos" pitchFamily="34" charset="-122"/>
                <a:cs typeface="Aptos" pitchFamily="34" charset="-120"/>
              </a:rPr>
              <a:t>Five non-negotiable assumptions, stated before a single line of code</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marL="0" indent="0">
              <a:buNone/>
            </a:pPr>
            <a:r>
              <a:rPr lang="en-US" sz="1200" dirty="0">
                <a:solidFill>
                  <a:srgbClr val="64748B"/>
                </a:solidFill>
                <a:latin typeface="Aptos" pitchFamily="34" charset="0"/>
                <a:ea typeface="Aptos" pitchFamily="34" charset="-122"/>
                <a:cs typeface="Aptos" pitchFamily="34" charset="-120"/>
              </a:rPr>
              <a:t>None of these were preferences. They were the premise of the project — and they were written down first.</a:t>
            </a:r>
            <a:endParaRPr lang="en-US" sz="1200" dirty="0"/>
          </a:p>
        </p:txBody>
      </p:sp>
      <p:sp>
        <p:nvSpPr>
          <p:cNvPr id="5" name="Shape 3"/>
          <p:cNvSpPr/>
          <p:nvPr/>
        </p:nvSpPr>
        <p:spPr>
          <a:xfrm>
            <a:off x="658368" y="1682496"/>
            <a:ext cx="10881360" cy="731520"/>
          </a:xfrm>
          <a:prstGeom prst="roundRect">
            <a:avLst>
              <a:gd name="adj" fmla="val 10000"/>
            </a:avLst>
          </a:prstGeom>
          <a:solidFill>
            <a:srgbClr val="FFFFFF"/>
          </a:solidFill>
          <a:ln w="12700">
            <a:solidFill>
              <a:srgbClr val="CBD5E1"/>
            </a:solidFill>
            <a:prstDash val="solid"/>
          </a:ln>
        </p:spPr>
        <p:txBody>
          <a:bodyPr/>
          <a:lstStyle/>
          <a:p>
            <a:endParaRPr lang="en-US"/>
          </a:p>
        </p:txBody>
      </p:sp>
      <p:sp>
        <p:nvSpPr>
          <p:cNvPr id="6" name="Text 4"/>
          <p:cNvSpPr/>
          <p:nvPr/>
        </p:nvSpPr>
        <p:spPr>
          <a:xfrm>
            <a:off x="877824" y="1865376"/>
            <a:ext cx="457200" cy="365760"/>
          </a:xfrm>
          <a:prstGeom prst="rect">
            <a:avLst/>
          </a:prstGeom>
          <a:noFill/>
          <a:ln/>
        </p:spPr>
        <p:txBody>
          <a:bodyPr wrap="square" lIns="0" tIns="0" rIns="0" bIns="0" rtlCol="0" anchor="ctr">
            <a:normAutofit/>
          </a:bodyPr>
          <a:lstStyle/>
          <a:p>
            <a:pPr marL="0" indent="0">
              <a:buNone/>
            </a:pPr>
            <a:r>
              <a:rPr lang="en-US" sz="1800" b="1" dirty="0">
                <a:solidFill>
                  <a:srgbClr val="1D4ED8"/>
                </a:solidFill>
                <a:latin typeface="Aptos" pitchFamily="34" charset="0"/>
                <a:ea typeface="Aptos" pitchFamily="34" charset="-122"/>
                <a:cs typeface="Aptos" pitchFamily="34" charset="-120"/>
              </a:rPr>
              <a:t>01</a:t>
            </a:r>
            <a:endParaRPr lang="en-US" sz="1800" dirty="0"/>
          </a:p>
        </p:txBody>
      </p:sp>
      <p:sp>
        <p:nvSpPr>
          <p:cNvPr id="7" name="Text 5"/>
          <p:cNvSpPr/>
          <p:nvPr/>
        </p:nvSpPr>
        <p:spPr>
          <a:xfrm>
            <a:off x="1481328" y="1865376"/>
            <a:ext cx="3017520" cy="365760"/>
          </a:xfrm>
          <a:prstGeom prst="rect">
            <a:avLst/>
          </a:prstGeom>
          <a:noFill/>
          <a:ln/>
        </p:spPr>
        <p:txBody>
          <a:bodyPr wrap="square" lIns="0" tIns="0" rIns="0" bIns="0" rtlCol="0" anchor="ctr">
            <a:normAutofit/>
          </a:bodyPr>
          <a:lstStyle/>
          <a:p>
            <a:pPr marL="0" indent="0">
              <a:buNone/>
            </a:pPr>
            <a:r>
              <a:rPr lang="en-US" sz="1600" b="1" dirty="0">
                <a:solidFill>
                  <a:srgbClr val="0F172A"/>
                </a:solidFill>
                <a:latin typeface="Aptos" pitchFamily="34" charset="0"/>
                <a:ea typeface="Aptos" pitchFamily="34" charset="-122"/>
                <a:cs typeface="Aptos" pitchFamily="34" charset="-120"/>
              </a:rPr>
              <a:t>Enterprise-grade</a:t>
            </a:r>
            <a:endParaRPr lang="en-US" sz="1600" dirty="0"/>
          </a:p>
        </p:txBody>
      </p:sp>
      <p:sp>
        <p:nvSpPr>
          <p:cNvPr id="8" name="Text 6"/>
          <p:cNvSpPr/>
          <p:nvPr/>
        </p:nvSpPr>
        <p:spPr>
          <a:xfrm>
            <a:off x="4663440" y="1792224"/>
            <a:ext cx="6675120" cy="512064"/>
          </a:xfrm>
          <a:prstGeom prst="rect">
            <a:avLst/>
          </a:prstGeom>
          <a:noFill/>
          <a:ln/>
        </p:spPr>
        <p:txBody>
          <a:bodyPr wrap="square" lIns="0" tIns="0" rIns="0" bIns="0" rtlCol="0" anchor="ctr">
            <a:normAutofit/>
          </a:bodyPr>
          <a:lstStyle/>
          <a:p>
            <a:pPr marL="0" indent="0">
              <a:buNone/>
            </a:pPr>
            <a:r>
              <a:rPr lang="en-US" sz="1300" dirty="0">
                <a:solidFill>
                  <a:srgbClr val="334155"/>
                </a:solidFill>
                <a:latin typeface="Aptos" pitchFamily="34" charset="0"/>
                <a:ea typeface="Aptos" pitchFamily="34" charset="-122"/>
                <a:cs typeface="Aptos" pitchFamily="34" charset="-120"/>
              </a:rPr>
              <a:t>Not a demo script. Layered services, real identity, persistence with history, documented contracts, operable containers.</a:t>
            </a:r>
            <a:endParaRPr lang="en-US" sz="1300" dirty="0"/>
          </a:p>
        </p:txBody>
      </p:sp>
      <p:sp>
        <p:nvSpPr>
          <p:cNvPr id="9" name="Shape 7"/>
          <p:cNvSpPr/>
          <p:nvPr/>
        </p:nvSpPr>
        <p:spPr>
          <a:xfrm>
            <a:off x="658368" y="2532888"/>
            <a:ext cx="10881360" cy="731520"/>
          </a:xfrm>
          <a:prstGeom prst="roundRect">
            <a:avLst>
              <a:gd name="adj" fmla="val 10000"/>
            </a:avLst>
          </a:prstGeom>
          <a:solidFill>
            <a:srgbClr val="FFFFFF"/>
          </a:solidFill>
          <a:ln w="12700">
            <a:solidFill>
              <a:srgbClr val="CBD5E1"/>
            </a:solidFill>
            <a:prstDash val="solid"/>
          </a:ln>
        </p:spPr>
        <p:txBody>
          <a:bodyPr/>
          <a:lstStyle/>
          <a:p>
            <a:endParaRPr lang="en-US"/>
          </a:p>
        </p:txBody>
      </p:sp>
      <p:sp>
        <p:nvSpPr>
          <p:cNvPr id="10" name="Text 8"/>
          <p:cNvSpPr/>
          <p:nvPr/>
        </p:nvSpPr>
        <p:spPr>
          <a:xfrm>
            <a:off x="877824" y="2715768"/>
            <a:ext cx="457200" cy="365760"/>
          </a:xfrm>
          <a:prstGeom prst="rect">
            <a:avLst/>
          </a:prstGeom>
          <a:noFill/>
          <a:ln/>
        </p:spPr>
        <p:txBody>
          <a:bodyPr wrap="square" lIns="0" tIns="0" rIns="0" bIns="0" rtlCol="0" anchor="ctr">
            <a:normAutofit/>
          </a:bodyPr>
          <a:lstStyle/>
          <a:p>
            <a:pPr marL="0" indent="0">
              <a:buNone/>
            </a:pPr>
            <a:r>
              <a:rPr lang="en-US" sz="1800" b="1" dirty="0">
                <a:solidFill>
                  <a:srgbClr val="1D4ED8"/>
                </a:solidFill>
                <a:latin typeface="Aptos" pitchFamily="34" charset="0"/>
                <a:ea typeface="Aptos" pitchFamily="34" charset="-122"/>
                <a:cs typeface="Aptos" pitchFamily="34" charset="-120"/>
              </a:rPr>
              <a:t>02</a:t>
            </a:r>
            <a:endParaRPr lang="en-US" sz="1800" dirty="0"/>
          </a:p>
        </p:txBody>
      </p:sp>
      <p:sp>
        <p:nvSpPr>
          <p:cNvPr id="11" name="Text 9"/>
          <p:cNvSpPr/>
          <p:nvPr/>
        </p:nvSpPr>
        <p:spPr>
          <a:xfrm>
            <a:off x="1481328" y="2715768"/>
            <a:ext cx="3017520" cy="365760"/>
          </a:xfrm>
          <a:prstGeom prst="rect">
            <a:avLst/>
          </a:prstGeom>
          <a:noFill/>
          <a:ln/>
        </p:spPr>
        <p:txBody>
          <a:bodyPr wrap="square" lIns="0" tIns="0" rIns="0" bIns="0" rtlCol="0" anchor="ctr">
            <a:normAutofit/>
          </a:bodyPr>
          <a:lstStyle/>
          <a:p>
            <a:pPr marL="0" indent="0">
              <a:buNone/>
            </a:pPr>
            <a:r>
              <a:rPr lang="en-US" sz="1600" b="1" dirty="0">
                <a:solidFill>
                  <a:srgbClr val="0F172A"/>
                </a:solidFill>
                <a:latin typeface="Aptos" pitchFamily="34" charset="0"/>
                <a:ea typeface="Aptos" pitchFamily="34" charset="-122"/>
                <a:cs typeface="Aptos" pitchFamily="34" charset="-120"/>
              </a:rPr>
              <a:t>No coding by the end user</a:t>
            </a:r>
            <a:endParaRPr lang="en-US" sz="1600" dirty="0"/>
          </a:p>
        </p:txBody>
      </p:sp>
      <p:sp>
        <p:nvSpPr>
          <p:cNvPr id="12" name="Text 10"/>
          <p:cNvSpPr/>
          <p:nvPr/>
        </p:nvSpPr>
        <p:spPr>
          <a:xfrm>
            <a:off x="4663440" y="2642616"/>
            <a:ext cx="6675120" cy="512064"/>
          </a:xfrm>
          <a:prstGeom prst="rect">
            <a:avLst/>
          </a:prstGeom>
          <a:noFill/>
          <a:ln/>
        </p:spPr>
        <p:txBody>
          <a:bodyPr wrap="square" lIns="0" tIns="0" rIns="0" bIns="0" rtlCol="0" anchor="ctr">
            <a:normAutofit/>
          </a:bodyPr>
          <a:lstStyle/>
          <a:p>
            <a:pPr marL="0" indent="0">
              <a:buNone/>
            </a:pPr>
            <a:r>
              <a:rPr lang="en-US" sz="1300" dirty="0">
                <a:solidFill>
                  <a:srgbClr val="334155"/>
                </a:solidFill>
                <a:latin typeface="Aptos" pitchFamily="34" charset="0"/>
                <a:ea typeface="Aptos" pitchFamily="34" charset="-122"/>
                <a:cs typeface="Aptos" pitchFamily="34" charset="-120"/>
              </a:rPr>
              <a:t>The librarian uploads a PDF and asks a question. No notebooks, no YAML, no prompt engineering demanded of the user.</a:t>
            </a:r>
            <a:endParaRPr lang="en-US" sz="1300" dirty="0"/>
          </a:p>
        </p:txBody>
      </p:sp>
      <p:sp>
        <p:nvSpPr>
          <p:cNvPr id="13" name="Shape 11"/>
          <p:cNvSpPr/>
          <p:nvPr/>
        </p:nvSpPr>
        <p:spPr>
          <a:xfrm>
            <a:off x="658368" y="3383280"/>
            <a:ext cx="10881360" cy="731520"/>
          </a:xfrm>
          <a:prstGeom prst="roundRect">
            <a:avLst>
              <a:gd name="adj" fmla="val 10000"/>
            </a:avLst>
          </a:prstGeom>
          <a:solidFill>
            <a:srgbClr val="FFFFFF"/>
          </a:solidFill>
          <a:ln w="12700">
            <a:solidFill>
              <a:srgbClr val="CBD5E1"/>
            </a:solidFill>
            <a:prstDash val="solid"/>
          </a:ln>
        </p:spPr>
        <p:txBody>
          <a:bodyPr/>
          <a:lstStyle/>
          <a:p>
            <a:endParaRPr lang="en-US"/>
          </a:p>
        </p:txBody>
      </p:sp>
      <p:sp>
        <p:nvSpPr>
          <p:cNvPr id="14" name="Text 12"/>
          <p:cNvSpPr/>
          <p:nvPr/>
        </p:nvSpPr>
        <p:spPr>
          <a:xfrm>
            <a:off x="877824" y="3566160"/>
            <a:ext cx="457200" cy="365760"/>
          </a:xfrm>
          <a:prstGeom prst="rect">
            <a:avLst/>
          </a:prstGeom>
          <a:noFill/>
          <a:ln/>
        </p:spPr>
        <p:txBody>
          <a:bodyPr wrap="square" lIns="0" tIns="0" rIns="0" bIns="0" rtlCol="0" anchor="ctr">
            <a:normAutofit/>
          </a:bodyPr>
          <a:lstStyle/>
          <a:p>
            <a:pPr marL="0" indent="0">
              <a:buNone/>
            </a:pPr>
            <a:r>
              <a:rPr lang="en-US" sz="1800" b="1" dirty="0">
                <a:solidFill>
                  <a:srgbClr val="6D28D9"/>
                </a:solidFill>
                <a:latin typeface="Aptos" pitchFamily="34" charset="0"/>
                <a:ea typeface="Aptos" pitchFamily="34" charset="-122"/>
                <a:cs typeface="Aptos" pitchFamily="34" charset="-120"/>
              </a:rPr>
              <a:t>03</a:t>
            </a:r>
            <a:endParaRPr lang="en-US" sz="1800" dirty="0"/>
          </a:p>
        </p:txBody>
      </p:sp>
      <p:sp>
        <p:nvSpPr>
          <p:cNvPr id="15" name="Text 13"/>
          <p:cNvSpPr/>
          <p:nvPr/>
        </p:nvSpPr>
        <p:spPr>
          <a:xfrm>
            <a:off x="1481328" y="3566160"/>
            <a:ext cx="3017520" cy="365760"/>
          </a:xfrm>
          <a:prstGeom prst="rect">
            <a:avLst/>
          </a:prstGeom>
          <a:noFill/>
          <a:ln/>
        </p:spPr>
        <p:txBody>
          <a:bodyPr wrap="square" lIns="0" tIns="0" rIns="0" bIns="0" rtlCol="0" anchor="ctr">
            <a:normAutofit/>
          </a:bodyPr>
          <a:lstStyle/>
          <a:p>
            <a:pPr marL="0" indent="0">
              <a:buNone/>
            </a:pPr>
            <a:r>
              <a:rPr lang="en-US" sz="1600" b="1" dirty="0">
                <a:solidFill>
                  <a:srgbClr val="0F172A"/>
                </a:solidFill>
                <a:latin typeface="Aptos" pitchFamily="34" charset="0"/>
                <a:ea typeface="Aptos" pitchFamily="34" charset="-122"/>
                <a:cs typeface="Aptos" pitchFamily="34" charset="-120"/>
              </a:rPr>
              <a:t>Named technologies only</a:t>
            </a:r>
            <a:endParaRPr lang="en-US" sz="1600" dirty="0"/>
          </a:p>
        </p:txBody>
      </p:sp>
      <p:sp>
        <p:nvSpPr>
          <p:cNvPr id="16" name="Text 14"/>
          <p:cNvSpPr/>
          <p:nvPr/>
        </p:nvSpPr>
        <p:spPr>
          <a:xfrm>
            <a:off x="4663440" y="3493008"/>
            <a:ext cx="6675120" cy="512064"/>
          </a:xfrm>
          <a:prstGeom prst="rect">
            <a:avLst/>
          </a:prstGeom>
          <a:noFill/>
          <a:ln/>
        </p:spPr>
        <p:txBody>
          <a:bodyPr wrap="square" lIns="0" tIns="0" rIns="0" bIns="0" rtlCol="0" anchor="ctr">
            <a:normAutofit/>
          </a:bodyPr>
          <a:lstStyle/>
          <a:p>
            <a:pPr marL="0" indent="0">
              <a:buNone/>
            </a:pPr>
            <a:r>
              <a:rPr lang="en-US" sz="1300" dirty="0">
                <a:solidFill>
                  <a:srgbClr val="334155"/>
                </a:solidFill>
                <a:latin typeface="Aptos" pitchFamily="34" charset="0"/>
                <a:ea typeface="Aptos" pitchFamily="34" charset="-122"/>
                <a:cs typeface="Aptos" pitchFamily="34" charset="-120"/>
              </a:rPr>
              <a:t>SAP UI5 Web Components · Spring Boot · Ollama · Qdrant · Docker. Chosen deliberately, not left to the model to pick.</a:t>
            </a:r>
            <a:endParaRPr lang="en-US" sz="1300" dirty="0"/>
          </a:p>
        </p:txBody>
      </p:sp>
      <p:sp>
        <p:nvSpPr>
          <p:cNvPr id="17" name="Shape 15"/>
          <p:cNvSpPr/>
          <p:nvPr/>
        </p:nvSpPr>
        <p:spPr>
          <a:xfrm>
            <a:off x="658368" y="4233672"/>
            <a:ext cx="10881360" cy="731520"/>
          </a:xfrm>
          <a:prstGeom prst="roundRect">
            <a:avLst>
              <a:gd name="adj" fmla="val 10000"/>
            </a:avLst>
          </a:prstGeom>
          <a:solidFill>
            <a:srgbClr val="FEE2E2"/>
          </a:solidFill>
          <a:ln w="12700">
            <a:solidFill>
              <a:srgbClr val="B91C1C"/>
            </a:solidFill>
            <a:prstDash val="solid"/>
          </a:ln>
        </p:spPr>
        <p:txBody>
          <a:bodyPr/>
          <a:lstStyle/>
          <a:p>
            <a:endParaRPr lang="en-US"/>
          </a:p>
        </p:txBody>
      </p:sp>
      <p:sp>
        <p:nvSpPr>
          <p:cNvPr id="18" name="Text 16"/>
          <p:cNvSpPr/>
          <p:nvPr/>
        </p:nvSpPr>
        <p:spPr>
          <a:xfrm>
            <a:off x="877824" y="4416552"/>
            <a:ext cx="457200" cy="365760"/>
          </a:xfrm>
          <a:prstGeom prst="rect">
            <a:avLst/>
          </a:prstGeom>
          <a:noFill/>
          <a:ln/>
        </p:spPr>
        <p:txBody>
          <a:bodyPr wrap="square" lIns="0" tIns="0" rIns="0" bIns="0" rtlCol="0" anchor="ctr">
            <a:normAutofit/>
          </a:bodyPr>
          <a:lstStyle/>
          <a:p>
            <a:pPr marL="0" indent="0">
              <a:buNone/>
            </a:pPr>
            <a:r>
              <a:rPr lang="en-US" sz="1800" b="1" dirty="0">
                <a:solidFill>
                  <a:srgbClr val="B91C1C"/>
                </a:solidFill>
                <a:latin typeface="Aptos" pitchFamily="34" charset="0"/>
                <a:ea typeface="Aptos" pitchFamily="34" charset="-122"/>
                <a:cs typeface="Aptos" pitchFamily="34" charset="-120"/>
              </a:rPr>
              <a:t>04</a:t>
            </a:r>
            <a:endParaRPr lang="en-US" sz="1800" dirty="0"/>
          </a:p>
        </p:txBody>
      </p:sp>
      <p:sp>
        <p:nvSpPr>
          <p:cNvPr id="19" name="Text 17"/>
          <p:cNvSpPr/>
          <p:nvPr/>
        </p:nvSpPr>
        <p:spPr>
          <a:xfrm>
            <a:off x="1481328" y="4416552"/>
            <a:ext cx="3017520" cy="365760"/>
          </a:xfrm>
          <a:prstGeom prst="rect">
            <a:avLst/>
          </a:prstGeom>
          <a:noFill/>
          <a:ln/>
        </p:spPr>
        <p:txBody>
          <a:bodyPr wrap="square" lIns="0" tIns="0" rIns="0" bIns="0" rtlCol="0" anchor="ctr">
            <a:normAutofit/>
          </a:bodyPr>
          <a:lstStyle/>
          <a:p>
            <a:pPr marL="0" indent="0">
              <a:buNone/>
            </a:pPr>
            <a:r>
              <a:rPr lang="en-US" sz="1600" b="1" dirty="0">
                <a:solidFill>
                  <a:srgbClr val="0F172A"/>
                </a:solidFill>
                <a:latin typeface="Aptos" pitchFamily="34" charset="0"/>
                <a:ea typeface="Aptos" pitchFamily="34" charset="-122"/>
                <a:cs typeface="Aptos" pitchFamily="34" charset="-120"/>
              </a:rPr>
              <a:t>Latest version of each</a:t>
            </a:r>
            <a:endParaRPr lang="en-US" sz="1600" dirty="0"/>
          </a:p>
        </p:txBody>
      </p:sp>
      <p:sp>
        <p:nvSpPr>
          <p:cNvPr id="20" name="Text 18"/>
          <p:cNvSpPr/>
          <p:nvPr/>
        </p:nvSpPr>
        <p:spPr>
          <a:xfrm>
            <a:off x="4663440" y="4343400"/>
            <a:ext cx="6675120" cy="512064"/>
          </a:xfrm>
          <a:prstGeom prst="rect">
            <a:avLst/>
          </a:prstGeom>
          <a:noFill/>
          <a:ln/>
        </p:spPr>
        <p:txBody>
          <a:bodyPr wrap="square" lIns="0" tIns="0" rIns="0" bIns="0" rtlCol="0" anchor="ctr">
            <a:normAutofit/>
          </a:bodyPr>
          <a:lstStyle/>
          <a:p>
            <a:pPr marL="0" indent="0">
              <a:buNone/>
            </a:pPr>
            <a:r>
              <a:rPr lang="en-US" sz="1300" dirty="0">
                <a:solidFill>
                  <a:srgbClr val="334155"/>
                </a:solidFill>
                <a:latin typeface="Aptos" pitchFamily="34" charset="0"/>
                <a:ea typeface="Aptos" pitchFamily="34" charset="-122"/>
                <a:cs typeface="Aptos" pitchFamily="34" charset="-120"/>
              </a:rPr>
              <a:t>Explicitly the newest release of every named technology — not whatever the model had most often seen.</a:t>
            </a:r>
            <a:endParaRPr lang="en-US" sz="1300" dirty="0"/>
          </a:p>
        </p:txBody>
      </p:sp>
      <p:sp>
        <p:nvSpPr>
          <p:cNvPr id="21" name="Shape 19"/>
          <p:cNvSpPr/>
          <p:nvPr/>
        </p:nvSpPr>
        <p:spPr>
          <a:xfrm>
            <a:off x="658368" y="5084064"/>
            <a:ext cx="10881360" cy="731520"/>
          </a:xfrm>
          <a:prstGeom prst="roundRect">
            <a:avLst>
              <a:gd name="adj" fmla="val 10000"/>
            </a:avLst>
          </a:prstGeom>
          <a:solidFill>
            <a:srgbClr val="FFFFFF"/>
          </a:solidFill>
          <a:ln w="12700">
            <a:solidFill>
              <a:srgbClr val="CBD5E1"/>
            </a:solidFill>
            <a:prstDash val="solid"/>
          </a:ln>
        </p:spPr>
        <p:txBody>
          <a:bodyPr/>
          <a:lstStyle/>
          <a:p>
            <a:endParaRPr lang="en-US"/>
          </a:p>
        </p:txBody>
      </p:sp>
      <p:sp>
        <p:nvSpPr>
          <p:cNvPr id="22" name="Text 20"/>
          <p:cNvSpPr/>
          <p:nvPr/>
        </p:nvSpPr>
        <p:spPr>
          <a:xfrm>
            <a:off x="877824" y="5266944"/>
            <a:ext cx="457200" cy="365760"/>
          </a:xfrm>
          <a:prstGeom prst="rect">
            <a:avLst/>
          </a:prstGeom>
          <a:noFill/>
          <a:ln/>
        </p:spPr>
        <p:txBody>
          <a:bodyPr wrap="square" lIns="0" tIns="0" rIns="0" bIns="0" rtlCol="0" anchor="ctr">
            <a:normAutofit/>
          </a:bodyPr>
          <a:lstStyle/>
          <a:p>
            <a:pPr marL="0" indent="0">
              <a:buNone/>
            </a:pPr>
            <a:r>
              <a:rPr lang="en-US" sz="1800" b="1" dirty="0">
                <a:solidFill>
                  <a:srgbClr val="0F766E"/>
                </a:solidFill>
                <a:latin typeface="Aptos" pitchFamily="34" charset="0"/>
                <a:ea typeface="Aptos" pitchFamily="34" charset="-122"/>
                <a:cs typeface="Aptos" pitchFamily="34" charset="-120"/>
              </a:rPr>
              <a:t>05</a:t>
            </a:r>
            <a:endParaRPr lang="en-US" sz="1800" dirty="0"/>
          </a:p>
        </p:txBody>
      </p:sp>
      <p:sp>
        <p:nvSpPr>
          <p:cNvPr id="23" name="Text 21"/>
          <p:cNvSpPr/>
          <p:nvPr/>
        </p:nvSpPr>
        <p:spPr>
          <a:xfrm>
            <a:off x="1481328" y="5266944"/>
            <a:ext cx="3017520" cy="365760"/>
          </a:xfrm>
          <a:prstGeom prst="rect">
            <a:avLst/>
          </a:prstGeom>
          <a:noFill/>
          <a:ln/>
        </p:spPr>
        <p:txBody>
          <a:bodyPr wrap="square" lIns="0" tIns="0" rIns="0" bIns="0" rtlCol="0" anchor="ctr">
            <a:normAutofit/>
          </a:bodyPr>
          <a:lstStyle/>
          <a:p>
            <a:pPr marL="0" indent="0">
              <a:buNone/>
            </a:pPr>
            <a:r>
              <a:rPr lang="en-US" sz="1600" b="1" dirty="0">
                <a:solidFill>
                  <a:srgbClr val="0F172A"/>
                </a:solidFill>
                <a:latin typeface="Aptos" pitchFamily="34" charset="0"/>
                <a:ea typeface="Aptos" pitchFamily="34" charset="-122"/>
                <a:cs typeface="Aptos" pitchFamily="34" charset="-120"/>
              </a:rPr>
              <a:t>Fully local</a:t>
            </a:r>
            <a:endParaRPr lang="en-US" sz="1600" dirty="0"/>
          </a:p>
        </p:txBody>
      </p:sp>
      <p:sp>
        <p:nvSpPr>
          <p:cNvPr id="24" name="Text 22"/>
          <p:cNvSpPr/>
          <p:nvPr/>
        </p:nvSpPr>
        <p:spPr>
          <a:xfrm>
            <a:off x="4663440" y="5193792"/>
            <a:ext cx="6675120" cy="512064"/>
          </a:xfrm>
          <a:prstGeom prst="rect">
            <a:avLst/>
          </a:prstGeom>
          <a:noFill/>
          <a:ln/>
        </p:spPr>
        <p:txBody>
          <a:bodyPr wrap="square" lIns="0" tIns="0" rIns="0" bIns="0" rtlCol="0" anchor="ctr">
            <a:normAutofit/>
          </a:bodyPr>
          <a:lstStyle/>
          <a:p>
            <a:pPr marL="0" indent="0">
              <a:buNone/>
            </a:pPr>
            <a:r>
              <a:rPr lang="en-US" sz="1300" dirty="0">
                <a:solidFill>
                  <a:srgbClr val="334155"/>
                </a:solidFill>
                <a:latin typeface="Aptos" pitchFamily="34" charset="0"/>
                <a:ea typeface="Aptos" pitchFamily="34" charset="-122"/>
                <a:cs typeface="Aptos" pitchFamily="34" charset="-120"/>
              </a:rPr>
              <a:t>Inference, embeddings, vectors and storage all on own infrastructure. No document leaves the machine.</a:t>
            </a:r>
            <a:endParaRPr lang="en-US" sz="1300" dirty="0"/>
          </a:p>
        </p:txBody>
      </p:sp>
      <p:sp>
        <p:nvSpPr>
          <p:cNvPr id="25" name="Text 23"/>
          <p:cNvSpPr/>
          <p:nvPr/>
        </p:nvSpPr>
        <p:spPr>
          <a:xfrm>
            <a:off x="731520" y="6016752"/>
            <a:ext cx="10698480" cy="365760"/>
          </a:xfrm>
          <a:prstGeom prst="rect">
            <a:avLst/>
          </a:prstGeom>
          <a:noFill/>
          <a:ln/>
        </p:spPr>
        <p:txBody>
          <a:bodyPr wrap="square" lIns="0" tIns="0" rIns="0" bIns="0" rtlCol="0" anchor="ctr">
            <a:normAutofit fontScale="85000" lnSpcReduction="20000"/>
          </a:bodyPr>
          <a:lstStyle/>
          <a:p>
            <a:pPr marL="0" indent="0" algn="ctr">
              <a:buNone/>
            </a:pPr>
            <a:r>
              <a:rPr lang="en-US" sz="1600" b="1" dirty="0">
                <a:solidFill>
                  <a:srgbClr val="0F172A"/>
                </a:solidFill>
                <a:latin typeface="Aptos" pitchFamily="34" charset="0"/>
                <a:ea typeface="Aptos" pitchFamily="34" charset="-122"/>
                <a:cs typeface="Aptos" pitchFamily="34" charset="-120"/>
              </a:rPr>
              <a:t>An exacting brief is exactly the kind of brief a model is worst at honouring — every constraint above narrows it away from its most probable output.</a:t>
            </a:r>
            <a:endParaRPr lang="en-US" sz="1600" dirty="0"/>
          </a:p>
        </p:txBody>
      </p:sp>
      <p:sp>
        <p:nvSpPr>
          <p:cNvPr id="26"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marL="0" indent="0">
              <a:buNone/>
            </a:pPr>
            <a:r>
              <a:rPr lang="en-US" sz="900" b="1" kern="0" spc="110" dirty="0">
                <a:solidFill>
                  <a:srgbClr val="0F766E"/>
                </a:solidFill>
                <a:latin typeface="Aptos" pitchFamily="34" charset="0"/>
                <a:ea typeface="Aptos" pitchFamily="34" charset="-122"/>
                <a:cs typeface="Aptos" pitchFamily="34" charset="-120"/>
              </a:rPr>
              <a:t>TOLD EXPLICITLY. IGNORED ANYWAY.</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fontScale="92500"/>
          </a:bodyPr>
          <a:lstStyle/>
          <a:p>
            <a:pPr marL="0" indent="0">
              <a:buNone/>
            </a:pPr>
            <a:r>
              <a:rPr lang="en-US" sz="2700" b="1" dirty="0">
                <a:solidFill>
                  <a:srgbClr val="0F172A"/>
                </a:solidFill>
                <a:latin typeface="Aptos" pitchFamily="34" charset="0"/>
                <a:ea typeface="Aptos" pitchFamily="34" charset="-122"/>
                <a:cs typeface="Aptos" pitchFamily="34" charset="-120"/>
              </a:rPr>
              <a:t>The same mechanism that invents facts also overrides your instructions</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marL="0" indent="0">
              <a:buNone/>
            </a:pPr>
            <a:r>
              <a:rPr lang="en-US" sz="1200" dirty="0">
                <a:solidFill>
                  <a:srgbClr val="64748B"/>
                </a:solidFill>
                <a:latin typeface="Aptos" pitchFamily="34" charset="0"/>
                <a:ea typeface="Aptos" pitchFamily="34" charset="-122"/>
                <a:cs typeface="Aptos" pitchFamily="34" charset="-120"/>
              </a:rPr>
              <a:t>What came back against the brief on the previous slide — all of it asked for in writing.</a:t>
            </a:r>
            <a:endParaRPr lang="en-US" sz="1200" dirty="0"/>
          </a:p>
        </p:txBody>
      </p:sp>
      <p:sp>
        <p:nvSpPr>
          <p:cNvPr id="5" name="Text 3"/>
          <p:cNvSpPr/>
          <p:nvPr/>
        </p:nvSpPr>
        <p:spPr>
          <a:xfrm>
            <a:off x="822960" y="1700784"/>
            <a:ext cx="3200400" cy="219456"/>
          </a:xfrm>
          <a:prstGeom prst="rect">
            <a:avLst/>
          </a:prstGeom>
          <a:noFill/>
          <a:ln/>
        </p:spPr>
        <p:txBody>
          <a:bodyPr wrap="square" lIns="0" tIns="0" rIns="0" bIns="0" rtlCol="0" anchor="ctr">
            <a:normAutofit/>
          </a:bodyPr>
          <a:lstStyle/>
          <a:p>
            <a:pPr marL="0" indent="0">
              <a:buNone/>
            </a:pPr>
            <a:r>
              <a:rPr lang="en-US" sz="1000" b="1" kern="0" spc="100" dirty="0">
                <a:solidFill>
                  <a:srgbClr val="0F766E"/>
                </a:solidFill>
                <a:latin typeface="Aptos" pitchFamily="34" charset="0"/>
                <a:ea typeface="Aptos" pitchFamily="34" charset="-122"/>
                <a:cs typeface="Aptos" pitchFamily="34" charset="-120"/>
              </a:rPr>
              <a:t>WHAT THE BRIEF SAID</a:t>
            </a:r>
            <a:endParaRPr lang="en-US" sz="1000" dirty="0"/>
          </a:p>
        </p:txBody>
      </p:sp>
      <p:sp>
        <p:nvSpPr>
          <p:cNvPr id="6" name="Text 4"/>
          <p:cNvSpPr/>
          <p:nvPr/>
        </p:nvSpPr>
        <p:spPr>
          <a:xfrm>
            <a:off x="4251960" y="1700784"/>
            <a:ext cx="2926080" cy="219456"/>
          </a:xfrm>
          <a:prstGeom prst="rect">
            <a:avLst/>
          </a:prstGeom>
          <a:noFill/>
          <a:ln/>
        </p:spPr>
        <p:txBody>
          <a:bodyPr wrap="square" lIns="0" tIns="0" rIns="0" bIns="0" rtlCol="0" anchor="ctr">
            <a:normAutofit/>
          </a:bodyPr>
          <a:lstStyle/>
          <a:p>
            <a:pPr marL="0" indent="0">
              <a:buNone/>
            </a:pPr>
            <a:r>
              <a:rPr lang="en-US" sz="1000" b="1" kern="0" spc="100" dirty="0">
                <a:solidFill>
                  <a:srgbClr val="0F766E"/>
                </a:solidFill>
                <a:latin typeface="Aptos" pitchFamily="34" charset="0"/>
                <a:ea typeface="Aptos" pitchFamily="34" charset="-122"/>
                <a:cs typeface="Aptos" pitchFamily="34" charset="-120"/>
              </a:rPr>
              <a:t>WHAT ARRIVED</a:t>
            </a:r>
            <a:endParaRPr lang="en-US" sz="1000" dirty="0"/>
          </a:p>
        </p:txBody>
      </p:sp>
      <p:sp>
        <p:nvSpPr>
          <p:cNvPr id="7" name="Text 5"/>
          <p:cNvSpPr/>
          <p:nvPr/>
        </p:nvSpPr>
        <p:spPr>
          <a:xfrm>
            <a:off x="7406640" y="1700784"/>
            <a:ext cx="4023360" cy="219456"/>
          </a:xfrm>
          <a:prstGeom prst="rect">
            <a:avLst/>
          </a:prstGeom>
          <a:noFill/>
          <a:ln/>
        </p:spPr>
        <p:txBody>
          <a:bodyPr wrap="square" lIns="0" tIns="0" rIns="0" bIns="0" rtlCol="0" anchor="ctr">
            <a:normAutofit/>
          </a:bodyPr>
          <a:lstStyle/>
          <a:p>
            <a:pPr marL="0" indent="0">
              <a:buNone/>
            </a:pPr>
            <a:r>
              <a:rPr lang="en-US" sz="1000" b="1" kern="0" spc="100" dirty="0">
                <a:solidFill>
                  <a:srgbClr val="0F766E"/>
                </a:solidFill>
                <a:latin typeface="Aptos" pitchFamily="34" charset="0"/>
                <a:ea typeface="Aptos" pitchFamily="34" charset="-122"/>
                <a:cs typeface="Aptos" pitchFamily="34" charset="-120"/>
              </a:rPr>
              <a:t>WHY THE MODEL DID THAT</a:t>
            </a:r>
            <a:endParaRPr lang="en-US" sz="1000" dirty="0"/>
          </a:p>
        </p:txBody>
      </p:sp>
      <p:sp>
        <p:nvSpPr>
          <p:cNvPr id="8" name="Shape 6"/>
          <p:cNvSpPr/>
          <p:nvPr/>
        </p:nvSpPr>
        <p:spPr>
          <a:xfrm>
            <a:off x="658368" y="2011680"/>
            <a:ext cx="10881360" cy="932688"/>
          </a:xfrm>
          <a:prstGeom prst="roundRect">
            <a:avLst>
              <a:gd name="adj" fmla="val 7843"/>
            </a:avLst>
          </a:prstGeom>
          <a:solidFill>
            <a:srgbClr val="FFFFFF"/>
          </a:solidFill>
          <a:ln w="12700">
            <a:solidFill>
              <a:srgbClr val="CBD5E1"/>
            </a:solidFill>
            <a:prstDash val="solid"/>
          </a:ln>
        </p:spPr>
        <p:txBody>
          <a:bodyPr/>
          <a:lstStyle/>
          <a:p>
            <a:endParaRPr lang="en-US"/>
          </a:p>
        </p:txBody>
      </p:sp>
      <p:sp>
        <p:nvSpPr>
          <p:cNvPr id="9" name="Text 7"/>
          <p:cNvSpPr/>
          <p:nvPr/>
        </p:nvSpPr>
        <p:spPr>
          <a:xfrm>
            <a:off x="868680" y="2286000"/>
            <a:ext cx="3200400" cy="384048"/>
          </a:xfrm>
          <a:prstGeom prst="rect">
            <a:avLst/>
          </a:prstGeom>
          <a:noFill/>
          <a:ln/>
        </p:spPr>
        <p:txBody>
          <a:bodyPr wrap="square" lIns="0" tIns="0" rIns="0" bIns="0" rtlCol="0" anchor="ctr">
            <a:normAutofit/>
          </a:bodyPr>
          <a:lstStyle/>
          <a:p>
            <a:pPr marL="0" indent="0">
              <a:buNone/>
            </a:pPr>
            <a:r>
              <a:rPr lang="en-US" sz="1500" b="1" dirty="0">
                <a:solidFill>
                  <a:srgbClr val="1D4ED8"/>
                </a:solidFill>
                <a:latin typeface="Aptos" pitchFamily="34" charset="0"/>
                <a:ea typeface="Aptos" pitchFamily="34" charset="-122"/>
                <a:cs typeface="Aptos" pitchFamily="34" charset="-120"/>
              </a:rPr>
              <a:t>SAP UI5 Web Components</a:t>
            </a:r>
            <a:endParaRPr lang="en-US" sz="1500" dirty="0"/>
          </a:p>
        </p:txBody>
      </p:sp>
      <p:sp>
        <p:nvSpPr>
          <p:cNvPr id="10" name="Text 8"/>
          <p:cNvSpPr/>
          <p:nvPr/>
        </p:nvSpPr>
        <p:spPr>
          <a:xfrm>
            <a:off x="4251960" y="2286000"/>
            <a:ext cx="2926080" cy="384048"/>
          </a:xfrm>
          <a:prstGeom prst="rect">
            <a:avLst/>
          </a:prstGeom>
          <a:noFill/>
          <a:ln/>
        </p:spPr>
        <p:txBody>
          <a:bodyPr wrap="square" lIns="0" tIns="0" rIns="0" bIns="0" rtlCol="0" anchor="ctr">
            <a:normAutofit/>
          </a:bodyPr>
          <a:lstStyle/>
          <a:p>
            <a:pPr marL="0" indent="0">
              <a:buNone/>
            </a:pPr>
            <a:r>
              <a:rPr lang="en-US" sz="1500" b="1" dirty="0">
                <a:solidFill>
                  <a:srgbClr val="B91C1C"/>
                </a:solidFill>
                <a:latin typeface="Aptos" pitchFamily="34" charset="0"/>
                <a:ea typeface="Aptos" pitchFamily="34" charset="-122"/>
                <a:cs typeface="Aptos" pitchFamily="34" charset="-120"/>
              </a:rPr>
              <a:t>A React single-page app</a:t>
            </a:r>
            <a:endParaRPr lang="en-US" sz="1500" dirty="0"/>
          </a:p>
        </p:txBody>
      </p:sp>
      <p:sp>
        <p:nvSpPr>
          <p:cNvPr id="11" name="Text 9"/>
          <p:cNvSpPr/>
          <p:nvPr/>
        </p:nvSpPr>
        <p:spPr>
          <a:xfrm>
            <a:off x="7406640" y="2176272"/>
            <a:ext cx="3931920" cy="621792"/>
          </a:xfrm>
          <a:prstGeom prst="rect">
            <a:avLst/>
          </a:prstGeom>
          <a:noFill/>
          <a:ln/>
        </p:spPr>
        <p:txBody>
          <a:bodyPr wrap="square" lIns="0" tIns="0" rIns="0" bIns="0" rtlCol="0" anchor="ctr">
            <a:normAutofit/>
          </a:bodyPr>
          <a:lstStyle/>
          <a:p>
            <a:pPr marL="0" indent="0">
              <a:buNone/>
            </a:pPr>
            <a:r>
              <a:rPr lang="en-US" sz="1200" dirty="0">
                <a:solidFill>
                  <a:srgbClr val="334155"/>
                </a:solidFill>
                <a:latin typeface="Aptos" pitchFamily="34" charset="0"/>
                <a:ea typeface="Aptos" pitchFamily="34" charset="-122"/>
                <a:cs typeface="Aptos" pitchFamily="34" charset="-120"/>
              </a:rPr>
              <a:t>React is overwhelmingly dominant in the training corpus for “web UI”. UI5 Web Components is a thin slice beside it.</a:t>
            </a:r>
            <a:endParaRPr lang="en-US" sz="1200" dirty="0"/>
          </a:p>
        </p:txBody>
      </p:sp>
      <p:sp>
        <p:nvSpPr>
          <p:cNvPr id="12" name="Shape 10"/>
          <p:cNvSpPr/>
          <p:nvPr/>
        </p:nvSpPr>
        <p:spPr>
          <a:xfrm>
            <a:off x="658368" y="3090672"/>
            <a:ext cx="10881360" cy="932688"/>
          </a:xfrm>
          <a:prstGeom prst="roundRect">
            <a:avLst>
              <a:gd name="adj" fmla="val 7843"/>
            </a:avLst>
          </a:prstGeom>
          <a:solidFill>
            <a:srgbClr val="FFFFFF"/>
          </a:solidFill>
          <a:ln w="12700">
            <a:solidFill>
              <a:srgbClr val="CBD5E1"/>
            </a:solidFill>
            <a:prstDash val="solid"/>
          </a:ln>
        </p:spPr>
        <p:txBody>
          <a:bodyPr/>
          <a:lstStyle/>
          <a:p>
            <a:endParaRPr lang="en-US"/>
          </a:p>
        </p:txBody>
      </p:sp>
      <p:sp>
        <p:nvSpPr>
          <p:cNvPr id="13" name="Text 11"/>
          <p:cNvSpPr/>
          <p:nvPr/>
        </p:nvSpPr>
        <p:spPr>
          <a:xfrm>
            <a:off x="868680" y="3364992"/>
            <a:ext cx="3200400" cy="384048"/>
          </a:xfrm>
          <a:prstGeom prst="rect">
            <a:avLst/>
          </a:prstGeom>
          <a:noFill/>
          <a:ln/>
        </p:spPr>
        <p:txBody>
          <a:bodyPr wrap="square" lIns="0" tIns="0" rIns="0" bIns="0" rtlCol="0" anchor="ctr">
            <a:normAutofit/>
          </a:bodyPr>
          <a:lstStyle/>
          <a:p>
            <a:pPr marL="0" indent="0">
              <a:buNone/>
            </a:pPr>
            <a:r>
              <a:rPr lang="en-US" sz="1500" b="1" dirty="0">
                <a:solidFill>
                  <a:srgbClr val="1D4ED8"/>
                </a:solidFill>
                <a:latin typeface="Aptos" pitchFamily="34" charset="0"/>
                <a:ea typeface="Aptos" pitchFamily="34" charset="-122"/>
                <a:cs typeface="Aptos" pitchFamily="34" charset="-120"/>
              </a:rPr>
              <a:t>Latest Spring Boot — i.e. 4</a:t>
            </a:r>
            <a:endParaRPr lang="en-US" sz="1500" dirty="0"/>
          </a:p>
        </p:txBody>
      </p:sp>
      <p:sp>
        <p:nvSpPr>
          <p:cNvPr id="14" name="Text 12"/>
          <p:cNvSpPr/>
          <p:nvPr/>
        </p:nvSpPr>
        <p:spPr>
          <a:xfrm>
            <a:off x="4251960" y="3364992"/>
            <a:ext cx="2926080" cy="384048"/>
          </a:xfrm>
          <a:prstGeom prst="rect">
            <a:avLst/>
          </a:prstGeom>
          <a:noFill/>
          <a:ln/>
        </p:spPr>
        <p:txBody>
          <a:bodyPr wrap="square" lIns="0" tIns="0" rIns="0" bIns="0" rtlCol="0" anchor="ctr">
            <a:normAutofit fontScale="92500" lnSpcReduction="20000"/>
          </a:bodyPr>
          <a:lstStyle/>
          <a:p>
            <a:pPr marL="0" indent="0">
              <a:buNone/>
            </a:pPr>
            <a:r>
              <a:rPr lang="en-US" sz="1500" b="1" dirty="0">
                <a:solidFill>
                  <a:srgbClr val="B91C1C"/>
                </a:solidFill>
                <a:latin typeface="Aptos" pitchFamily="34" charset="0"/>
                <a:ea typeface="Aptos" pitchFamily="34" charset="-122"/>
                <a:cs typeface="Aptos" pitchFamily="34" charset="-120"/>
              </a:rPr>
              <a:t>Spring Boot 3 + spring-boot-starter-web</a:t>
            </a:r>
            <a:endParaRPr lang="en-US" sz="1500" dirty="0"/>
          </a:p>
        </p:txBody>
      </p:sp>
      <p:sp>
        <p:nvSpPr>
          <p:cNvPr id="15" name="Text 13"/>
          <p:cNvSpPr/>
          <p:nvPr/>
        </p:nvSpPr>
        <p:spPr>
          <a:xfrm>
            <a:off x="7406640" y="3255264"/>
            <a:ext cx="3931920" cy="621792"/>
          </a:xfrm>
          <a:prstGeom prst="rect">
            <a:avLst/>
          </a:prstGeom>
          <a:noFill/>
          <a:ln/>
        </p:spPr>
        <p:txBody>
          <a:bodyPr wrap="square" lIns="0" tIns="0" rIns="0" bIns="0" rtlCol="0" anchor="ctr">
            <a:normAutofit/>
          </a:bodyPr>
          <a:lstStyle/>
          <a:p>
            <a:pPr marL="0" indent="0">
              <a:buNone/>
            </a:pPr>
            <a:r>
              <a:rPr lang="en-US" sz="1200" dirty="0">
                <a:solidFill>
                  <a:srgbClr val="334155"/>
                </a:solidFill>
                <a:latin typeface="Aptos" pitchFamily="34" charset="0"/>
                <a:ea typeface="Aptos" pitchFamily="34" charset="-122"/>
                <a:cs typeface="Aptos" pitchFamily="34" charset="-120"/>
              </a:rPr>
              <a:t>“Latest” resolves to the latest it has seen. Boot 4 sits at or past the cut-off, so it wrote the names it knew.</a:t>
            </a:r>
            <a:endParaRPr lang="en-US" sz="1200" dirty="0"/>
          </a:p>
        </p:txBody>
      </p:sp>
      <p:sp>
        <p:nvSpPr>
          <p:cNvPr id="16" name="Shape 14"/>
          <p:cNvSpPr/>
          <p:nvPr/>
        </p:nvSpPr>
        <p:spPr>
          <a:xfrm>
            <a:off x="658368" y="4169664"/>
            <a:ext cx="10881360" cy="932688"/>
          </a:xfrm>
          <a:prstGeom prst="roundRect">
            <a:avLst>
              <a:gd name="adj" fmla="val 7843"/>
            </a:avLst>
          </a:prstGeom>
          <a:solidFill>
            <a:srgbClr val="FFFFFF"/>
          </a:solidFill>
          <a:ln w="12700">
            <a:solidFill>
              <a:srgbClr val="CBD5E1"/>
            </a:solidFill>
            <a:prstDash val="solid"/>
          </a:ln>
        </p:spPr>
        <p:txBody>
          <a:bodyPr/>
          <a:lstStyle/>
          <a:p>
            <a:endParaRPr lang="en-US"/>
          </a:p>
        </p:txBody>
      </p:sp>
      <p:sp>
        <p:nvSpPr>
          <p:cNvPr id="17" name="Text 15"/>
          <p:cNvSpPr/>
          <p:nvPr/>
        </p:nvSpPr>
        <p:spPr>
          <a:xfrm>
            <a:off x="868680" y="4443984"/>
            <a:ext cx="3200400" cy="384048"/>
          </a:xfrm>
          <a:prstGeom prst="rect">
            <a:avLst/>
          </a:prstGeom>
          <a:noFill/>
          <a:ln/>
        </p:spPr>
        <p:txBody>
          <a:bodyPr wrap="square" lIns="0" tIns="0" rIns="0" bIns="0" rtlCol="0" anchor="ctr">
            <a:normAutofit/>
          </a:bodyPr>
          <a:lstStyle/>
          <a:p>
            <a:pPr marL="0" indent="0">
              <a:buNone/>
            </a:pPr>
            <a:r>
              <a:rPr lang="en-US" sz="1500" b="1" dirty="0">
                <a:solidFill>
                  <a:srgbClr val="1D4ED8"/>
                </a:solidFill>
                <a:latin typeface="Aptos" pitchFamily="34" charset="0"/>
                <a:ea typeface="Aptos" pitchFamily="34" charset="-122"/>
                <a:cs typeface="Aptos" pitchFamily="34" charset="-120"/>
              </a:rPr>
              <a:t>Enterprise-grade, as specified</a:t>
            </a:r>
            <a:endParaRPr lang="en-US" sz="1500" dirty="0"/>
          </a:p>
        </p:txBody>
      </p:sp>
      <p:sp>
        <p:nvSpPr>
          <p:cNvPr id="18" name="Text 16"/>
          <p:cNvSpPr/>
          <p:nvPr/>
        </p:nvSpPr>
        <p:spPr>
          <a:xfrm>
            <a:off x="4251960" y="4443984"/>
            <a:ext cx="2926080" cy="384048"/>
          </a:xfrm>
          <a:prstGeom prst="rect">
            <a:avLst/>
          </a:prstGeom>
          <a:noFill/>
          <a:ln/>
        </p:spPr>
        <p:txBody>
          <a:bodyPr wrap="square" lIns="0" tIns="0" rIns="0" bIns="0" rtlCol="0" anchor="ctr">
            <a:normAutofit fontScale="92500" lnSpcReduction="20000"/>
          </a:bodyPr>
          <a:lstStyle/>
          <a:p>
            <a:pPr marL="0" indent="0">
              <a:buNone/>
            </a:pPr>
            <a:r>
              <a:rPr lang="en-US" sz="1500" b="1" dirty="0">
                <a:solidFill>
                  <a:srgbClr val="B91C1C"/>
                </a:solidFill>
                <a:latin typeface="Aptos" pitchFamily="34" charset="0"/>
                <a:ea typeface="Aptos" pitchFamily="34" charset="-122"/>
                <a:cs typeface="Aptos" pitchFamily="34" charset="-120"/>
              </a:rPr>
              <a:t>A generic, perfectly reasonable tutorial app</a:t>
            </a:r>
            <a:endParaRPr lang="en-US" sz="1500" dirty="0"/>
          </a:p>
        </p:txBody>
      </p:sp>
      <p:sp>
        <p:nvSpPr>
          <p:cNvPr id="19" name="Text 17"/>
          <p:cNvSpPr/>
          <p:nvPr/>
        </p:nvSpPr>
        <p:spPr>
          <a:xfrm>
            <a:off x="7406640" y="4334256"/>
            <a:ext cx="3931920" cy="621792"/>
          </a:xfrm>
          <a:prstGeom prst="rect">
            <a:avLst/>
          </a:prstGeom>
          <a:noFill/>
          <a:ln/>
        </p:spPr>
        <p:txBody>
          <a:bodyPr wrap="square" lIns="0" tIns="0" rIns="0" bIns="0" rtlCol="0" anchor="ctr">
            <a:normAutofit/>
          </a:bodyPr>
          <a:lstStyle/>
          <a:p>
            <a:pPr marL="0" indent="0">
              <a:buNone/>
            </a:pPr>
            <a:r>
              <a:rPr lang="en-US" sz="1200" dirty="0">
                <a:solidFill>
                  <a:srgbClr val="334155"/>
                </a:solidFill>
                <a:latin typeface="Aptos" pitchFamily="34" charset="0"/>
                <a:ea typeface="Aptos" pitchFamily="34" charset="-122"/>
                <a:cs typeface="Aptos" pitchFamily="34" charset="-120"/>
              </a:rPr>
              <a:t>Absent an explicit contract, it fills the gap with the statistical average of every similar project it has read.</a:t>
            </a:r>
            <a:endParaRPr lang="en-US" sz="1200" dirty="0"/>
          </a:p>
        </p:txBody>
      </p:sp>
      <p:sp>
        <p:nvSpPr>
          <p:cNvPr id="20" name="Text 18"/>
          <p:cNvSpPr/>
          <p:nvPr/>
        </p:nvSpPr>
        <p:spPr>
          <a:xfrm>
            <a:off x="731520" y="5440680"/>
            <a:ext cx="10698480" cy="411480"/>
          </a:xfrm>
          <a:prstGeom prst="rect">
            <a:avLst/>
          </a:prstGeom>
          <a:noFill/>
          <a:ln/>
        </p:spPr>
        <p:txBody>
          <a:bodyPr wrap="square" lIns="0" tIns="0" rIns="0" bIns="0" rtlCol="0" anchor="ctr">
            <a:normAutofit fontScale="85000" lnSpcReduction="20000"/>
          </a:bodyPr>
          <a:lstStyle/>
          <a:p>
            <a:pPr marL="0" indent="0" algn="ctr">
              <a:buNone/>
            </a:pPr>
            <a:r>
              <a:rPr lang="en-US" sz="1900" b="1" dirty="0">
                <a:solidFill>
                  <a:srgbClr val="0F172A"/>
                </a:solidFill>
                <a:latin typeface="Aptos" pitchFamily="34" charset="0"/>
                <a:ea typeface="Aptos" pitchFamily="34" charset="-122"/>
                <a:cs typeface="Aptos" pitchFamily="34" charset="-120"/>
              </a:rPr>
              <a:t>Statistical gravity beats an explicit instruction. A stronger prompt does not fix this — a machine-checkable constraint does.</a:t>
            </a:r>
            <a:endParaRPr lang="en-US" sz="19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marL="0" indent="0">
              <a:buNone/>
            </a:pPr>
            <a:r>
              <a:rPr lang="en-US" sz="900" b="1" kern="0" spc="110" dirty="0">
                <a:solidFill>
                  <a:srgbClr val="0F766E"/>
                </a:solidFill>
                <a:latin typeface="Aptos" pitchFamily="34" charset="0"/>
                <a:ea typeface="Aptos" pitchFamily="34" charset="-122"/>
                <a:cs typeface="Aptos" pitchFamily="34" charset="-120"/>
              </a:rPr>
              <a:t>SPECIFY THE ARCHITECTURE, THEN MAKE IT CHECKABLE</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marL="0" indent="0">
              <a:buNone/>
            </a:pPr>
            <a:r>
              <a:rPr lang="en-US" sz="2700" b="1" dirty="0">
                <a:solidFill>
                  <a:srgbClr val="0F172A"/>
                </a:solidFill>
                <a:latin typeface="Aptos" pitchFamily="34" charset="0"/>
                <a:ea typeface="Aptos" pitchFamily="34" charset="-122"/>
                <a:cs typeface="Aptos" pitchFamily="34" charset="-120"/>
              </a:rPr>
              <a:t>Prose is a suggestion. A pinned version and a failing check are not.</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marL="0" indent="0">
              <a:buNone/>
            </a:pPr>
            <a:r>
              <a:rPr lang="en-US" sz="1200" dirty="0">
                <a:solidFill>
                  <a:srgbClr val="64748B"/>
                </a:solidFill>
                <a:latin typeface="Aptos" pitchFamily="34" charset="0"/>
                <a:ea typeface="Aptos" pitchFamily="34" charset="-122"/>
                <a:cs typeface="Aptos" pitchFamily="34" charset="-120"/>
              </a:rPr>
              <a:t>The fix for “it ignored me” is to move the requirement out of the prompt and into the build.</a:t>
            </a:r>
            <a:endParaRPr lang="en-US" sz="1200" dirty="0"/>
          </a:p>
        </p:txBody>
      </p:sp>
      <p:sp>
        <p:nvSpPr>
          <p:cNvPr id="5" name="Shape 3"/>
          <p:cNvSpPr/>
          <p:nvPr/>
        </p:nvSpPr>
        <p:spPr>
          <a:xfrm>
            <a:off x="685800" y="1719072"/>
            <a:ext cx="5349240" cy="3474720"/>
          </a:xfrm>
          <a:prstGeom prst="roundRect">
            <a:avLst>
              <a:gd name="adj" fmla="val 1579"/>
            </a:avLst>
          </a:prstGeom>
          <a:solidFill>
            <a:srgbClr val="0B1220"/>
          </a:solidFill>
          <a:ln w="12700">
            <a:solidFill>
              <a:srgbClr val="1E293B"/>
            </a:solidFill>
            <a:prstDash val="solid"/>
          </a:ln>
        </p:spPr>
        <p:txBody>
          <a:bodyPr/>
          <a:lstStyle/>
          <a:p>
            <a:endParaRPr lang="en-US"/>
          </a:p>
        </p:txBody>
      </p:sp>
      <p:sp>
        <p:nvSpPr>
          <p:cNvPr id="6" name="Text 4"/>
          <p:cNvSpPr/>
          <p:nvPr/>
        </p:nvSpPr>
        <p:spPr>
          <a:xfrm>
            <a:off x="850392" y="1847088"/>
            <a:ext cx="5020056" cy="3255264"/>
          </a:xfrm>
          <a:prstGeom prst="rect">
            <a:avLst/>
          </a:prstGeom>
          <a:noFill/>
          <a:ln/>
        </p:spPr>
        <p:txBody>
          <a:bodyPr wrap="square" lIns="0" tIns="0" rIns="0" bIns="0" rtlCol="0" anchor="t">
            <a:normAutofit/>
          </a:bodyPr>
          <a:lstStyle/>
          <a:p>
            <a:pPr marL="0" indent="0">
              <a:buNone/>
            </a:pPr>
            <a:r>
              <a:rPr lang="en-US" sz="1200" dirty="0">
                <a:solidFill>
                  <a:srgbClr val="D1FAE5"/>
                </a:solidFill>
                <a:latin typeface="Consolas" pitchFamily="34" charset="0"/>
                <a:ea typeface="Consolas" pitchFamily="34" charset="-122"/>
                <a:cs typeface="Consolas" pitchFamily="34" charset="-120"/>
              </a:rPr>
              <a:t>&lt;parent&gt;</a:t>
            </a:r>
            <a:endParaRPr lang="en-US" sz="1200" dirty="0"/>
          </a:p>
          <a:p>
            <a:pPr marL="0" indent="0">
              <a:buNone/>
            </a:pPr>
            <a:r>
              <a:rPr lang="en-US" sz="1200" dirty="0">
                <a:solidFill>
                  <a:srgbClr val="D1FAE5"/>
                </a:solidFill>
                <a:latin typeface="Consolas" pitchFamily="34" charset="0"/>
                <a:ea typeface="Consolas" pitchFamily="34" charset="-122"/>
                <a:cs typeface="Consolas" pitchFamily="34" charset="-120"/>
              </a:rPr>
              <a:t>  &lt;groupId&gt;org.springframework.boot&lt;/groupId&gt;</a:t>
            </a:r>
            <a:endParaRPr lang="en-US" sz="1200" dirty="0"/>
          </a:p>
          <a:p>
            <a:pPr marL="0" indent="0">
              <a:buNone/>
            </a:pPr>
            <a:r>
              <a:rPr lang="en-US" sz="1200" dirty="0">
                <a:solidFill>
                  <a:srgbClr val="D1FAE5"/>
                </a:solidFill>
                <a:latin typeface="Consolas" pitchFamily="34" charset="0"/>
                <a:ea typeface="Consolas" pitchFamily="34" charset="-122"/>
                <a:cs typeface="Consolas" pitchFamily="34" charset="-120"/>
              </a:rPr>
              <a:t>  &lt;artifactId&gt;spring-boot-starter-parent&lt;/artifactId&gt;</a:t>
            </a:r>
            <a:endParaRPr lang="en-US" sz="1200" dirty="0"/>
          </a:p>
          <a:p>
            <a:pPr marL="0" indent="0">
              <a:buNone/>
            </a:pPr>
            <a:r>
              <a:rPr lang="en-US" sz="1200" dirty="0">
                <a:solidFill>
                  <a:srgbClr val="D1FAE5"/>
                </a:solidFill>
                <a:latin typeface="Consolas" pitchFamily="34" charset="0"/>
                <a:ea typeface="Consolas" pitchFamily="34" charset="-122"/>
                <a:cs typeface="Consolas" pitchFamily="34" charset="-120"/>
              </a:rPr>
              <a:t>  &lt;version&gt;4.1.1&lt;/version&gt;</a:t>
            </a:r>
            <a:endParaRPr lang="en-US" sz="1200" dirty="0"/>
          </a:p>
          <a:p>
            <a:pPr marL="0" indent="0">
              <a:buNone/>
            </a:pPr>
            <a:r>
              <a:rPr lang="en-US" sz="1200" dirty="0">
                <a:solidFill>
                  <a:srgbClr val="D1FAE5"/>
                </a:solidFill>
                <a:latin typeface="Consolas" pitchFamily="34" charset="0"/>
                <a:ea typeface="Consolas" pitchFamily="34" charset="-122"/>
                <a:cs typeface="Consolas" pitchFamily="34" charset="-120"/>
              </a:rPr>
              <a:t>&lt;/parent&gt;</a:t>
            </a:r>
            <a:endParaRPr lang="en-US" sz="1200" dirty="0"/>
          </a:p>
          <a:p>
            <a:pPr marL="0" indent="0">
              <a:buNone/>
            </a:pPr>
            <a:endParaRPr lang="en-US" sz="1200" dirty="0"/>
          </a:p>
          <a:p>
            <a:pPr marL="0" indent="0">
              <a:buNone/>
            </a:pPr>
            <a:r>
              <a:rPr lang="en-US" sz="1200" dirty="0">
                <a:solidFill>
                  <a:srgbClr val="D1FAE5"/>
                </a:solidFill>
                <a:latin typeface="Consolas" pitchFamily="34" charset="0"/>
                <a:ea typeface="Consolas" pitchFamily="34" charset="-122"/>
                <a:cs typeface="Consolas" pitchFamily="34" charset="-120"/>
              </a:rPr>
              <a:t>&lt;!-- Boot 4 renamed the MVC starter --&gt;</a:t>
            </a:r>
            <a:endParaRPr lang="en-US" sz="1200" dirty="0"/>
          </a:p>
          <a:p>
            <a:pPr marL="0" indent="0">
              <a:buNone/>
            </a:pPr>
            <a:r>
              <a:rPr lang="en-US" sz="1200" dirty="0">
                <a:solidFill>
                  <a:srgbClr val="D1FAE5"/>
                </a:solidFill>
                <a:latin typeface="Consolas" pitchFamily="34" charset="0"/>
                <a:ea typeface="Consolas" pitchFamily="34" charset="-122"/>
                <a:cs typeface="Consolas" pitchFamily="34" charset="-120"/>
              </a:rPr>
              <a:t>&lt;artifactId&gt;spring-boot-starter-webmvc&lt;/artifactId&gt;</a:t>
            </a:r>
            <a:endParaRPr lang="en-US" sz="1200" dirty="0"/>
          </a:p>
          <a:p>
            <a:pPr marL="0" indent="0">
              <a:buNone/>
            </a:pPr>
            <a:endParaRPr lang="en-US" sz="1200" dirty="0"/>
          </a:p>
          <a:p>
            <a:pPr marL="0" indent="0">
              <a:buNone/>
            </a:pPr>
            <a:r>
              <a:rPr lang="en-US" sz="1200" dirty="0">
                <a:solidFill>
                  <a:srgbClr val="D1FAE5"/>
                </a:solidFill>
                <a:latin typeface="Consolas" pitchFamily="34" charset="0"/>
                <a:ea typeface="Consolas" pitchFamily="34" charset="-122"/>
                <a:cs typeface="Consolas" pitchFamily="34" charset="-120"/>
              </a:rPr>
              <a:t># and the property prefix moved too</a:t>
            </a:r>
            <a:endParaRPr lang="en-US" sz="1200" dirty="0"/>
          </a:p>
          <a:p>
            <a:pPr marL="0" indent="0">
              <a:buNone/>
            </a:pPr>
            <a:r>
              <a:rPr lang="en-US" sz="1200" dirty="0">
                <a:solidFill>
                  <a:srgbClr val="D1FAE5"/>
                </a:solidFill>
                <a:latin typeface="Consolas" pitchFamily="34" charset="0"/>
                <a:ea typeface="Consolas" pitchFamily="34" charset="-122"/>
                <a:cs typeface="Consolas" pitchFamily="34" charset="-120"/>
              </a:rPr>
              <a:t>spring.mongodb.uri=mongodb://localhost:27017</a:t>
            </a:r>
            <a:endParaRPr lang="en-US" sz="1200" dirty="0"/>
          </a:p>
        </p:txBody>
      </p:sp>
      <p:sp>
        <p:nvSpPr>
          <p:cNvPr id="7" name="Shape 5"/>
          <p:cNvSpPr/>
          <p:nvPr/>
        </p:nvSpPr>
        <p:spPr>
          <a:xfrm>
            <a:off x="6263640" y="1719072"/>
            <a:ext cx="5257800" cy="3474720"/>
          </a:xfrm>
          <a:prstGeom prst="roundRect">
            <a:avLst>
              <a:gd name="adj" fmla="val 1579"/>
            </a:avLst>
          </a:prstGeom>
          <a:solidFill>
            <a:srgbClr val="0B1220"/>
          </a:solidFill>
          <a:ln w="12700">
            <a:solidFill>
              <a:srgbClr val="1E293B"/>
            </a:solidFill>
            <a:prstDash val="solid"/>
          </a:ln>
        </p:spPr>
        <p:txBody>
          <a:bodyPr/>
          <a:lstStyle/>
          <a:p>
            <a:endParaRPr lang="en-US"/>
          </a:p>
        </p:txBody>
      </p:sp>
      <p:sp>
        <p:nvSpPr>
          <p:cNvPr id="8" name="Text 6"/>
          <p:cNvSpPr/>
          <p:nvPr/>
        </p:nvSpPr>
        <p:spPr>
          <a:xfrm>
            <a:off x="6428232" y="1847088"/>
            <a:ext cx="4928616" cy="3255264"/>
          </a:xfrm>
          <a:prstGeom prst="rect">
            <a:avLst/>
          </a:prstGeom>
          <a:noFill/>
          <a:ln/>
        </p:spPr>
        <p:txBody>
          <a:bodyPr wrap="square" lIns="0" tIns="0" rIns="0" bIns="0" rtlCol="0" anchor="t">
            <a:normAutofit/>
          </a:bodyPr>
          <a:lstStyle/>
          <a:p>
            <a:pPr marL="0" indent="0">
              <a:buNone/>
            </a:pPr>
            <a:r>
              <a:rPr lang="en-US" sz="1200" dirty="0">
                <a:solidFill>
                  <a:srgbClr val="D1FAE5"/>
                </a:solidFill>
                <a:latin typeface="Consolas" pitchFamily="34" charset="0"/>
                <a:ea typeface="Consolas" pitchFamily="34" charset="-122"/>
                <a:cs typeface="Consolas" pitchFamily="34" charset="-120"/>
              </a:rPr>
              <a:t># architecture contract, verified every run</a:t>
            </a:r>
            <a:endParaRPr lang="en-US" sz="1200" dirty="0"/>
          </a:p>
          <a:p>
            <a:pPr marL="0" indent="0">
              <a:buNone/>
            </a:pPr>
            <a:r>
              <a:rPr lang="en-US" sz="1200" dirty="0">
                <a:solidFill>
                  <a:srgbClr val="D1FAE5"/>
                </a:solidFill>
                <a:latin typeface="Consolas" pitchFamily="34" charset="0"/>
                <a:ea typeface="Consolas" pitchFamily="34" charset="-122"/>
                <a:cs typeface="Consolas" pitchFamily="34" charset="-120"/>
              </a:rPr>
              <a:t>grep -q '"@ui5/webcomponents"' package.json</a:t>
            </a:r>
            <a:endParaRPr lang="en-US" sz="1200" dirty="0"/>
          </a:p>
          <a:p>
            <a:pPr marL="0" indent="0">
              <a:buNone/>
            </a:pPr>
            <a:r>
              <a:rPr lang="en-US" sz="1200" dirty="0">
                <a:solidFill>
                  <a:srgbClr val="D1FAE5"/>
                </a:solidFill>
                <a:latin typeface="Consolas" pitchFamily="34" charset="0"/>
                <a:ea typeface="Consolas" pitchFamily="34" charset="-122"/>
                <a:cs typeface="Consolas" pitchFamily="34" charset="-120"/>
              </a:rPr>
              <a:t>! grep -q '"react"' package.json</a:t>
            </a:r>
            <a:endParaRPr lang="en-US" sz="1200" dirty="0"/>
          </a:p>
          <a:p>
            <a:pPr marL="0" indent="0">
              <a:buNone/>
            </a:pPr>
            <a:endParaRPr lang="en-US" sz="1200" dirty="0"/>
          </a:p>
          <a:p>
            <a:pPr marL="0" indent="0">
              <a:buNone/>
            </a:pPr>
            <a:r>
              <a:rPr lang="en-US" sz="1200" dirty="0">
                <a:solidFill>
                  <a:srgbClr val="D1FAE5"/>
                </a:solidFill>
                <a:latin typeface="Consolas" pitchFamily="34" charset="0"/>
                <a:ea typeface="Consolas" pitchFamily="34" charset="-122"/>
                <a:cs typeface="Consolas" pitchFamily="34" charset="-120"/>
              </a:rPr>
              <a:t>mvn -q dependency:tree \</a:t>
            </a:r>
            <a:endParaRPr lang="en-US" sz="1200" dirty="0"/>
          </a:p>
          <a:p>
            <a:pPr marL="0" indent="0">
              <a:buNone/>
            </a:pPr>
            <a:r>
              <a:rPr lang="en-US" sz="1200" dirty="0">
                <a:solidFill>
                  <a:srgbClr val="D1FAE5"/>
                </a:solidFill>
                <a:latin typeface="Consolas" pitchFamily="34" charset="0"/>
                <a:ea typeface="Consolas" pitchFamily="34" charset="-122"/>
                <a:cs typeface="Consolas" pitchFamily="34" charset="-120"/>
              </a:rPr>
              <a:t>  | grep -q 'spring-boot:jar:4'</a:t>
            </a:r>
            <a:endParaRPr lang="en-US" sz="1200" dirty="0"/>
          </a:p>
          <a:p>
            <a:pPr marL="0" indent="0">
              <a:buNone/>
            </a:pPr>
            <a:endParaRPr lang="en-US" sz="1200" dirty="0"/>
          </a:p>
          <a:p>
            <a:pPr marL="0" indent="0">
              <a:buNone/>
            </a:pPr>
            <a:r>
              <a:rPr lang="en-US" sz="1200" dirty="0">
                <a:solidFill>
                  <a:srgbClr val="D1FAE5"/>
                </a:solidFill>
                <a:latin typeface="Consolas" pitchFamily="34" charset="0"/>
                <a:ea typeface="Consolas" pitchFamily="34" charset="-122"/>
                <a:cs typeface="Consolas" pitchFamily="34" charset="-120"/>
              </a:rPr>
              <a:t># the agent cannot argue with a red build</a:t>
            </a:r>
            <a:endParaRPr lang="en-US" sz="1200" dirty="0"/>
          </a:p>
        </p:txBody>
      </p:sp>
      <p:sp>
        <p:nvSpPr>
          <p:cNvPr id="9" name="Shape 7"/>
          <p:cNvSpPr/>
          <p:nvPr/>
        </p:nvSpPr>
        <p:spPr>
          <a:xfrm>
            <a:off x="777240" y="5413248"/>
            <a:ext cx="2377440" cy="310896"/>
          </a:xfrm>
          <a:prstGeom prst="roundRect">
            <a:avLst>
              <a:gd name="adj" fmla="val 44118"/>
            </a:avLst>
          </a:prstGeom>
          <a:solidFill>
            <a:srgbClr val="CCFBF1"/>
          </a:solidFill>
          <a:ln w="12700">
            <a:solidFill>
              <a:srgbClr val="CCFBF1"/>
            </a:solidFill>
            <a:prstDash val="solid"/>
          </a:ln>
        </p:spPr>
        <p:txBody>
          <a:bodyPr/>
          <a:lstStyle/>
          <a:p>
            <a:endParaRPr lang="en-US"/>
          </a:p>
        </p:txBody>
      </p:sp>
      <p:sp>
        <p:nvSpPr>
          <p:cNvPr id="10" name="Text 8"/>
          <p:cNvSpPr/>
          <p:nvPr/>
        </p:nvSpPr>
        <p:spPr>
          <a:xfrm>
            <a:off x="777240" y="5431536"/>
            <a:ext cx="2377440" cy="182880"/>
          </a:xfrm>
          <a:prstGeom prst="rect">
            <a:avLst/>
          </a:prstGeom>
          <a:noFill/>
          <a:ln/>
        </p:spPr>
        <p:txBody>
          <a:bodyPr wrap="square" lIns="0" tIns="0" rIns="0" bIns="0" rtlCol="0" anchor="ctr">
            <a:normAutofit/>
          </a:bodyPr>
          <a:lstStyle/>
          <a:p>
            <a:pPr marL="0" indent="0" algn="ctr">
              <a:buNone/>
            </a:pPr>
            <a:r>
              <a:rPr lang="en-US" sz="900" b="1" dirty="0">
                <a:solidFill>
                  <a:srgbClr val="0F766E"/>
                </a:solidFill>
                <a:latin typeface="Aptos" pitchFamily="34" charset="0"/>
                <a:ea typeface="Aptos" pitchFamily="34" charset="-122"/>
                <a:cs typeface="Aptos" pitchFamily="34" charset="-120"/>
              </a:rPr>
              <a:t>PIN THE VERSION</a:t>
            </a:r>
            <a:endParaRPr lang="en-US" sz="900" dirty="0"/>
          </a:p>
        </p:txBody>
      </p:sp>
      <p:sp>
        <p:nvSpPr>
          <p:cNvPr id="11" name="Shape 9"/>
          <p:cNvSpPr/>
          <p:nvPr/>
        </p:nvSpPr>
        <p:spPr>
          <a:xfrm>
            <a:off x="3337560" y="5413248"/>
            <a:ext cx="2743200" cy="310896"/>
          </a:xfrm>
          <a:prstGeom prst="roundRect">
            <a:avLst>
              <a:gd name="adj" fmla="val 44118"/>
            </a:avLst>
          </a:prstGeom>
          <a:solidFill>
            <a:srgbClr val="CCFBF1"/>
          </a:solidFill>
          <a:ln w="12700">
            <a:solidFill>
              <a:srgbClr val="CCFBF1"/>
            </a:solidFill>
            <a:prstDash val="solid"/>
          </a:ln>
        </p:spPr>
        <p:txBody>
          <a:bodyPr/>
          <a:lstStyle/>
          <a:p>
            <a:endParaRPr lang="en-US"/>
          </a:p>
        </p:txBody>
      </p:sp>
      <p:sp>
        <p:nvSpPr>
          <p:cNvPr id="12" name="Text 10"/>
          <p:cNvSpPr/>
          <p:nvPr/>
        </p:nvSpPr>
        <p:spPr>
          <a:xfrm>
            <a:off x="3337560" y="5431536"/>
            <a:ext cx="2743200" cy="182880"/>
          </a:xfrm>
          <a:prstGeom prst="rect">
            <a:avLst/>
          </a:prstGeom>
          <a:noFill/>
          <a:ln/>
        </p:spPr>
        <p:txBody>
          <a:bodyPr wrap="square" lIns="0" tIns="0" rIns="0" bIns="0" rtlCol="0" anchor="ctr">
            <a:normAutofit/>
          </a:bodyPr>
          <a:lstStyle/>
          <a:p>
            <a:pPr marL="0" indent="0" algn="ctr">
              <a:buNone/>
            </a:pPr>
            <a:r>
              <a:rPr lang="en-US" sz="900" b="1" dirty="0">
                <a:solidFill>
                  <a:srgbClr val="0F766E"/>
                </a:solidFill>
                <a:latin typeface="Aptos" pitchFamily="34" charset="0"/>
                <a:ea typeface="Aptos" pitchFamily="34" charset="-122"/>
                <a:cs typeface="Aptos" pitchFamily="34" charset="-120"/>
              </a:rPr>
              <a:t>NAME THE EXACT LIBRARY</a:t>
            </a:r>
            <a:endParaRPr lang="en-US" sz="900" dirty="0"/>
          </a:p>
        </p:txBody>
      </p:sp>
      <p:sp>
        <p:nvSpPr>
          <p:cNvPr id="13" name="Shape 11"/>
          <p:cNvSpPr/>
          <p:nvPr/>
        </p:nvSpPr>
        <p:spPr>
          <a:xfrm>
            <a:off x="6263640" y="5413248"/>
            <a:ext cx="2377440" cy="310896"/>
          </a:xfrm>
          <a:prstGeom prst="roundRect">
            <a:avLst>
              <a:gd name="adj" fmla="val 44118"/>
            </a:avLst>
          </a:prstGeom>
          <a:solidFill>
            <a:srgbClr val="FEE2E2"/>
          </a:solidFill>
          <a:ln w="12700">
            <a:solidFill>
              <a:srgbClr val="FEE2E2"/>
            </a:solidFill>
            <a:prstDash val="solid"/>
          </a:ln>
        </p:spPr>
        <p:txBody>
          <a:bodyPr/>
          <a:lstStyle/>
          <a:p>
            <a:endParaRPr lang="en-US"/>
          </a:p>
        </p:txBody>
      </p:sp>
      <p:sp>
        <p:nvSpPr>
          <p:cNvPr id="14" name="Text 12"/>
          <p:cNvSpPr/>
          <p:nvPr/>
        </p:nvSpPr>
        <p:spPr>
          <a:xfrm>
            <a:off x="6263640" y="5431536"/>
            <a:ext cx="2377440" cy="182880"/>
          </a:xfrm>
          <a:prstGeom prst="rect">
            <a:avLst/>
          </a:prstGeom>
          <a:noFill/>
          <a:ln/>
        </p:spPr>
        <p:txBody>
          <a:bodyPr wrap="square" lIns="0" tIns="0" rIns="0" bIns="0" rtlCol="0" anchor="ctr">
            <a:normAutofit/>
          </a:bodyPr>
          <a:lstStyle/>
          <a:p>
            <a:pPr marL="0" indent="0" algn="ctr">
              <a:buNone/>
            </a:pPr>
            <a:r>
              <a:rPr lang="en-US" sz="900" b="1" dirty="0">
                <a:solidFill>
                  <a:srgbClr val="B91C1C"/>
                </a:solidFill>
                <a:latin typeface="Aptos" pitchFamily="34" charset="0"/>
                <a:ea typeface="Aptos" pitchFamily="34" charset="-122"/>
                <a:cs typeface="Aptos" pitchFamily="34" charset="-120"/>
              </a:rPr>
              <a:t>FORBID THE DEFAULT</a:t>
            </a:r>
            <a:endParaRPr lang="en-US" sz="900" dirty="0"/>
          </a:p>
        </p:txBody>
      </p:sp>
      <p:sp>
        <p:nvSpPr>
          <p:cNvPr id="15" name="Shape 13"/>
          <p:cNvSpPr/>
          <p:nvPr/>
        </p:nvSpPr>
        <p:spPr>
          <a:xfrm>
            <a:off x="8823960" y="5413248"/>
            <a:ext cx="2103120" cy="310896"/>
          </a:xfrm>
          <a:prstGeom prst="roundRect">
            <a:avLst>
              <a:gd name="adj" fmla="val 44118"/>
            </a:avLst>
          </a:prstGeom>
          <a:solidFill>
            <a:srgbClr val="EDE9FE"/>
          </a:solidFill>
          <a:ln w="12700">
            <a:solidFill>
              <a:srgbClr val="EDE9FE"/>
            </a:solidFill>
            <a:prstDash val="solid"/>
          </a:ln>
        </p:spPr>
        <p:txBody>
          <a:bodyPr/>
          <a:lstStyle/>
          <a:p>
            <a:endParaRPr lang="en-US"/>
          </a:p>
        </p:txBody>
      </p:sp>
      <p:sp>
        <p:nvSpPr>
          <p:cNvPr id="16" name="Text 14"/>
          <p:cNvSpPr/>
          <p:nvPr/>
        </p:nvSpPr>
        <p:spPr>
          <a:xfrm>
            <a:off x="8823960" y="5431536"/>
            <a:ext cx="2103120" cy="182880"/>
          </a:xfrm>
          <a:prstGeom prst="rect">
            <a:avLst/>
          </a:prstGeom>
          <a:noFill/>
          <a:ln/>
        </p:spPr>
        <p:txBody>
          <a:bodyPr wrap="square" lIns="0" tIns="0" rIns="0" bIns="0" rtlCol="0" anchor="ctr">
            <a:normAutofit/>
          </a:bodyPr>
          <a:lstStyle/>
          <a:p>
            <a:pPr marL="0" indent="0" algn="ctr">
              <a:buNone/>
            </a:pPr>
            <a:r>
              <a:rPr lang="en-US" sz="900" b="1" dirty="0">
                <a:solidFill>
                  <a:srgbClr val="6D28D9"/>
                </a:solidFill>
                <a:latin typeface="Aptos" pitchFamily="34" charset="0"/>
                <a:ea typeface="Aptos" pitchFamily="34" charset="-122"/>
                <a:cs typeface="Aptos" pitchFamily="34" charset="-120"/>
              </a:rPr>
              <a:t>FAIL THE BUILD</a:t>
            </a:r>
            <a:endParaRPr lang="en-US" sz="900" dirty="0"/>
          </a:p>
        </p:txBody>
      </p:sp>
      <p:sp>
        <p:nvSpPr>
          <p:cNvPr id="17" name="Text 15"/>
          <p:cNvSpPr/>
          <p:nvPr/>
        </p:nvSpPr>
        <p:spPr>
          <a:xfrm>
            <a:off x="731520" y="5943600"/>
            <a:ext cx="10698480" cy="320040"/>
          </a:xfrm>
          <a:prstGeom prst="rect">
            <a:avLst/>
          </a:prstGeom>
          <a:noFill/>
          <a:ln/>
        </p:spPr>
        <p:txBody>
          <a:bodyPr wrap="square" lIns="0" tIns="0" rIns="0" bIns="0" rtlCol="0" anchor="ctr">
            <a:normAutofit/>
          </a:bodyPr>
          <a:lstStyle/>
          <a:p>
            <a:pPr marL="0" indent="0" algn="ctr">
              <a:buNone/>
            </a:pPr>
            <a:r>
              <a:rPr lang="en-US" sz="1500" b="1" dirty="0">
                <a:solidFill>
                  <a:srgbClr val="334155"/>
                </a:solidFill>
                <a:latin typeface="Aptos" pitchFamily="34" charset="0"/>
                <a:ea typeface="Aptos" pitchFamily="34" charset="-122"/>
                <a:cs typeface="Aptos" pitchFamily="34" charset="-120"/>
              </a:rPr>
              <a:t>Everything the model must not guess should exist as a version, a test, a lint rule, or a schema.</a:t>
            </a:r>
            <a:endParaRPr lang="en-US" sz="15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marL="0" indent="0">
              <a:buNone/>
            </a:pPr>
            <a:r>
              <a:rPr lang="en-US" sz="900" b="1" kern="0" spc="110" dirty="0">
                <a:solidFill>
                  <a:srgbClr val="0F766E"/>
                </a:solidFill>
                <a:latin typeface="Aptos" pitchFamily="34" charset="0"/>
                <a:ea typeface="Aptos" pitchFamily="34" charset="-122"/>
                <a:cs typeface="Aptos" pitchFamily="34" charset="-120"/>
              </a:rPr>
              <a:t>GROUNDING IS AN INTERFACE CONTRACT</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marL="0" indent="0">
              <a:buNone/>
            </a:pPr>
            <a:r>
              <a:rPr lang="en-US" sz="2700" b="1" dirty="0">
                <a:solidFill>
                  <a:srgbClr val="0F172A"/>
                </a:solidFill>
                <a:latin typeface="Aptos" pitchFamily="34" charset="0"/>
                <a:ea typeface="Aptos" pitchFamily="34" charset="-122"/>
                <a:cs typeface="Aptos" pitchFamily="34" charset="-120"/>
              </a:rPr>
              <a:t>The same discipline applied to the model at runtime</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marL="0" indent="0">
              <a:buNone/>
            </a:pPr>
            <a:r>
              <a:rPr lang="en-US" sz="1200" dirty="0">
                <a:solidFill>
                  <a:srgbClr val="64748B"/>
                </a:solidFill>
                <a:latin typeface="Aptos" pitchFamily="34" charset="0"/>
                <a:ea typeface="Aptos" pitchFamily="34" charset="-122"/>
                <a:cs typeface="Aptos" pitchFamily="34" charset="-120"/>
              </a:rPr>
              <a:t>Define the allowed evidence, the abstention rule, and the citation shape explicitly.</a:t>
            </a:r>
            <a:endParaRPr lang="en-US" sz="1200" dirty="0"/>
          </a:p>
        </p:txBody>
      </p:sp>
      <p:sp>
        <p:nvSpPr>
          <p:cNvPr id="5" name="Shape 3"/>
          <p:cNvSpPr/>
          <p:nvPr/>
        </p:nvSpPr>
        <p:spPr>
          <a:xfrm>
            <a:off x="685800" y="1737360"/>
            <a:ext cx="5349240" cy="3429000"/>
          </a:xfrm>
          <a:prstGeom prst="roundRect">
            <a:avLst>
              <a:gd name="adj" fmla="val 1600"/>
            </a:avLst>
          </a:prstGeom>
          <a:solidFill>
            <a:srgbClr val="0B1220"/>
          </a:solidFill>
          <a:ln w="12700">
            <a:solidFill>
              <a:srgbClr val="1E293B"/>
            </a:solidFill>
            <a:prstDash val="solid"/>
          </a:ln>
        </p:spPr>
        <p:txBody>
          <a:bodyPr/>
          <a:lstStyle/>
          <a:p>
            <a:endParaRPr lang="en-US"/>
          </a:p>
        </p:txBody>
      </p:sp>
      <p:sp>
        <p:nvSpPr>
          <p:cNvPr id="6" name="Text 4"/>
          <p:cNvSpPr/>
          <p:nvPr/>
        </p:nvSpPr>
        <p:spPr>
          <a:xfrm>
            <a:off x="850392" y="1865376"/>
            <a:ext cx="5020056" cy="3209544"/>
          </a:xfrm>
          <a:prstGeom prst="rect">
            <a:avLst/>
          </a:prstGeom>
          <a:noFill/>
          <a:ln/>
        </p:spPr>
        <p:txBody>
          <a:bodyPr wrap="square" lIns="0" tIns="0" rIns="0" bIns="0" rtlCol="0" anchor="t">
            <a:normAutofit/>
          </a:bodyPr>
          <a:lstStyle/>
          <a:p>
            <a:pPr marL="0" indent="0">
              <a:buNone/>
            </a:pPr>
            <a:r>
              <a:rPr lang="en-US" sz="1300" dirty="0">
                <a:solidFill>
                  <a:srgbClr val="D1FAE5"/>
                </a:solidFill>
                <a:latin typeface="Consolas" pitchFamily="34" charset="0"/>
                <a:ea typeface="Consolas" pitchFamily="34" charset="-122"/>
                <a:cs typeface="Consolas" pitchFamily="34" charset="-120"/>
              </a:rPr>
              <a:t>String systemPrompt = """</a:t>
            </a:r>
            <a:endParaRPr lang="en-US" sz="1300" dirty="0"/>
          </a:p>
          <a:p>
            <a:pPr marL="0" indent="0">
              <a:buNone/>
            </a:pPr>
            <a:r>
              <a:rPr lang="en-US" sz="1300" dirty="0">
                <a:solidFill>
                  <a:srgbClr val="D1FAE5"/>
                </a:solidFill>
                <a:latin typeface="Consolas" pitchFamily="34" charset="0"/>
                <a:ea typeface="Consolas" pitchFamily="34" charset="-122"/>
                <a:cs typeface="Consolas" pitchFamily="34" charset="-120"/>
              </a:rPr>
              <a:t>  Answer using ONLY the retrieved context below.</a:t>
            </a:r>
            <a:endParaRPr lang="en-US" sz="1300" dirty="0"/>
          </a:p>
          <a:p>
            <a:pPr marL="0" indent="0">
              <a:buNone/>
            </a:pPr>
            <a:r>
              <a:rPr lang="en-US" sz="1300" dirty="0">
                <a:solidFill>
                  <a:srgbClr val="D1FAE5"/>
                </a:solidFill>
                <a:latin typeface="Consolas" pitchFamily="34" charset="0"/>
                <a:ea typeface="Consolas" pitchFamily="34" charset="-122"/>
                <a:cs typeface="Consolas" pitchFamily="34" charset="-120"/>
              </a:rPr>
              <a:t>  If the context does not contain the answer,</a:t>
            </a:r>
            <a:endParaRPr lang="en-US" sz="1300" dirty="0"/>
          </a:p>
          <a:p>
            <a:pPr marL="0" indent="0">
              <a:buNone/>
            </a:pPr>
            <a:r>
              <a:rPr lang="en-US" sz="1300" dirty="0">
                <a:solidFill>
                  <a:srgbClr val="D1FAE5"/>
                </a:solidFill>
                <a:latin typeface="Consolas" pitchFamily="34" charset="0"/>
                <a:ea typeface="Consolas" pitchFamily="34" charset="-122"/>
                <a:cs typeface="Consolas" pitchFamily="34" charset="-120"/>
              </a:rPr>
              <a:t>  say that the document does not provide it.</a:t>
            </a:r>
            <a:endParaRPr lang="en-US" sz="1300" dirty="0"/>
          </a:p>
          <a:p>
            <a:pPr marL="0" indent="0">
              <a:buNone/>
            </a:pPr>
            <a:r>
              <a:rPr lang="en-US" sz="1300" dirty="0">
                <a:solidFill>
                  <a:srgbClr val="D1FAE5"/>
                </a:solidFill>
                <a:latin typeface="Consolas" pitchFamily="34" charset="0"/>
                <a:ea typeface="Consolas" pitchFamily="34" charset="-122"/>
                <a:cs typeface="Consolas" pitchFamily="34" charset="-120"/>
              </a:rPr>
              <a:t>  Cite the supporting excerpts.</a:t>
            </a:r>
            <a:endParaRPr lang="en-US" sz="1300" dirty="0"/>
          </a:p>
          <a:p>
            <a:pPr marL="0" indent="0">
              <a:buNone/>
            </a:pPr>
            <a:endParaRPr lang="en-US" sz="1300" dirty="0"/>
          </a:p>
          <a:p>
            <a:pPr marL="0" indent="0">
              <a:buNone/>
            </a:pPr>
            <a:r>
              <a:rPr lang="en-US" sz="1300" dirty="0">
                <a:solidFill>
                  <a:srgbClr val="D1FAE5"/>
                </a:solidFill>
                <a:latin typeface="Consolas" pitchFamily="34" charset="0"/>
                <a:ea typeface="Consolas" pitchFamily="34" charset="-122"/>
                <a:cs typeface="Consolas" pitchFamily="34" charset="-120"/>
              </a:rPr>
              <a:t>  Retrieved context:</a:t>
            </a:r>
            <a:endParaRPr lang="en-US" sz="1300" dirty="0"/>
          </a:p>
          <a:p>
            <a:pPr marL="0" indent="0">
              <a:buNone/>
            </a:pPr>
            <a:r>
              <a:rPr lang="en-US" sz="1300" dirty="0">
                <a:solidFill>
                  <a:srgbClr val="D1FAE5"/>
                </a:solidFill>
                <a:latin typeface="Consolas" pitchFamily="34" charset="0"/>
                <a:ea typeface="Consolas" pitchFamily="34" charset="-122"/>
                <a:cs typeface="Consolas" pitchFamily="34" charset="-120"/>
              </a:rPr>
              <a:t>  %s</a:t>
            </a:r>
            <a:endParaRPr lang="en-US" sz="1300" dirty="0"/>
          </a:p>
          <a:p>
            <a:pPr marL="0" indent="0">
              <a:buNone/>
            </a:pPr>
            <a:r>
              <a:rPr lang="en-US" sz="1300" dirty="0">
                <a:solidFill>
                  <a:srgbClr val="D1FAE5"/>
                </a:solidFill>
                <a:latin typeface="Consolas" pitchFamily="34" charset="0"/>
                <a:ea typeface="Consolas" pitchFamily="34" charset="-122"/>
                <a:cs typeface="Consolas" pitchFamily="34" charset="-120"/>
              </a:rPr>
              <a:t>  """;</a:t>
            </a:r>
            <a:endParaRPr lang="en-US" sz="1300" dirty="0"/>
          </a:p>
        </p:txBody>
      </p:sp>
      <p:sp>
        <p:nvSpPr>
          <p:cNvPr id="7" name="Shape 5"/>
          <p:cNvSpPr/>
          <p:nvPr/>
        </p:nvSpPr>
        <p:spPr>
          <a:xfrm>
            <a:off x="6263640" y="1737360"/>
            <a:ext cx="5257800" cy="3429000"/>
          </a:xfrm>
          <a:prstGeom prst="roundRect">
            <a:avLst>
              <a:gd name="adj" fmla="val 1600"/>
            </a:avLst>
          </a:prstGeom>
          <a:solidFill>
            <a:srgbClr val="0B1220"/>
          </a:solidFill>
          <a:ln w="12700">
            <a:solidFill>
              <a:srgbClr val="1E293B"/>
            </a:solidFill>
            <a:prstDash val="solid"/>
          </a:ln>
        </p:spPr>
        <p:txBody>
          <a:bodyPr/>
          <a:lstStyle/>
          <a:p>
            <a:endParaRPr lang="en-US"/>
          </a:p>
        </p:txBody>
      </p:sp>
      <p:sp>
        <p:nvSpPr>
          <p:cNvPr id="8" name="Text 6"/>
          <p:cNvSpPr/>
          <p:nvPr/>
        </p:nvSpPr>
        <p:spPr>
          <a:xfrm>
            <a:off x="6428232" y="1865376"/>
            <a:ext cx="4928616" cy="3209544"/>
          </a:xfrm>
          <a:prstGeom prst="rect">
            <a:avLst/>
          </a:prstGeom>
          <a:noFill/>
          <a:ln/>
        </p:spPr>
        <p:txBody>
          <a:bodyPr wrap="square" lIns="0" tIns="0" rIns="0" bIns="0" rtlCol="0" anchor="t">
            <a:normAutofit/>
          </a:bodyPr>
          <a:lstStyle/>
          <a:p>
            <a:pPr marL="0" indent="0">
              <a:buNone/>
            </a:pPr>
            <a:r>
              <a:rPr lang="en-US" sz="1300" dirty="0">
                <a:solidFill>
                  <a:srgbClr val="D1FAE5"/>
                </a:solidFill>
                <a:latin typeface="Consolas" pitchFamily="34" charset="0"/>
                <a:ea typeface="Consolas" pitchFamily="34" charset="-122"/>
                <a:cs typeface="Consolas" pitchFamily="34" charset="-120"/>
              </a:rPr>
              <a:t>const context = results</a:t>
            </a:r>
            <a:endParaRPr lang="en-US" sz="1300" dirty="0"/>
          </a:p>
          <a:p>
            <a:pPr marL="0" indent="0">
              <a:buNone/>
            </a:pPr>
            <a:r>
              <a:rPr lang="en-US" sz="1300" dirty="0">
                <a:solidFill>
                  <a:srgbClr val="D1FAE5"/>
                </a:solidFill>
                <a:latin typeface="Consolas" pitchFamily="34" charset="0"/>
                <a:ea typeface="Consolas" pitchFamily="34" charset="-122"/>
                <a:cs typeface="Consolas" pitchFamily="34" charset="-120"/>
              </a:rPr>
              <a:t>  .map((chunk, i) =&gt; `[Excerpt ${i + 1}] ${chunk.text}`)</a:t>
            </a:r>
            <a:endParaRPr lang="en-US" sz="1300" dirty="0"/>
          </a:p>
          <a:p>
            <a:pPr marL="0" indent="0">
              <a:buNone/>
            </a:pPr>
            <a:r>
              <a:rPr lang="en-US" sz="1300" dirty="0">
                <a:solidFill>
                  <a:srgbClr val="D1FAE5"/>
                </a:solidFill>
                <a:latin typeface="Consolas" pitchFamily="34" charset="0"/>
                <a:ea typeface="Consolas" pitchFamily="34" charset="-122"/>
                <a:cs typeface="Consolas" pitchFamily="34" charset="-120"/>
              </a:rPr>
              <a:t>  .join(String.fromCharCode(10));</a:t>
            </a:r>
            <a:endParaRPr lang="en-US" sz="1300" dirty="0"/>
          </a:p>
          <a:p>
            <a:pPr marL="0" indent="0">
              <a:buNone/>
            </a:pPr>
            <a:endParaRPr lang="en-US" sz="1300" dirty="0"/>
          </a:p>
          <a:p>
            <a:pPr marL="0" indent="0">
              <a:buNone/>
            </a:pPr>
            <a:r>
              <a:rPr lang="en-US" sz="1300" dirty="0">
                <a:solidFill>
                  <a:srgbClr val="D1FAE5"/>
                </a:solidFill>
                <a:latin typeface="Consolas" pitchFamily="34" charset="0"/>
                <a:ea typeface="Consolas" pitchFamily="34" charset="-122"/>
                <a:cs typeface="Consolas" pitchFamily="34" charset="-120"/>
              </a:rPr>
              <a:t>const answer = await chatClient</a:t>
            </a:r>
            <a:endParaRPr lang="en-US" sz="1300" dirty="0"/>
          </a:p>
          <a:p>
            <a:pPr marL="0" indent="0">
              <a:buNone/>
            </a:pPr>
            <a:r>
              <a:rPr lang="en-US" sz="1300" dirty="0">
                <a:solidFill>
                  <a:srgbClr val="D1FAE5"/>
                </a:solidFill>
                <a:latin typeface="Consolas" pitchFamily="34" charset="0"/>
                <a:ea typeface="Consolas" pitchFamily="34" charset="-122"/>
                <a:cs typeface="Consolas" pitchFamily="34" charset="-120"/>
              </a:rPr>
              <a:t>  .prompt()</a:t>
            </a:r>
            <a:endParaRPr lang="en-US" sz="1300" dirty="0"/>
          </a:p>
          <a:p>
            <a:pPr marL="0" indent="0">
              <a:buNone/>
            </a:pPr>
            <a:r>
              <a:rPr lang="en-US" sz="1300" dirty="0">
                <a:solidFill>
                  <a:srgbClr val="D1FAE5"/>
                </a:solidFill>
                <a:latin typeface="Consolas" pitchFamily="34" charset="0"/>
                <a:ea typeface="Consolas" pitchFamily="34" charset="-122"/>
                <a:cs typeface="Consolas" pitchFamily="34" charset="-120"/>
              </a:rPr>
              <a:t>  .system(systemPrompt.formatted(context))</a:t>
            </a:r>
            <a:endParaRPr lang="en-US" sz="1300" dirty="0"/>
          </a:p>
          <a:p>
            <a:pPr marL="0" indent="0">
              <a:buNone/>
            </a:pPr>
            <a:r>
              <a:rPr lang="en-US" sz="1300" dirty="0">
                <a:solidFill>
                  <a:srgbClr val="D1FAE5"/>
                </a:solidFill>
                <a:latin typeface="Consolas" pitchFamily="34" charset="0"/>
                <a:ea typeface="Consolas" pitchFamily="34" charset="-122"/>
                <a:cs typeface="Consolas" pitchFamily="34" charset="-120"/>
              </a:rPr>
              <a:t>  .user(question)</a:t>
            </a:r>
            <a:endParaRPr lang="en-US" sz="1300" dirty="0"/>
          </a:p>
          <a:p>
            <a:pPr marL="0" indent="0">
              <a:buNone/>
            </a:pPr>
            <a:r>
              <a:rPr lang="en-US" sz="1300" dirty="0">
                <a:solidFill>
                  <a:srgbClr val="D1FAE5"/>
                </a:solidFill>
                <a:latin typeface="Consolas" pitchFamily="34" charset="0"/>
                <a:ea typeface="Consolas" pitchFamily="34" charset="-122"/>
                <a:cs typeface="Consolas" pitchFamily="34" charset="-120"/>
              </a:rPr>
              <a:t>  .call();</a:t>
            </a:r>
            <a:endParaRPr lang="en-US" sz="1300" dirty="0"/>
          </a:p>
        </p:txBody>
      </p:sp>
      <p:sp>
        <p:nvSpPr>
          <p:cNvPr id="9" name="Shape 7"/>
          <p:cNvSpPr/>
          <p:nvPr/>
        </p:nvSpPr>
        <p:spPr>
          <a:xfrm>
            <a:off x="777240" y="5440680"/>
            <a:ext cx="2971800" cy="310896"/>
          </a:xfrm>
          <a:prstGeom prst="roundRect">
            <a:avLst>
              <a:gd name="adj" fmla="val 44118"/>
            </a:avLst>
          </a:prstGeom>
          <a:solidFill>
            <a:srgbClr val="CCFBF1"/>
          </a:solidFill>
          <a:ln w="12700">
            <a:solidFill>
              <a:srgbClr val="CCFBF1"/>
            </a:solidFill>
            <a:prstDash val="solid"/>
          </a:ln>
        </p:spPr>
        <p:txBody>
          <a:bodyPr/>
          <a:lstStyle/>
          <a:p>
            <a:endParaRPr lang="en-US"/>
          </a:p>
        </p:txBody>
      </p:sp>
      <p:sp>
        <p:nvSpPr>
          <p:cNvPr id="10" name="Text 8"/>
          <p:cNvSpPr/>
          <p:nvPr/>
        </p:nvSpPr>
        <p:spPr>
          <a:xfrm>
            <a:off x="777240" y="5458968"/>
            <a:ext cx="2971800" cy="182880"/>
          </a:xfrm>
          <a:prstGeom prst="rect">
            <a:avLst/>
          </a:prstGeom>
          <a:noFill/>
          <a:ln/>
        </p:spPr>
        <p:txBody>
          <a:bodyPr wrap="square" lIns="0" tIns="0" rIns="0" bIns="0" rtlCol="0" anchor="ctr">
            <a:normAutofit/>
          </a:bodyPr>
          <a:lstStyle/>
          <a:p>
            <a:pPr marL="0" indent="0" algn="ctr">
              <a:buNone/>
            </a:pPr>
            <a:r>
              <a:rPr lang="en-US" sz="900" b="1" dirty="0">
                <a:solidFill>
                  <a:srgbClr val="0F766E"/>
                </a:solidFill>
                <a:latin typeface="Aptos" pitchFamily="34" charset="0"/>
                <a:ea typeface="Aptos" pitchFamily="34" charset="-122"/>
                <a:cs typeface="Aptos" pitchFamily="34" charset="-120"/>
              </a:rPr>
              <a:t>GOOD: evidence boundary + abstention path</a:t>
            </a:r>
            <a:endParaRPr lang="en-US" sz="900" dirty="0"/>
          </a:p>
        </p:txBody>
      </p:sp>
      <p:sp>
        <p:nvSpPr>
          <p:cNvPr id="11" name="Shape 9"/>
          <p:cNvSpPr/>
          <p:nvPr/>
        </p:nvSpPr>
        <p:spPr>
          <a:xfrm>
            <a:off x="3977640" y="5440680"/>
            <a:ext cx="2103120" cy="310896"/>
          </a:xfrm>
          <a:prstGeom prst="roundRect">
            <a:avLst>
              <a:gd name="adj" fmla="val 44118"/>
            </a:avLst>
          </a:prstGeom>
          <a:solidFill>
            <a:srgbClr val="FEE2E2"/>
          </a:solidFill>
          <a:ln w="12700">
            <a:solidFill>
              <a:srgbClr val="FEE2E2"/>
            </a:solidFill>
            <a:prstDash val="solid"/>
          </a:ln>
        </p:spPr>
        <p:txBody>
          <a:bodyPr/>
          <a:lstStyle/>
          <a:p>
            <a:endParaRPr lang="en-US"/>
          </a:p>
        </p:txBody>
      </p:sp>
      <p:sp>
        <p:nvSpPr>
          <p:cNvPr id="12" name="Text 10"/>
          <p:cNvSpPr/>
          <p:nvPr/>
        </p:nvSpPr>
        <p:spPr>
          <a:xfrm>
            <a:off x="3977640" y="5458968"/>
            <a:ext cx="2103120" cy="182880"/>
          </a:xfrm>
          <a:prstGeom prst="rect">
            <a:avLst/>
          </a:prstGeom>
          <a:noFill/>
          <a:ln/>
        </p:spPr>
        <p:txBody>
          <a:bodyPr wrap="square" lIns="0" tIns="0" rIns="0" bIns="0" rtlCol="0" anchor="ctr">
            <a:normAutofit/>
          </a:bodyPr>
          <a:lstStyle/>
          <a:p>
            <a:pPr marL="0" indent="0" algn="ctr">
              <a:buNone/>
            </a:pPr>
            <a:r>
              <a:rPr lang="en-US" sz="900" b="1" dirty="0">
                <a:solidFill>
                  <a:srgbClr val="B91C1C"/>
                </a:solidFill>
                <a:latin typeface="Aptos" pitchFamily="34" charset="0"/>
                <a:ea typeface="Aptos" pitchFamily="34" charset="-122"/>
                <a:cs typeface="Aptos" pitchFamily="34" charset="-120"/>
              </a:rPr>
              <a:t>NOT ENOUGH: “be accurate”</a:t>
            </a:r>
            <a:endParaRPr lang="en-US" sz="900" dirty="0"/>
          </a:p>
        </p:txBody>
      </p:sp>
      <p:sp>
        <p:nvSpPr>
          <p:cNvPr id="13" name="Shape 11"/>
          <p:cNvSpPr/>
          <p:nvPr/>
        </p:nvSpPr>
        <p:spPr>
          <a:xfrm>
            <a:off x="6355080" y="5440680"/>
            <a:ext cx="2743200" cy="310896"/>
          </a:xfrm>
          <a:prstGeom prst="roundRect">
            <a:avLst>
              <a:gd name="adj" fmla="val 44118"/>
            </a:avLst>
          </a:prstGeom>
          <a:solidFill>
            <a:srgbClr val="EDE9FE"/>
          </a:solidFill>
          <a:ln w="12700">
            <a:solidFill>
              <a:srgbClr val="EDE9FE"/>
            </a:solidFill>
            <a:prstDash val="solid"/>
          </a:ln>
        </p:spPr>
        <p:txBody>
          <a:bodyPr/>
          <a:lstStyle/>
          <a:p>
            <a:endParaRPr lang="en-US"/>
          </a:p>
        </p:txBody>
      </p:sp>
      <p:sp>
        <p:nvSpPr>
          <p:cNvPr id="14" name="Text 12"/>
          <p:cNvSpPr/>
          <p:nvPr/>
        </p:nvSpPr>
        <p:spPr>
          <a:xfrm>
            <a:off x="6355080" y="5458968"/>
            <a:ext cx="2743200" cy="182880"/>
          </a:xfrm>
          <a:prstGeom prst="rect">
            <a:avLst/>
          </a:prstGeom>
          <a:noFill/>
          <a:ln/>
        </p:spPr>
        <p:txBody>
          <a:bodyPr wrap="square" lIns="0" tIns="0" rIns="0" bIns="0" rtlCol="0" anchor="ctr">
            <a:normAutofit/>
          </a:bodyPr>
          <a:lstStyle/>
          <a:p>
            <a:pPr marL="0" indent="0" algn="ctr">
              <a:buNone/>
            </a:pPr>
            <a:r>
              <a:rPr lang="en-US" sz="900" b="1" dirty="0">
                <a:solidFill>
                  <a:srgbClr val="6D28D9"/>
                </a:solidFill>
                <a:latin typeface="Aptos" pitchFamily="34" charset="0"/>
                <a:ea typeface="Aptos" pitchFamily="34" charset="-122"/>
                <a:cs typeface="Aptos" pitchFamily="34" charset="-120"/>
              </a:rPr>
              <a:t>ALSO NEEDED: inspectable citations</a:t>
            </a:r>
            <a:endParaRPr lang="en-US" sz="9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marL="0" indent="0">
              <a:buNone/>
            </a:pPr>
            <a:r>
              <a:rPr lang="en-US" sz="900" b="1" kern="0" spc="110" dirty="0">
                <a:solidFill>
                  <a:srgbClr val="0F766E"/>
                </a:solidFill>
                <a:latin typeface="Aptos" pitchFamily="34" charset="0"/>
                <a:ea typeface="Aptos" pitchFamily="34" charset="-122"/>
                <a:cs typeface="Aptos" pitchFamily="34" charset="-120"/>
              </a:rPr>
              <a:t>THE LOOP THAT PRODUCED THIS REPOSITORY</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marL="0" indent="0">
              <a:buNone/>
            </a:pPr>
            <a:r>
              <a:rPr lang="en-US" sz="2700" b="1" dirty="0">
                <a:solidFill>
                  <a:srgbClr val="0F172A"/>
                </a:solidFill>
                <a:latin typeface="Aptos" pitchFamily="34" charset="0"/>
                <a:ea typeface="Aptos" pitchFamily="34" charset="-122"/>
                <a:cs typeface="Aptos" pitchFamily="34" charset="-120"/>
              </a:rPr>
              <a:t>AI can absolutely implement an application — just not in one pass</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marL="0" indent="0">
              <a:buNone/>
            </a:pPr>
            <a:r>
              <a:rPr lang="en-US" sz="1200" dirty="0">
                <a:solidFill>
                  <a:srgbClr val="64748B"/>
                </a:solidFill>
                <a:latin typeface="Aptos" pitchFamily="34" charset="0"/>
                <a:ea typeface="Aptos" pitchFamily="34" charset="-122"/>
                <a:cs typeface="Aptos" pitchFamily="34" charset="-120"/>
              </a:rPr>
              <a:t>Specify, generate, verify, correct. Remove any one step and the result drifts.</a:t>
            </a:r>
            <a:endParaRPr lang="en-US" sz="1200" dirty="0"/>
          </a:p>
        </p:txBody>
      </p:sp>
      <p:sp>
        <p:nvSpPr>
          <p:cNvPr id="5" name="Shape 3"/>
          <p:cNvSpPr/>
          <p:nvPr/>
        </p:nvSpPr>
        <p:spPr>
          <a:xfrm>
            <a:off x="566928" y="1783080"/>
            <a:ext cx="2514600" cy="3063240"/>
          </a:xfrm>
          <a:prstGeom prst="roundRect">
            <a:avLst>
              <a:gd name="adj" fmla="val 2909"/>
            </a:avLst>
          </a:prstGeom>
          <a:solidFill>
            <a:srgbClr val="FFFFFF"/>
          </a:solidFill>
          <a:ln w="12700">
            <a:solidFill>
              <a:srgbClr val="CBD5E1"/>
            </a:solidFill>
            <a:prstDash val="solid"/>
          </a:ln>
        </p:spPr>
        <p:txBody>
          <a:bodyPr/>
          <a:lstStyle/>
          <a:p>
            <a:endParaRPr lang="en-US"/>
          </a:p>
        </p:txBody>
      </p:sp>
      <p:sp>
        <p:nvSpPr>
          <p:cNvPr id="6" name="Text 4"/>
          <p:cNvSpPr/>
          <p:nvPr/>
        </p:nvSpPr>
        <p:spPr>
          <a:xfrm>
            <a:off x="749808" y="1993392"/>
            <a:ext cx="365760" cy="274320"/>
          </a:xfrm>
          <a:prstGeom prst="rect">
            <a:avLst/>
          </a:prstGeom>
          <a:noFill/>
          <a:ln/>
        </p:spPr>
        <p:txBody>
          <a:bodyPr wrap="square" lIns="0" tIns="0" rIns="0" bIns="0" rtlCol="0" anchor="ctr">
            <a:normAutofit fontScale="92500" lnSpcReduction="10000"/>
          </a:bodyPr>
          <a:lstStyle/>
          <a:p>
            <a:pPr marL="0" indent="0">
              <a:buNone/>
            </a:pPr>
            <a:r>
              <a:rPr lang="en-US" sz="2000" b="1" dirty="0">
                <a:solidFill>
                  <a:srgbClr val="1D4ED8"/>
                </a:solidFill>
                <a:latin typeface="Aptos" pitchFamily="34" charset="0"/>
                <a:ea typeface="Aptos" pitchFamily="34" charset="-122"/>
                <a:cs typeface="Aptos" pitchFamily="34" charset="-120"/>
              </a:rPr>
              <a:t>1</a:t>
            </a:r>
            <a:endParaRPr lang="en-US" sz="2000" dirty="0"/>
          </a:p>
        </p:txBody>
      </p:sp>
      <p:sp>
        <p:nvSpPr>
          <p:cNvPr id="7" name="Text 5"/>
          <p:cNvSpPr/>
          <p:nvPr/>
        </p:nvSpPr>
        <p:spPr>
          <a:xfrm>
            <a:off x="1225296" y="2029968"/>
            <a:ext cx="1645920" cy="228600"/>
          </a:xfrm>
          <a:prstGeom prst="rect">
            <a:avLst/>
          </a:prstGeom>
          <a:noFill/>
          <a:ln/>
        </p:spPr>
        <p:txBody>
          <a:bodyPr wrap="square" lIns="0" tIns="0" rIns="0" bIns="0" rtlCol="0" anchor="ctr">
            <a:normAutofit/>
          </a:bodyPr>
          <a:lstStyle/>
          <a:p>
            <a:pPr marL="0" indent="0">
              <a:buNone/>
            </a:pPr>
            <a:r>
              <a:rPr lang="en-US" sz="1100" b="1" kern="0" spc="100" dirty="0">
                <a:solidFill>
                  <a:srgbClr val="1D4ED8"/>
                </a:solidFill>
                <a:latin typeface="Aptos" pitchFamily="34" charset="0"/>
                <a:ea typeface="Aptos" pitchFamily="34" charset="-122"/>
                <a:cs typeface="Aptos" pitchFamily="34" charset="-120"/>
              </a:rPr>
              <a:t>SPECIFY</a:t>
            </a:r>
            <a:endParaRPr lang="en-US" sz="1100" dirty="0"/>
          </a:p>
        </p:txBody>
      </p:sp>
      <p:sp>
        <p:nvSpPr>
          <p:cNvPr id="8" name="Text 6"/>
          <p:cNvSpPr/>
          <p:nvPr/>
        </p:nvSpPr>
        <p:spPr>
          <a:xfrm>
            <a:off x="749808" y="2487168"/>
            <a:ext cx="2148840" cy="2148840"/>
          </a:xfrm>
          <a:prstGeom prst="rect">
            <a:avLst/>
          </a:prstGeom>
          <a:noFill/>
          <a:ln/>
        </p:spPr>
        <p:txBody>
          <a:bodyPr wrap="square" lIns="0" tIns="0" rIns="0" bIns="0" rtlCol="0" anchor="t">
            <a:normAutofit/>
          </a:bodyPr>
          <a:lstStyle/>
          <a:p>
            <a:pPr marL="0" indent="0">
              <a:buNone/>
            </a:pPr>
            <a:r>
              <a:rPr lang="en-US" sz="1400" dirty="0">
                <a:solidFill>
                  <a:srgbClr val="334155"/>
                </a:solidFill>
                <a:latin typeface="Aptos" pitchFamily="34" charset="0"/>
                <a:ea typeface="Aptos" pitchFamily="34" charset="-122"/>
                <a:cs typeface="Aptos" pitchFamily="34" charset="-120"/>
              </a:rPr>
              <a:t>Stack, exact versions, module boundaries, acceptance criteria — written before any code.</a:t>
            </a:r>
            <a:endParaRPr lang="en-US" sz="1400" dirty="0"/>
          </a:p>
        </p:txBody>
      </p:sp>
      <p:sp>
        <p:nvSpPr>
          <p:cNvPr id="9" name="Shape 7"/>
          <p:cNvSpPr/>
          <p:nvPr/>
        </p:nvSpPr>
        <p:spPr>
          <a:xfrm>
            <a:off x="3145536" y="3310128"/>
            <a:ext cx="219456" cy="0"/>
          </a:xfrm>
          <a:prstGeom prst="line">
            <a:avLst/>
          </a:prstGeom>
          <a:noFill/>
          <a:ln w="25400">
            <a:solidFill>
              <a:srgbClr val="64748B"/>
            </a:solidFill>
            <a:prstDash val="solid"/>
            <a:headEnd type="none"/>
            <a:tailEnd type="triangle"/>
          </a:ln>
        </p:spPr>
        <p:txBody>
          <a:bodyPr/>
          <a:lstStyle/>
          <a:p>
            <a:endParaRPr lang="en-US"/>
          </a:p>
        </p:txBody>
      </p:sp>
      <p:sp>
        <p:nvSpPr>
          <p:cNvPr id="10" name="Shape 8"/>
          <p:cNvSpPr/>
          <p:nvPr/>
        </p:nvSpPr>
        <p:spPr>
          <a:xfrm>
            <a:off x="3419856" y="1783080"/>
            <a:ext cx="2514600" cy="3063240"/>
          </a:xfrm>
          <a:prstGeom prst="roundRect">
            <a:avLst>
              <a:gd name="adj" fmla="val 2909"/>
            </a:avLst>
          </a:prstGeom>
          <a:solidFill>
            <a:srgbClr val="FFFFFF"/>
          </a:solidFill>
          <a:ln w="12700">
            <a:solidFill>
              <a:srgbClr val="CBD5E1"/>
            </a:solidFill>
            <a:prstDash val="solid"/>
          </a:ln>
        </p:spPr>
        <p:txBody>
          <a:bodyPr/>
          <a:lstStyle/>
          <a:p>
            <a:endParaRPr lang="en-US"/>
          </a:p>
        </p:txBody>
      </p:sp>
      <p:sp>
        <p:nvSpPr>
          <p:cNvPr id="11" name="Text 9"/>
          <p:cNvSpPr/>
          <p:nvPr/>
        </p:nvSpPr>
        <p:spPr>
          <a:xfrm>
            <a:off x="3602736" y="1993392"/>
            <a:ext cx="365760" cy="274320"/>
          </a:xfrm>
          <a:prstGeom prst="rect">
            <a:avLst/>
          </a:prstGeom>
          <a:noFill/>
          <a:ln/>
        </p:spPr>
        <p:txBody>
          <a:bodyPr wrap="square" lIns="0" tIns="0" rIns="0" bIns="0" rtlCol="0" anchor="ctr">
            <a:normAutofit fontScale="92500" lnSpcReduction="10000"/>
          </a:bodyPr>
          <a:lstStyle/>
          <a:p>
            <a:pPr marL="0" indent="0">
              <a:buNone/>
            </a:pPr>
            <a:r>
              <a:rPr lang="en-US" sz="2000" b="1" dirty="0">
                <a:solidFill>
                  <a:srgbClr val="1D4ED8"/>
                </a:solidFill>
                <a:latin typeface="Aptos" pitchFamily="34" charset="0"/>
                <a:ea typeface="Aptos" pitchFamily="34" charset="-122"/>
                <a:cs typeface="Aptos" pitchFamily="34" charset="-120"/>
              </a:rPr>
              <a:t>2</a:t>
            </a:r>
            <a:endParaRPr lang="en-US" sz="2000" dirty="0"/>
          </a:p>
        </p:txBody>
      </p:sp>
      <p:sp>
        <p:nvSpPr>
          <p:cNvPr id="12" name="Text 10"/>
          <p:cNvSpPr/>
          <p:nvPr/>
        </p:nvSpPr>
        <p:spPr>
          <a:xfrm>
            <a:off x="4078224" y="2029968"/>
            <a:ext cx="1645920" cy="228600"/>
          </a:xfrm>
          <a:prstGeom prst="rect">
            <a:avLst/>
          </a:prstGeom>
          <a:noFill/>
          <a:ln/>
        </p:spPr>
        <p:txBody>
          <a:bodyPr wrap="square" lIns="0" tIns="0" rIns="0" bIns="0" rtlCol="0" anchor="ctr">
            <a:normAutofit/>
          </a:bodyPr>
          <a:lstStyle/>
          <a:p>
            <a:pPr marL="0" indent="0">
              <a:buNone/>
            </a:pPr>
            <a:r>
              <a:rPr lang="en-US" sz="1100" b="1" kern="0" spc="100" dirty="0">
                <a:solidFill>
                  <a:srgbClr val="1D4ED8"/>
                </a:solidFill>
                <a:latin typeface="Aptos" pitchFamily="34" charset="0"/>
                <a:ea typeface="Aptos" pitchFamily="34" charset="-122"/>
                <a:cs typeface="Aptos" pitchFamily="34" charset="-120"/>
              </a:rPr>
              <a:t>GENERATE</a:t>
            </a:r>
            <a:endParaRPr lang="en-US" sz="1100" dirty="0"/>
          </a:p>
        </p:txBody>
      </p:sp>
      <p:sp>
        <p:nvSpPr>
          <p:cNvPr id="13" name="Text 11"/>
          <p:cNvSpPr/>
          <p:nvPr/>
        </p:nvSpPr>
        <p:spPr>
          <a:xfrm>
            <a:off x="3602736" y="2487168"/>
            <a:ext cx="2148840" cy="2148840"/>
          </a:xfrm>
          <a:prstGeom prst="rect">
            <a:avLst/>
          </a:prstGeom>
          <a:noFill/>
          <a:ln/>
        </p:spPr>
        <p:txBody>
          <a:bodyPr wrap="square" lIns="0" tIns="0" rIns="0" bIns="0" rtlCol="0" anchor="t">
            <a:normAutofit/>
          </a:bodyPr>
          <a:lstStyle/>
          <a:p>
            <a:pPr marL="0" indent="0">
              <a:buNone/>
            </a:pPr>
            <a:r>
              <a:rPr lang="en-US" sz="1400" dirty="0">
                <a:solidFill>
                  <a:srgbClr val="334155"/>
                </a:solidFill>
                <a:latin typeface="Aptos" pitchFamily="34" charset="0"/>
                <a:ea typeface="Aptos" pitchFamily="34" charset="-122"/>
                <a:cs typeface="Aptos" pitchFamily="34" charset="-120"/>
              </a:rPr>
              <a:t>The agent writes the implementation far faster than a human could. This step was never the bottleneck.</a:t>
            </a:r>
            <a:endParaRPr lang="en-US" sz="1400" dirty="0"/>
          </a:p>
        </p:txBody>
      </p:sp>
      <p:sp>
        <p:nvSpPr>
          <p:cNvPr id="14" name="Shape 12"/>
          <p:cNvSpPr/>
          <p:nvPr/>
        </p:nvSpPr>
        <p:spPr>
          <a:xfrm>
            <a:off x="5998464" y="3310128"/>
            <a:ext cx="219456" cy="0"/>
          </a:xfrm>
          <a:prstGeom prst="line">
            <a:avLst/>
          </a:prstGeom>
          <a:noFill/>
          <a:ln w="25400">
            <a:solidFill>
              <a:srgbClr val="64748B"/>
            </a:solidFill>
            <a:prstDash val="solid"/>
            <a:headEnd type="none"/>
            <a:tailEnd type="triangle"/>
          </a:ln>
        </p:spPr>
        <p:txBody>
          <a:bodyPr/>
          <a:lstStyle/>
          <a:p>
            <a:endParaRPr lang="en-US"/>
          </a:p>
        </p:txBody>
      </p:sp>
      <p:sp>
        <p:nvSpPr>
          <p:cNvPr id="15" name="Shape 13"/>
          <p:cNvSpPr/>
          <p:nvPr/>
        </p:nvSpPr>
        <p:spPr>
          <a:xfrm>
            <a:off x="6272784" y="1783080"/>
            <a:ext cx="2514600" cy="3063240"/>
          </a:xfrm>
          <a:prstGeom prst="roundRect">
            <a:avLst>
              <a:gd name="adj" fmla="val 2909"/>
            </a:avLst>
          </a:prstGeom>
          <a:solidFill>
            <a:srgbClr val="FEF3C7"/>
          </a:solidFill>
          <a:ln w="12700">
            <a:solidFill>
              <a:srgbClr val="B45309"/>
            </a:solidFill>
            <a:prstDash val="solid"/>
          </a:ln>
        </p:spPr>
        <p:txBody>
          <a:bodyPr/>
          <a:lstStyle/>
          <a:p>
            <a:endParaRPr lang="en-US"/>
          </a:p>
        </p:txBody>
      </p:sp>
      <p:sp>
        <p:nvSpPr>
          <p:cNvPr id="16" name="Text 14"/>
          <p:cNvSpPr/>
          <p:nvPr/>
        </p:nvSpPr>
        <p:spPr>
          <a:xfrm>
            <a:off x="6455664" y="1993392"/>
            <a:ext cx="365760" cy="274320"/>
          </a:xfrm>
          <a:prstGeom prst="rect">
            <a:avLst/>
          </a:prstGeom>
          <a:noFill/>
          <a:ln/>
        </p:spPr>
        <p:txBody>
          <a:bodyPr wrap="square" lIns="0" tIns="0" rIns="0" bIns="0" rtlCol="0" anchor="ctr">
            <a:normAutofit fontScale="92500" lnSpcReduction="10000"/>
          </a:bodyPr>
          <a:lstStyle/>
          <a:p>
            <a:pPr marL="0" indent="0">
              <a:buNone/>
            </a:pPr>
            <a:r>
              <a:rPr lang="en-US" sz="2000" b="1" dirty="0">
                <a:solidFill>
                  <a:srgbClr val="B45309"/>
                </a:solidFill>
                <a:latin typeface="Aptos" pitchFamily="34" charset="0"/>
                <a:ea typeface="Aptos" pitchFamily="34" charset="-122"/>
                <a:cs typeface="Aptos" pitchFamily="34" charset="-120"/>
              </a:rPr>
              <a:t>3</a:t>
            </a:r>
            <a:endParaRPr lang="en-US" sz="2000" dirty="0"/>
          </a:p>
        </p:txBody>
      </p:sp>
      <p:sp>
        <p:nvSpPr>
          <p:cNvPr id="17" name="Text 15"/>
          <p:cNvSpPr/>
          <p:nvPr/>
        </p:nvSpPr>
        <p:spPr>
          <a:xfrm>
            <a:off x="6931152" y="2029968"/>
            <a:ext cx="1645920" cy="228600"/>
          </a:xfrm>
          <a:prstGeom prst="rect">
            <a:avLst/>
          </a:prstGeom>
          <a:noFill/>
          <a:ln/>
        </p:spPr>
        <p:txBody>
          <a:bodyPr wrap="square" lIns="0" tIns="0" rIns="0" bIns="0" rtlCol="0" anchor="ctr">
            <a:normAutofit/>
          </a:bodyPr>
          <a:lstStyle/>
          <a:p>
            <a:pPr marL="0" indent="0">
              <a:buNone/>
            </a:pPr>
            <a:r>
              <a:rPr lang="en-US" sz="1100" b="1" kern="0" spc="100" dirty="0">
                <a:solidFill>
                  <a:srgbClr val="B45309"/>
                </a:solidFill>
                <a:latin typeface="Aptos" pitchFamily="34" charset="0"/>
                <a:ea typeface="Aptos" pitchFamily="34" charset="-122"/>
                <a:cs typeface="Aptos" pitchFamily="34" charset="-120"/>
              </a:rPr>
              <a:t>VERIFY</a:t>
            </a:r>
            <a:endParaRPr lang="en-US" sz="1100" dirty="0"/>
          </a:p>
        </p:txBody>
      </p:sp>
      <p:sp>
        <p:nvSpPr>
          <p:cNvPr id="18" name="Text 16"/>
          <p:cNvSpPr/>
          <p:nvPr/>
        </p:nvSpPr>
        <p:spPr>
          <a:xfrm>
            <a:off x="6455664" y="2487168"/>
            <a:ext cx="2148840" cy="2148840"/>
          </a:xfrm>
          <a:prstGeom prst="rect">
            <a:avLst/>
          </a:prstGeom>
          <a:noFill/>
          <a:ln/>
        </p:spPr>
        <p:txBody>
          <a:bodyPr wrap="square" lIns="0" tIns="0" rIns="0" bIns="0" rtlCol="0" anchor="t">
            <a:normAutofit/>
          </a:bodyPr>
          <a:lstStyle/>
          <a:p>
            <a:pPr marL="0" indent="0">
              <a:buNone/>
            </a:pPr>
            <a:r>
              <a:rPr lang="en-US" sz="1400" dirty="0">
                <a:solidFill>
                  <a:srgbClr val="334155"/>
                </a:solidFill>
                <a:latin typeface="Aptos" pitchFamily="34" charset="0"/>
                <a:ea typeface="Aptos" pitchFamily="34" charset="-122"/>
                <a:cs typeface="Aptos" pitchFamily="34" charset="-120"/>
              </a:rPr>
              <a:t>A repo-wide audit found wrong component names, stale docs, mismatched ports and fabricated documentation claims.</a:t>
            </a:r>
            <a:endParaRPr lang="en-US" sz="1400" dirty="0"/>
          </a:p>
        </p:txBody>
      </p:sp>
      <p:sp>
        <p:nvSpPr>
          <p:cNvPr id="19" name="Shape 17"/>
          <p:cNvSpPr/>
          <p:nvPr/>
        </p:nvSpPr>
        <p:spPr>
          <a:xfrm>
            <a:off x="8851392" y="3310128"/>
            <a:ext cx="219456" cy="0"/>
          </a:xfrm>
          <a:prstGeom prst="line">
            <a:avLst/>
          </a:prstGeom>
          <a:noFill/>
          <a:ln w="25400">
            <a:solidFill>
              <a:srgbClr val="64748B"/>
            </a:solidFill>
            <a:prstDash val="solid"/>
            <a:headEnd type="none"/>
            <a:tailEnd type="triangle"/>
          </a:ln>
        </p:spPr>
        <p:txBody>
          <a:bodyPr/>
          <a:lstStyle/>
          <a:p>
            <a:endParaRPr lang="en-US"/>
          </a:p>
        </p:txBody>
      </p:sp>
      <p:sp>
        <p:nvSpPr>
          <p:cNvPr id="20" name="Shape 18"/>
          <p:cNvSpPr/>
          <p:nvPr/>
        </p:nvSpPr>
        <p:spPr>
          <a:xfrm>
            <a:off x="9125712" y="1783080"/>
            <a:ext cx="2514600" cy="3063240"/>
          </a:xfrm>
          <a:prstGeom prst="roundRect">
            <a:avLst>
              <a:gd name="adj" fmla="val 2909"/>
            </a:avLst>
          </a:prstGeom>
          <a:solidFill>
            <a:srgbClr val="CCFBF1"/>
          </a:solidFill>
          <a:ln w="12700">
            <a:solidFill>
              <a:srgbClr val="0F766E"/>
            </a:solidFill>
            <a:prstDash val="solid"/>
          </a:ln>
        </p:spPr>
        <p:txBody>
          <a:bodyPr/>
          <a:lstStyle/>
          <a:p>
            <a:endParaRPr lang="en-US"/>
          </a:p>
        </p:txBody>
      </p:sp>
      <p:sp>
        <p:nvSpPr>
          <p:cNvPr id="21" name="Text 19"/>
          <p:cNvSpPr/>
          <p:nvPr/>
        </p:nvSpPr>
        <p:spPr>
          <a:xfrm>
            <a:off x="9308592" y="1993392"/>
            <a:ext cx="365760" cy="274320"/>
          </a:xfrm>
          <a:prstGeom prst="rect">
            <a:avLst/>
          </a:prstGeom>
          <a:noFill/>
          <a:ln/>
        </p:spPr>
        <p:txBody>
          <a:bodyPr wrap="square" lIns="0" tIns="0" rIns="0" bIns="0" rtlCol="0" anchor="ctr">
            <a:normAutofit fontScale="92500" lnSpcReduction="10000"/>
          </a:bodyPr>
          <a:lstStyle/>
          <a:p>
            <a:pPr marL="0" indent="0">
              <a:buNone/>
            </a:pPr>
            <a:r>
              <a:rPr lang="en-US" sz="2000" b="1" dirty="0">
                <a:solidFill>
                  <a:srgbClr val="0F766E"/>
                </a:solidFill>
                <a:latin typeface="Aptos" pitchFamily="34" charset="0"/>
                <a:ea typeface="Aptos" pitchFamily="34" charset="-122"/>
                <a:cs typeface="Aptos" pitchFamily="34" charset="-120"/>
              </a:rPr>
              <a:t>4</a:t>
            </a:r>
            <a:endParaRPr lang="en-US" sz="2000" dirty="0"/>
          </a:p>
        </p:txBody>
      </p:sp>
      <p:sp>
        <p:nvSpPr>
          <p:cNvPr id="22" name="Text 20"/>
          <p:cNvSpPr/>
          <p:nvPr/>
        </p:nvSpPr>
        <p:spPr>
          <a:xfrm>
            <a:off x="9784080" y="2029968"/>
            <a:ext cx="1645920" cy="228600"/>
          </a:xfrm>
          <a:prstGeom prst="rect">
            <a:avLst/>
          </a:prstGeom>
          <a:noFill/>
          <a:ln/>
        </p:spPr>
        <p:txBody>
          <a:bodyPr wrap="square" lIns="0" tIns="0" rIns="0" bIns="0" rtlCol="0" anchor="ctr">
            <a:normAutofit/>
          </a:bodyPr>
          <a:lstStyle/>
          <a:p>
            <a:pPr marL="0" indent="0">
              <a:buNone/>
            </a:pPr>
            <a:r>
              <a:rPr lang="en-US" sz="1100" b="1" kern="0" spc="100" dirty="0">
                <a:solidFill>
                  <a:srgbClr val="0F766E"/>
                </a:solidFill>
                <a:latin typeface="Aptos" pitchFamily="34" charset="0"/>
                <a:ea typeface="Aptos" pitchFamily="34" charset="-122"/>
                <a:cs typeface="Aptos" pitchFamily="34" charset="-120"/>
              </a:rPr>
              <a:t>CORRECT</a:t>
            </a:r>
            <a:endParaRPr lang="en-US" sz="1100" dirty="0"/>
          </a:p>
        </p:txBody>
      </p:sp>
      <p:sp>
        <p:nvSpPr>
          <p:cNvPr id="23" name="Text 21"/>
          <p:cNvSpPr/>
          <p:nvPr/>
        </p:nvSpPr>
        <p:spPr>
          <a:xfrm>
            <a:off x="9308592" y="2487168"/>
            <a:ext cx="2148840" cy="2148840"/>
          </a:xfrm>
          <a:prstGeom prst="rect">
            <a:avLst/>
          </a:prstGeom>
          <a:noFill/>
          <a:ln/>
        </p:spPr>
        <p:txBody>
          <a:bodyPr wrap="square" lIns="0" tIns="0" rIns="0" bIns="0" rtlCol="0" anchor="t">
            <a:normAutofit/>
          </a:bodyPr>
          <a:lstStyle/>
          <a:p>
            <a:pPr marL="0" indent="0">
              <a:buNone/>
            </a:pPr>
            <a:r>
              <a:rPr lang="en-US" sz="1400" dirty="0">
                <a:solidFill>
                  <a:srgbClr val="334155"/>
                </a:solidFill>
                <a:latin typeface="Aptos" pitchFamily="34" charset="0"/>
                <a:ea typeface="Aptos" pitchFamily="34" charset="-122"/>
                <a:cs typeface="Aptos" pitchFamily="34" charset="-120"/>
              </a:rPr>
              <a:t>React → UI5 Web Components, Boot 3 → Boot 4.1.1, and every claim rewritten to match what the code actually does.</a:t>
            </a:r>
            <a:endParaRPr lang="en-US" sz="1400" dirty="0"/>
          </a:p>
        </p:txBody>
      </p:sp>
      <p:sp>
        <p:nvSpPr>
          <p:cNvPr id="24" name="Text 22"/>
          <p:cNvSpPr/>
          <p:nvPr/>
        </p:nvSpPr>
        <p:spPr>
          <a:xfrm>
            <a:off x="731520" y="5193792"/>
            <a:ext cx="10698480" cy="411480"/>
          </a:xfrm>
          <a:prstGeom prst="rect">
            <a:avLst/>
          </a:prstGeom>
          <a:noFill/>
          <a:ln/>
        </p:spPr>
        <p:txBody>
          <a:bodyPr wrap="square" lIns="0" tIns="0" rIns="0" bIns="0" rtlCol="0" anchor="ctr">
            <a:normAutofit/>
          </a:bodyPr>
          <a:lstStyle/>
          <a:p>
            <a:pPr marL="0" indent="0" algn="ctr">
              <a:buNone/>
            </a:pPr>
            <a:r>
              <a:rPr lang="en-US" sz="2000" b="1" dirty="0">
                <a:solidFill>
                  <a:srgbClr val="B91C1C"/>
                </a:solidFill>
                <a:latin typeface="Aptos" pitchFamily="34" charset="0"/>
                <a:ea typeface="Aptos" pitchFamily="34" charset="-122"/>
                <a:cs typeface="Aptos" pitchFamily="34" charset="-120"/>
              </a:rPr>
              <a:t>Without close verification an AI agent does not fail dramatically. It fails plausibly.</a:t>
            </a:r>
            <a:endParaRPr lang="en-US" sz="2000" dirty="0"/>
          </a:p>
        </p:txBody>
      </p:sp>
      <p:sp>
        <p:nvSpPr>
          <p:cNvPr id="25" name="Text 23"/>
          <p:cNvSpPr/>
          <p:nvPr/>
        </p:nvSpPr>
        <p:spPr>
          <a:xfrm>
            <a:off x="731520" y="5760720"/>
            <a:ext cx="10698480" cy="320040"/>
          </a:xfrm>
          <a:prstGeom prst="rect">
            <a:avLst/>
          </a:prstGeom>
          <a:noFill/>
          <a:ln/>
        </p:spPr>
        <p:txBody>
          <a:bodyPr wrap="square" lIns="0" tIns="0" rIns="0" bIns="0" rtlCol="0" anchor="ctr">
            <a:normAutofit/>
          </a:bodyPr>
          <a:lstStyle/>
          <a:p>
            <a:pPr marL="0" indent="0" algn="ctr">
              <a:buNone/>
            </a:pPr>
            <a:r>
              <a:rPr lang="en-US" sz="1500" dirty="0">
                <a:solidFill>
                  <a:srgbClr val="64748B"/>
                </a:solidFill>
                <a:latin typeface="Aptos" pitchFamily="34" charset="0"/>
                <a:ea typeface="Aptos" pitchFamily="34" charset="-122"/>
                <a:cs typeface="Aptos" pitchFamily="34" charset="-120"/>
              </a:rPr>
              <a:t>AI accelerates synthesis. The engineer still owns intent, architecture and acceptance criteria.</a:t>
            </a:r>
            <a:endParaRPr lang="en-US" sz="1500" dirty="0"/>
          </a:p>
        </p:txBody>
      </p:sp>
      <p:sp>
        <p:nvSpPr>
          <p:cNvPr id="26"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marL="0" indent="0">
              <a:buNone/>
            </a:pPr>
            <a:r>
              <a:rPr lang="en-US" sz="900" b="1" kern="0" spc="110" dirty="0">
                <a:solidFill>
                  <a:srgbClr val="0F766E"/>
                </a:solidFill>
                <a:latin typeface="Aptos" pitchFamily="34" charset="0"/>
                <a:ea typeface="Aptos" pitchFamily="34" charset="-122"/>
                <a:cs typeface="Aptos" pitchFamily="34" charset="-120"/>
              </a:rPr>
              <a:t>WHERE THE HUMAN EDGE MOVED</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fontScale="85000" lnSpcReduction="10000"/>
          </a:bodyPr>
          <a:lstStyle/>
          <a:p>
            <a:pPr marL="0" indent="0">
              <a:buNone/>
            </a:pPr>
            <a:r>
              <a:rPr lang="en-US" sz="2700" b="1" dirty="0">
                <a:solidFill>
                  <a:srgbClr val="0F172A"/>
                </a:solidFill>
                <a:latin typeface="Aptos" pitchFamily="34" charset="0"/>
                <a:ea typeface="Aptos" pitchFamily="34" charset="-122"/>
                <a:cs typeface="Aptos" pitchFamily="34" charset="-120"/>
              </a:rPr>
              <a:t>As generation commoditizes syntax, leverage shifts to framing and orchestration</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marL="0" indent="0">
              <a:buNone/>
            </a:pPr>
            <a:r>
              <a:rPr lang="en-US" sz="1200" dirty="0">
                <a:solidFill>
                  <a:srgbClr val="64748B"/>
                </a:solidFill>
                <a:latin typeface="Aptos" pitchFamily="34" charset="0"/>
                <a:ea typeface="Aptos" pitchFamily="34" charset="-122"/>
                <a:cs typeface="Aptos" pitchFamily="34" charset="-120"/>
              </a:rPr>
              <a:t>Implementation and boilerplate are rapidly automated. Problem formulation and divergent exploration are not.</a:t>
            </a:r>
            <a:endParaRPr lang="en-US" sz="1200" dirty="0"/>
          </a:p>
        </p:txBody>
      </p:sp>
      <p:sp>
        <p:nvSpPr>
          <p:cNvPr id="5" name="Shape 3"/>
          <p:cNvSpPr/>
          <p:nvPr/>
        </p:nvSpPr>
        <p:spPr>
          <a:xfrm>
            <a:off x="621792" y="1664208"/>
            <a:ext cx="5989320" cy="3931920"/>
          </a:xfrm>
          <a:prstGeom prst="roundRect">
            <a:avLst>
              <a:gd name="adj" fmla="val 1860"/>
            </a:avLst>
          </a:prstGeom>
          <a:solidFill>
            <a:srgbClr val="FFFFFF"/>
          </a:solidFill>
          <a:ln w="12700">
            <a:solidFill>
              <a:srgbClr val="CBD5E1"/>
            </a:solidFill>
            <a:prstDash val="solid"/>
          </a:ln>
        </p:spPr>
        <p:txBody>
          <a:bodyPr/>
          <a:lstStyle/>
          <a:p>
            <a:endParaRPr lang="en-US"/>
          </a:p>
        </p:txBody>
      </p:sp>
      <p:sp>
        <p:nvSpPr>
          <p:cNvPr id="6" name="Text 4"/>
          <p:cNvSpPr/>
          <p:nvPr/>
        </p:nvSpPr>
        <p:spPr>
          <a:xfrm>
            <a:off x="868680" y="1874520"/>
            <a:ext cx="5486400" cy="219456"/>
          </a:xfrm>
          <a:prstGeom prst="rect">
            <a:avLst/>
          </a:prstGeom>
          <a:noFill/>
          <a:ln/>
        </p:spPr>
        <p:txBody>
          <a:bodyPr wrap="square" lIns="0" tIns="0" rIns="0" bIns="0" rtlCol="0" anchor="ctr">
            <a:normAutofit/>
          </a:bodyPr>
          <a:lstStyle/>
          <a:p>
            <a:pPr marL="0" indent="0">
              <a:buNone/>
            </a:pPr>
            <a:r>
              <a:rPr lang="en-US" sz="1000" b="1" kern="0" spc="100" dirty="0">
                <a:solidFill>
                  <a:srgbClr val="0F766E"/>
                </a:solidFill>
                <a:latin typeface="Aptos" pitchFamily="34" charset="0"/>
                <a:ea typeface="Aptos" pitchFamily="34" charset="-122"/>
                <a:cs typeface="Aptos" pitchFamily="34" charset="-120"/>
              </a:rPr>
              <a:t>TWO LENSES ON THE SAME WORK</a:t>
            </a:r>
            <a:endParaRPr lang="en-US" sz="1000" dirty="0"/>
          </a:p>
        </p:txBody>
      </p:sp>
      <p:sp>
        <p:nvSpPr>
          <p:cNvPr id="7" name="Text 5"/>
          <p:cNvSpPr/>
          <p:nvPr/>
        </p:nvSpPr>
        <p:spPr>
          <a:xfrm>
            <a:off x="868680" y="2212848"/>
            <a:ext cx="2651760" cy="219456"/>
          </a:xfrm>
          <a:prstGeom prst="rect">
            <a:avLst/>
          </a:prstGeom>
          <a:noFill/>
          <a:ln/>
        </p:spPr>
        <p:txBody>
          <a:bodyPr wrap="square" lIns="0" tIns="0" rIns="0" bIns="0" rtlCol="0" anchor="ctr">
            <a:normAutofit/>
          </a:bodyPr>
          <a:lstStyle/>
          <a:p>
            <a:pPr marL="0" indent="0">
              <a:buNone/>
            </a:pPr>
            <a:r>
              <a:rPr lang="en-US" sz="1200" b="1" dirty="0">
                <a:solidFill>
                  <a:srgbClr val="1D4ED8"/>
                </a:solidFill>
                <a:latin typeface="Aptos" pitchFamily="34" charset="0"/>
              </a:rPr>
              <a:t>Engineering / Research</a:t>
            </a:r>
            <a:endParaRPr lang="en-US" sz="1200" dirty="0"/>
          </a:p>
        </p:txBody>
      </p:sp>
      <p:sp>
        <p:nvSpPr>
          <p:cNvPr id="8" name="Text 6"/>
          <p:cNvSpPr/>
          <p:nvPr/>
        </p:nvSpPr>
        <p:spPr>
          <a:xfrm>
            <a:off x="3794760" y="2212848"/>
            <a:ext cx="2651760" cy="219456"/>
          </a:xfrm>
          <a:prstGeom prst="rect">
            <a:avLst/>
          </a:prstGeom>
          <a:noFill/>
          <a:ln/>
        </p:spPr>
        <p:txBody>
          <a:bodyPr wrap="square" lIns="0" tIns="0" rIns="0" bIns="0" rtlCol="0" anchor="ctr">
            <a:normAutofit/>
          </a:bodyPr>
          <a:lstStyle/>
          <a:p>
            <a:pPr marL="0" indent="0">
              <a:buNone/>
            </a:pPr>
            <a:r>
              <a:rPr lang="en-US" sz="1200" b="1" dirty="0">
                <a:solidFill>
                  <a:srgbClr val="6D28D9"/>
                </a:solidFill>
                <a:latin typeface="Aptos" pitchFamily="34" charset="0"/>
                <a:ea typeface="Aptos" pitchFamily="34" charset="-122"/>
                <a:cs typeface="Aptos" pitchFamily="34" charset="-120"/>
              </a:rPr>
              <a:t>Strategic lens</a:t>
            </a:r>
            <a:endParaRPr lang="en-US" sz="1200" dirty="0"/>
          </a:p>
        </p:txBody>
      </p:sp>
      <p:sp>
        <p:nvSpPr>
          <p:cNvPr id="9" name="Shape 7"/>
          <p:cNvSpPr/>
          <p:nvPr/>
        </p:nvSpPr>
        <p:spPr>
          <a:xfrm>
            <a:off x="868680" y="3182112"/>
            <a:ext cx="5486400" cy="0"/>
          </a:xfrm>
          <a:prstGeom prst="line">
            <a:avLst/>
          </a:prstGeom>
          <a:noFill/>
          <a:ln w="12700">
            <a:solidFill>
              <a:srgbClr val="E2E8F0"/>
            </a:solidFill>
            <a:prstDash val="solid"/>
          </a:ln>
        </p:spPr>
        <p:txBody>
          <a:bodyPr/>
          <a:lstStyle/>
          <a:p>
            <a:endParaRPr lang="en-US"/>
          </a:p>
        </p:txBody>
      </p:sp>
      <p:sp>
        <p:nvSpPr>
          <p:cNvPr id="10" name="Text 8"/>
          <p:cNvSpPr/>
          <p:nvPr/>
        </p:nvSpPr>
        <p:spPr>
          <a:xfrm>
            <a:off x="868680" y="2560320"/>
            <a:ext cx="2697480" cy="548640"/>
          </a:xfrm>
          <a:prstGeom prst="rect">
            <a:avLst/>
          </a:prstGeom>
          <a:noFill/>
          <a:ln/>
        </p:spPr>
        <p:txBody>
          <a:bodyPr wrap="square" lIns="0" tIns="0" rIns="0" bIns="0" rtlCol="0" anchor="ctr">
            <a:normAutofit/>
          </a:bodyPr>
          <a:lstStyle/>
          <a:p>
            <a:pPr marL="0" indent="0">
              <a:buNone/>
            </a:pPr>
            <a:r>
              <a:rPr lang="en-US" sz="1300" dirty="0">
                <a:solidFill>
                  <a:srgbClr val="334155"/>
                </a:solidFill>
                <a:latin typeface="Aptos" pitchFamily="34" charset="0"/>
                <a:ea typeface="Aptos" pitchFamily="34" charset="-122"/>
                <a:cs typeface="Aptos" pitchFamily="34" charset="-120"/>
              </a:rPr>
              <a:t>Algorithmic rigor, proofs, bounds</a:t>
            </a:r>
            <a:endParaRPr lang="en-US" sz="1300" dirty="0"/>
          </a:p>
        </p:txBody>
      </p:sp>
      <p:sp>
        <p:nvSpPr>
          <p:cNvPr id="11" name="Text 9"/>
          <p:cNvSpPr/>
          <p:nvPr/>
        </p:nvSpPr>
        <p:spPr>
          <a:xfrm>
            <a:off x="3794760" y="2560320"/>
            <a:ext cx="2697480" cy="548640"/>
          </a:xfrm>
          <a:prstGeom prst="rect">
            <a:avLst/>
          </a:prstGeom>
          <a:noFill/>
          <a:ln/>
        </p:spPr>
        <p:txBody>
          <a:bodyPr wrap="square" lIns="0" tIns="0" rIns="0" bIns="0" rtlCol="0" anchor="ctr">
            <a:normAutofit/>
          </a:bodyPr>
          <a:lstStyle/>
          <a:p>
            <a:pPr marL="0" indent="0">
              <a:buNone/>
            </a:pPr>
            <a:r>
              <a:rPr lang="en-US" sz="1300" dirty="0">
                <a:solidFill>
                  <a:srgbClr val="334155"/>
                </a:solidFill>
                <a:latin typeface="Aptos" pitchFamily="34" charset="0"/>
                <a:ea typeface="Aptos" pitchFamily="34" charset="-122"/>
                <a:cs typeface="Aptos" pitchFamily="34" charset="-120"/>
              </a:rPr>
              <a:t>System affordances, real-world utility</a:t>
            </a:r>
            <a:endParaRPr lang="en-US" sz="1300" dirty="0"/>
          </a:p>
        </p:txBody>
      </p:sp>
      <p:sp>
        <p:nvSpPr>
          <p:cNvPr id="12" name="Shape 10"/>
          <p:cNvSpPr/>
          <p:nvPr/>
        </p:nvSpPr>
        <p:spPr>
          <a:xfrm>
            <a:off x="868680" y="3913632"/>
            <a:ext cx="5486400" cy="0"/>
          </a:xfrm>
          <a:prstGeom prst="line">
            <a:avLst/>
          </a:prstGeom>
          <a:noFill/>
          <a:ln w="12700">
            <a:solidFill>
              <a:srgbClr val="E2E8F0"/>
            </a:solidFill>
            <a:prstDash val="solid"/>
          </a:ln>
        </p:spPr>
        <p:txBody>
          <a:bodyPr/>
          <a:lstStyle/>
          <a:p>
            <a:endParaRPr lang="en-US"/>
          </a:p>
        </p:txBody>
      </p:sp>
      <p:sp>
        <p:nvSpPr>
          <p:cNvPr id="13" name="Text 11"/>
          <p:cNvSpPr/>
          <p:nvPr/>
        </p:nvSpPr>
        <p:spPr>
          <a:xfrm>
            <a:off x="868680" y="3291840"/>
            <a:ext cx="2697480" cy="548640"/>
          </a:xfrm>
          <a:prstGeom prst="rect">
            <a:avLst/>
          </a:prstGeom>
          <a:noFill/>
          <a:ln/>
        </p:spPr>
        <p:txBody>
          <a:bodyPr wrap="square" lIns="0" tIns="0" rIns="0" bIns="0" rtlCol="0" anchor="ctr">
            <a:normAutofit/>
          </a:bodyPr>
          <a:lstStyle/>
          <a:p>
            <a:pPr marL="0" indent="0">
              <a:buNone/>
            </a:pPr>
            <a:r>
              <a:rPr lang="en-US" sz="1300" dirty="0">
                <a:solidFill>
                  <a:srgbClr val="334155"/>
                </a:solidFill>
                <a:latin typeface="Aptos" pitchFamily="34" charset="0"/>
                <a:ea typeface="Aptos" pitchFamily="34" charset="-122"/>
                <a:cs typeface="Aptos" pitchFamily="34" charset="-120"/>
              </a:rPr>
              <a:t>Convergent: narrow to the optimal</a:t>
            </a:r>
            <a:endParaRPr lang="en-US" sz="1300" dirty="0"/>
          </a:p>
        </p:txBody>
      </p:sp>
      <p:sp>
        <p:nvSpPr>
          <p:cNvPr id="14" name="Text 12"/>
          <p:cNvSpPr/>
          <p:nvPr/>
        </p:nvSpPr>
        <p:spPr>
          <a:xfrm>
            <a:off x="3794760" y="3291840"/>
            <a:ext cx="2697480" cy="548640"/>
          </a:xfrm>
          <a:prstGeom prst="rect">
            <a:avLst/>
          </a:prstGeom>
          <a:noFill/>
          <a:ln/>
        </p:spPr>
        <p:txBody>
          <a:bodyPr wrap="square" lIns="0" tIns="0" rIns="0" bIns="0" rtlCol="0" anchor="ctr">
            <a:normAutofit/>
          </a:bodyPr>
          <a:lstStyle/>
          <a:p>
            <a:pPr marL="0" indent="0">
              <a:buNone/>
            </a:pPr>
            <a:r>
              <a:rPr lang="en-US" sz="1300" dirty="0">
                <a:solidFill>
                  <a:srgbClr val="334155"/>
                </a:solidFill>
                <a:latin typeface="Aptos" pitchFamily="34" charset="0"/>
                <a:ea typeface="Aptos" pitchFamily="34" charset="-122"/>
                <a:cs typeface="Aptos" pitchFamily="34" charset="-120"/>
              </a:rPr>
              <a:t>Divergent: explore lateral possibilities</a:t>
            </a:r>
            <a:endParaRPr lang="en-US" sz="1300" dirty="0"/>
          </a:p>
        </p:txBody>
      </p:sp>
      <p:sp>
        <p:nvSpPr>
          <p:cNvPr id="15" name="Shape 13"/>
          <p:cNvSpPr/>
          <p:nvPr/>
        </p:nvSpPr>
        <p:spPr>
          <a:xfrm>
            <a:off x="868680" y="4645152"/>
            <a:ext cx="5486400" cy="0"/>
          </a:xfrm>
          <a:prstGeom prst="line">
            <a:avLst/>
          </a:prstGeom>
          <a:noFill/>
          <a:ln w="12700">
            <a:solidFill>
              <a:srgbClr val="E2E8F0"/>
            </a:solidFill>
            <a:prstDash val="solid"/>
          </a:ln>
        </p:spPr>
        <p:txBody>
          <a:bodyPr/>
          <a:lstStyle/>
          <a:p>
            <a:endParaRPr lang="en-US"/>
          </a:p>
        </p:txBody>
      </p:sp>
      <p:sp>
        <p:nvSpPr>
          <p:cNvPr id="16" name="Text 14"/>
          <p:cNvSpPr/>
          <p:nvPr/>
        </p:nvSpPr>
        <p:spPr>
          <a:xfrm>
            <a:off x="868680" y="4023360"/>
            <a:ext cx="2697480" cy="548640"/>
          </a:xfrm>
          <a:prstGeom prst="rect">
            <a:avLst/>
          </a:prstGeom>
          <a:noFill/>
          <a:ln/>
        </p:spPr>
        <p:txBody>
          <a:bodyPr wrap="square" lIns="0" tIns="0" rIns="0" bIns="0" rtlCol="0" anchor="ctr">
            <a:normAutofit/>
          </a:bodyPr>
          <a:lstStyle/>
          <a:p>
            <a:pPr marL="0" indent="0">
              <a:buNone/>
            </a:pPr>
            <a:r>
              <a:rPr lang="en-US" sz="1300" dirty="0">
                <a:solidFill>
                  <a:srgbClr val="334155"/>
                </a:solidFill>
                <a:latin typeface="Aptos" pitchFamily="34" charset="0"/>
                <a:ea typeface="Aptos" pitchFamily="34" charset="-122"/>
                <a:cs typeface="Aptos" pitchFamily="34" charset="-120"/>
              </a:rPr>
              <a:t>Handcrafted implementer, debugger</a:t>
            </a:r>
            <a:endParaRPr lang="en-US" sz="1300" dirty="0"/>
          </a:p>
        </p:txBody>
      </p:sp>
      <p:sp>
        <p:nvSpPr>
          <p:cNvPr id="17" name="Text 15"/>
          <p:cNvSpPr/>
          <p:nvPr/>
        </p:nvSpPr>
        <p:spPr>
          <a:xfrm>
            <a:off x="3794760" y="4023360"/>
            <a:ext cx="2697480" cy="548640"/>
          </a:xfrm>
          <a:prstGeom prst="rect">
            <a:avLst/>
          </a:prstGeom>
          <a:noFill/>
          <a:ln/>
        </p:spPr>
        <p:txBody>
          <a:bodyPr wrap="square" lIns="0" tIns="0" rIns="0" bIns="0" rtlCol="0" anchor="ctr">
            <a:normAutofit/>
          </a:bodyPr>
          <a:lstStyle/>
          <a:p>
            <a:pPr marL="0" indent="0">
              <a:buNone/>
            </a:pPr>
            <a:r>
              <a:rPr lang="en-US" sz="1300" dirty="0">
                <a:solidFill>
                  <a:srgbClr val="334155"/>
                </a:solidFill>
                <a:latin typeface="Aptos" pitchFamily="34" charset="0"/>
                <a:ea typeface="Aptos" pitchFamily="34" charset="-122"/>
                <a:cs typeface="Aptos" pitchFamily="34" charset="-120"/>
              </a:rPr>
              <a:t>Intent director, curator, governor</a:t>
            </a:r>
            <a:endParaRPr lang="en-US" sz="1300" dirty="0"/>
          </a:p>
        </p:txBody>
      </p:sp>
      <p:sp>
        <p:nvSpPr>
          <p:cNvPr id="18" name="Shape 16"/>
          <p:cNvSpPr/>
          <p:nvPr/>
        </p:nvSpPr>
        <p:spPr>
          <a:xfrm>
            <a:off x="868680" y="5376672"/>
            <a:ext cx="5486400" cy="0"/>
          </a:xfrm>
          <a:prstGeom prst="line">
            <a:avLst/>
          </a:prstGeom>
          <a:noFill/>
          <a:ln w="12700">
            <a:solidFill>
              <a:srgbClr val="E2E8F0"/>
            </a:solidFill>
            <a:prstDash val="solid"/>
          </a:ln>
        </p:spPr>
        <p:txBody>
          <a:bodyPr/>
          <a:lstStyle/>
          <a:p>
            <a:endParaRPr lang="en-US"/>
          </a:p>
        </p:txBody>
      </p:sp>
      <p:sp>
        <p:nvSpPr>
          <p:cNvPr id="19" name="Text 17"/>
          <p:cNvSpPr/>
          <p:nvPr/>
        </p:nvSpPr>
        <p:spPr>
          <a:xfrm>
            <a:off x="868680" y="4754880"/>
            <a:ext cx="2697480" cy="548640"/>
          </a:xfrm>
          <a:prstGeom prst="rect">
            <a:avLst/>
          </a:prstGeom>
          <a:noFill/>
          <a:ln/>
        </p:spPr>
        <p:txBody>
          <a:bodyPr wrap="square" lIns="0" tIns="0" rIns="0" bIns="0" rtlCol="0" anchor="ctr">
            <a:normAutofit/>
          </a:bodyPr>
          <a:lstStyle/>
          <a:p>
            <a:pPr marL="0" indent="0">
              <a:buNone/>
            </a:pPr>
            <a:r>
              <a:rPr lang="en-US" sz="1300" dirty="0">
                <a:solidFill>
                  <a:srgbClr val="334155"/>
                </a:solidFill>
                <a:latin typeface="Aptos" pitchFamily="34" charset="0"/>
                <a:ea typeface="Aptos" pitchFamily="34" charset="-122"/>
                <a:cs typeface="Aptos" pitchFamily="34" charset="-120"/>
              </a:rPr>
              <a:t>Failure: suboptimal convergence</a:t>
            </a:r>
            <a:endParaRPr lang="en-US" sz="1300" dirty="0"/>
          </a:p>
        </p:txBody>
      </p:sp>
      <p:sp>
        <p:nvSpPr>
          <p:cNvPr id="20" name="Text 18"/>
          <p:cNvSpPr/>
          <p:nvPr/>
        </p:nvSpPr>
        <p:spPr>
          <a:xfrm>
            <a:off x="3794760" y="4754880"/>
            <a:ext cx="2697480" cy="548640"/>
          </a:xfrm>
          <a:prstGeom prst="rect">
            <a:avLst/>
          </a:prstGeom>
          <a:noFill/>
          <a:ln/>
        </p:spPr>
        <p:txBody>
          <a:bodyPr wrap="square" lIns="0" tIns="0" rIns="0" bIns="0" rtlCol="0" anchor="ctr">
            <a:normAutofit/>
          </a:bodyPr>
          <a:lstStyle/>
          <a:p>
            <a:pPr marL="0" indent="0">
              <a:buNone/>
            </a:pPr>
            <a:r>
              <a:rPr lang="en-US" sz="1300" dirty="0">
                <a:solidFill>
                  <a:srgbClr val="334155"/>
                </a:solidFill>
                <a:latin typeface="Aptos" pitchFamily="34" charset="0"/>
                <a:ea typeface="Aptos" pitchFamily="34" charset="-122"/>
                <a:cs typeface="Aptos" pitchFamily="34" charset="-120"/>
              </a:rPr>
              <a:t>Failure: solving the wrong problem well</a:t>
            </a:r>
            <a:endParaRPr lang="en-US" sz="1300" dirty="0"/>
          </a:p>
        </p:txBody>
      </p:sp>
      <p:sp>
        <p:nvSpPr>
          <p:cNvPr id="21" name="Text 19"/>
          <p:cNvSpPr/>
          <p:nvPr/>
        </p:nvSpPr>
        <p:spPr>
          <a:xfrm>
            <a:off x="6967728" y="1874520"/>
            <a:ext cx="4572000" cy="219456"/>
          </a:xfrm>
          <a:prstGeom prst="rect">
            <a:avLst/>
          </a:prstGeom>
          <a:noFill/>
          <a:ln/>
        </p:spPr>
        <p:txBody>
          <a:bodyPr wrap="square" lIns="0" tIns="0" rIns="0" bIns="0" rtlCol="0" anchor="ctr">
            <a:normAutofit/>
          </a:bodyPr>
          <a:lstStyle/>
          <a:p>
            <a:pPr marL="0" indent="0">
              <a:buNone/>
            </a:pPr>
            <a:r>
              <a:rPr lang="en-US" sz="1000" b="1" kern="0" spc="100" dirty="0">
                <a:solidFill>
                  <a:srgbClr val="6D28D9"/>
                </a:solidFill>
                <a:latin typeface="Aptos" pitchFamily="34" charset="0"/>
                <a:ea typeface="Aptos" pitchFamily="34" charset="-122"/>
                <a:cs typeface="Aptos" pitchFamily="34" charset="-120"/>
              </a:rPr>
              <a:t>THE COGNITIVE STACK — AND WHERE THIS APP SITS</a:t>
            </a:r>
            <a:endParaRPr lang="en-US" sz="1000" dirty="0"/>
          </a:p>
        </p:txBody>
      </p:sp>
      <p:sp>
        <p:nvSpPr>
          <p:cNvPr id="22" name="Shape 20"/>
          <p:cNvSpPr/>
          <p:nvPr/>
        </p:nvSpPr>
        <p:spPr>
          <a:xfrm>
            <a:off x="6766560" y="2212848"/>
            <a:ext cx="4754880" cy="1024128"/>
          </a:xfrm>
          <a:prstGeom prst="roundRect">
            <a:avLst>
              <a:gd name="adj" fmla="val 7143"/>
            </a:avLst>
          </a:prstGeom>
          <a:solidFill>
            <a:srgbClr val="CCFBF1"/>
          </a:solidFill>
          <a:ln w="12700">
            <a:solidFill>
              <a:srgbClr val="0F766E"/>
            </a:solidFill>
            <a:prstDash val="solid"/>
          </a:ln>
        </p:spPr>
        <p:txBody>
          <a:bodyPr/>
          <a:lstStyle/>
          <a:p>
            <a:endParaRPr lang="en-US"/>
          </a:p>
        </p:txBody>
      </p:sp>
      <p:sp>
        <p:nvSpPr>
          <p:cNvPr id="23" name="Text 21"/>
          <p:cNvSpPr/>
          <p:nvPr/>
        </p:nvSpPr>
        <p:spPr>
          <a:xfrm>
            <a:off x="6967728" y="2340864"/>
            <a:ext cx="4389120" cy="237744"/>
          </a:xfrm>
          <a:prstGeom prst="rect">
            <a:avLst/>
          </a:prstGeom>
          <a:noFill/>
          <a:ln/>
        </p:spPr>
        <p:txBody>
          <a:bodyPr wrap="square" lIns="0" tIns="0" rIns="0" bIns="0" rtlCol="0" anchor="ctr">
            <a:normAutofit/>
          </a:bodyPr>
          <a:lstStyle/>
          <a:p>
            <a:pPr marL="0" indent="0">
              <a:buNone/>
            </a:pPr>
            <a:r>
              <a:rPr lang="en-US" sz="1400" b="1" dirty="0">
                <a:solidFill>
                  <a:srgbClr val="0F172A"/>
                </a:solidFill>
                <a:latin typeface="Aptos" pitchFamily="34" charset="0"/>
                <a:ea typeface="Aptos" pitchFamily="34" charset="-122"/>
                <a:cs typeface="Aptos" pitchFamily="34" charset="-120"/>
              </a:rPr>
              <a:t>Grounding</a:t>
            </a:r>
            <a:endParaRPr lang="en-US" sz="1400" dirty="0"/>
          </a:p>
        </p:txBody>
      </p:sp>
      <p:sp>
        <p:nvSpPr>
          <p:cNvPr id="24" name="Text 22"/>
          <p:cNvSpPr/>
          <p:nvPr/>
        </p:nvSpPr>
        <p:spPr>
          <a:xfrm>
            <a:off x="6967728" y="2633472"/>
            <a:ext cx="4389120" cy="219456"/>
          </a:xfrm>
          <a:prstGeom prst="rect">
            <a:avLst/>
          </a:prstGeom>
          <a:noFill/>
          <a:ln/>
        </p:spPr>
        <p:txBody>
          <a:bodyPr wrap="square" lIns="0" tIns="0" rIns="0" bIns="0" rtlCol="0" anchor="ctr">
            <a:normAutofit/>
          </a:bodyPr>
          <a:lstStyle/>
          <a:p>
            <a:pPr marL="0" indent="0">
              <a:buNone/>
            </a:pPr>
            <a:r>
              <a:rPr lang="en-US" sz="1200" dirty="0">
                <a:solidFill>
                  <a:srgbClr val="334155"/>
                </a:solidFill>
                <a:latin typeface="Aptos" pitchFamily="34" charset="0"/>
                <a:ea typeface="Aptos" pitchFamily="34" charset="-122"/>
                <a:cs typeface="Aptos" pitchFamily="34" charset="-120"/>
              </a:rPr>
              <a:t>Anchor reasoning in a curated corpus</a:t>
            </a:r>
            <a:endParaRPr lang="en-US" sz="1200" dirty="0"/>
          </a:p>
        </p:txBody>
      </p:sp>
      <p:sp>
        <p:nvSpPr>
          <p:cNvPr id="25" name="Text 23"/>
          <p:cNvSpPr/>
          <p:nvPr/>
        </p:nvSpPr>
        <p:spPr>
          <a:xfrm>
            <a:off x="6967728" y="2907792"/>
            <a:ext cx="4389120" cy="219456"/>
          </a:xfrm>
          <a:prstGeom prst="rect">
            <a:avLst/>
          </a:prstGeom>
          <a:noFill/>
          <a:ln/>
        </p:spPr>
        <p:txBody>
          <a:bodyPr wrap="square" lIns="0" tIns="0" rIns="0" bIns="0" rtlCol="0" anchor="ctr">
            <a:normAutofit/>
          </a:bodyPr>
          <a:lstStyle/>
          <a:p>
            <a:pPr marL="0" indent="0">
              <a:buNone/>
            </a:pPr>
            <a:r>
              <a:rPr lang="en-US" sz="1100" i="1" dirty="0">
                <a:solidFill>
                  <a:srgbClr val="64748B"/>
                </a:solidFill>
                <a:latin typeface="Aptos" pitchFamily="34" charset="0"/>
                <a:ea typeface="Aptos" pitchFamily="34" charset="-122"/>
                <a:cs typeface="Aptos" pitchFamily="34" charset="-120"/>
              </a:rPr>
              <a:t>here: Qdrant retrieval scoped to one document</a:t>
            </a:r>
            <a:endParaRPr lang="en-US" sz="1100" dirty="0"/>
          </a:p>
        </p:txBody>
      </p:sp>
      <p:sp>
        <p:nvSpPr>
          <p:cNvPr id="26" name="Shape 24"/>
          <p:cNvSpPr/>
          <p:nvPr/>
        </p:nvSpPr>
        <p:spPr>
          <a:xfrm>
            <a:off x="6766560" y="3383280"/>
            <a:ext cx="4754880" cy="1024128"/>
          </a:xfrm>
          <a:prstGeom prst="roundRect">
            <a:avLst>
              <a:gd name="adj" fmla="val 7143"/>
            </a:avLst>
          </a:prstGeom>
          <a:solidFill>
            <a:srgbClr val="FFFFFF"/>
          </a:solidFill>
          <a:ln w="12700">
            <a:solidFill>
              <a:srgbClr val="CBD5E1"/>
            </a:solidFill>
            <a:prstDash val="solid"/>
          </a:ln>
        </p:spPr>
        <p:txBody>
          <a:bodyPr/>
          <a:lstStyle/>
          <a:p>
            <a:endParaRPr lang="en-US"/>
          </a:p>
        </p:txBody>
      </p:sp>
      <p:sp>
        <p:nvSpPr>
          <p:cNvPr id="27" name="Text 25"/>
          <p:cNvSpPr/>
          <p:nvPr/>
        </p:nvSpPr>
        <p:spPr>
          <a:xfrm>
            <a:off x="6967728" y="3511296"/>
            <a:ext cx="4389120" cy="237744"/>
          </a:xfrm>
          <a:prstGeom prst="rect">
            <a:avLst/>
          </a:prstGeom>
          <a:noFill/>
          <a:ln/>
        </p:spPr>
        <p:txBody>
          <a:bodyPr wrap="square" lIns="0" tIns="0" rIns="0" bIns="0" rtlCol="0" anchor="ctr">
            <a:normAutofit/>
          </a:bodyPr>
          <a:lstStyle/>
          <a:p>
            <a:pPr marL="0" indent="0">
              <a:buNone/>
            </a:pPr>
            <a:r>
              <a:rPr lang="en-US" sz="1400" b="1" dirty="0">
                <a:solidFill>
                  <a:srgbClr val="0F172A"/>
                </a:solidFill>
                <a:latin typeface="Aptos" pitchFamily="34" charset="0"/>
                <a:ea typeface="Aptos" pitchFamily="34" charset="-122"/>
                <a:cs typeface="Aptos" pitchFamily="34" charset="-120"/>
              </a:rPr>
              <a:t>Reasoning &amp; synthesis</a:t>
            </a:r>
            <a:endParaRPr lang="en-US" sz="1400" dirty="0"/>
          </a:p>
        </p:txBody>
      </p:sp>
      <p:sp>
        <p:nvSpPr>
          <p:cNvPr id="28" name="Text 26"/>
          <p:cNvSpPr/>
          <p:nvPr/>
        </p:nvSpPr>
        <p:spPr>
          <a:xfrm>
            <a:off x="6967728" y="3803904"/>
            <a:ext cx="4389120" cy="219456"/>
          </a:xfrm>
          <a:prstGeom prst="rect">
            <a:avLst/>
          </a:prstGeom>
          <a:noFill/>
          <a:ln/>
        </p:spPr>
        <p:txBody>
          <a:bodyPr wrap="square" lIns="0" tIns="0" rIns="0" bIns="0" rtlCol="0" anchor="ctr">
            <a:normAutofit/>
          </a:bodyPr>
          <a:lstStyle/>
          <a:p>
            <a:pPr marL="0" indent="0">
              <a:buNone/>
            </a:pPr>
            <a:r>
              <a:rPr lang="en-US" sz="1200" dirty="0">
                <a:solidFill>
                  <a:srgbClr val="334155"/>
                </a:solidFill>
                <a:latin typeface="Aptos" pitchFamily="34" charset="0"/>
                <a:ea typeface="Aptos" pitchFamily="34" charset="-122"/>
                <a:cs typeface="Aptos" pitchFamily="34" charset="-120"/>
              </a:rPr>
              <a:t>Multi-model, multi-modal, lateral hypotheses</a:t>
            </a:r>
            <a:endParaRPr lang="en-US" sz="1200" dirty="0"/>
          </a:p>
        </p:txBody>
      </p:sp>
      <p:sp>
        <p:nvSpPr>
          <p:cNvPr id="29" name="Text 27"/>
          <p:cNvSpPr/>
          <p:nvPr/>
        </p:nvSpPr>
        <p:spPr>
          <a:xfrm>
            <a:off x="6967728" y="4078224"/>
            <a:ext cx="4389120" cy="219456"/>
          </a:xfrm>
          <a:prstGeom prst="rect">
            <a:avLst/>
          </a:prstGeom>
          <a:noFill/>
          <a:ln/>
        </p:spPr>
        <p:txBody>
          <a:bodyPr wrap="square" lIns="0" tIns="0" rIns="0" bIns="0" rtlCol="0" anchor="ctr">
            <a:normAutofit/>
          </a:bodyPr>
          <a:lstStyle/>
          <a:p>
            <a:pPr marL="0" indent="0">
              <a:buNone/>
            </a:pPr>
            <a:r>
              <a:rPr lang="en-US" sz="1100" i="1" dirty="0">
                <a:solidFill>
                  <a:srgbClr val="64748B"/>
                </a:solidFill>
                <a:latin typeface="Aptos" pitchFamily="34" charset="0"/>
                <a:ea typeface="Aptos" pitchFamily="34" charset="-122"/>
                <a:cs typeface="Aptos" pitchFamily="34" charset="-120"/>
              </a:rPr>
              <a:t>here: Llama and Mistral for different tasks</a:t>
            </a:r>
            <a:endParaRPr lang="en-US" sz="1100" dirty="0"/>
          </a:p>
        </p:txBody>
      </p:sp>
      <p:sp>
        <p:nvSpPr>
          <p:cNvPr id="30" name="Shape 28"/>
          <p:cNvSpPr/>
          <p:nvPr/>
        </p:nvSpPr>
        <p:spPr>
          <a:xfrm>
            <a:off x="6766560" y="4553712"/>
            <a:ext cx="4754880" cy="1024128"/>
          </a:xfrm>
          <a:prstGeom prst="roundRect">
            <a:avLst>
              <a:gd name="adj" fmla="val 7143"/>
            </a:avLst>
          </a:prstGeom>
          <a:solidFill>
            <a:srgbClr val="EDE9FE"/>
          </a:solidFill>
          <a:ln w="12700">
            <a:solidFill>
              <a:srgbClr val="6D28D9"/>
            </a:solidFill>
            <a:prstDash val="solid"/>
          </a:ln>
        </p:spPr>
        <p:txBody>
          <a:bodyPr/>
          <a:lstStyle/>
          <a:p>
            <a:endParaRPr lang="en-US"/>
          </a:p>
        </p:txBody>
      </p:sp>
      <p:sp>
        <p:nvSpPr>
          <p:cNvPr id="31" name="Text 29"/>
          <p:cNvSpPr/>
          <p:nvPr/>
        </p:nvSpPr>
        <p:spPr>
          <a:xfrm>
            <a:off x="6967728" y="4681728"/>
            <a:ext cx="4389120" cy="237744"/>
          </a:xfrm>
          <a:prstGeom prst="rect">
            <a:avLst/>
          </a:prstGeom>
          <a:noFill/>
          <a:ln/>
        </p:spPr>
        <p:txBody>
          <a:bodyPr wrap="square" lIns="0" tIns="0" rIns="0" bIns="0" rtlCol="0" anchor="ctr">
            <a:normAutofit/>
          </a:bodyPr>
          <a:lstStyle/>
          <a:p>
            <a:pPr marL="0" indent="0">
              <a:buNone/>
            </a:pPr>
            <a:r>
              <a:rPr lang="en-US" sz="1400" b="1" dirty="0">
                <a:solidFill>
                  <a:srgbClr val="0F172A"/>
                </a:solidFill>
                <a:latin typeface="Aptos" pitchFamily="34" charset="0"/>
                <a:ea typeface="Aptos" pitchFamily="34" charset="-122"/>
                <a:cs typeface="Aptos" pitchFamily="34" charset="-120"/>
              </a:rPr>
              <a:t>Prototyping &amp; pipelines</a:t>
            </a:r>
            <a:endParaRPr lang="en-US" sz="1400" dirty="0"/>
          </a:p>
        </p:txBody>
      </p:sp>
      <p:sp>
        <p:nvSpPr>
          <p:cNvPr id="32" name="Text 30"/>
          <p:cNvSpPr/>
          <p:nvPr/>
        </p:nvSpPr>
        <p:spPr>
          <a:xfrm>
            <a:off x="6967728" y="4974336"/>
            <a:ext cx="4389120" cy="219456"/>
          </a:xfrm>
          <a:prstGeom prst="rect">
            <a:avLst/>
          </a:prstGeom>
          <a:noFill/>
          <a:ln/>
        </p:spPr>
        <p:txBody>
          <a:bodyPr wrap="square" lIns="0" tIns="0" rIns="0" bIns="0" rtlCol="0" anchor="ctr">
            <a:normAutofit/>
          </a:bodyPr>
          <a:lstStyle/>
          <a:p>
            <a:pPr marL="0" indent="0">
              <a:buNone/>
            </a:pPr>
            <a:r>
              <a:rPr lang="en-US" sz="1200" dirty="0">
                <a:solidFill>
                  <a:srgbClr val="334155"/>
                </a:solidFill>
                <a:latin typeface="Aptos" pitchFamily="34" charset="0"/>
                <a:ea typeface="Aptos" pitchFamily="34" charset="-122"/>
                <a:cs typeface="Aptos" pitchFamily="34" charset="-120"/>
              </a:rPr>
              <a:t>Turn intent into reproducible pipelines</a:t>
            </a:r>
            <a:endParaRPr lang="en-US" sz="1200" dirty="0"/>
          </a:p>
        </p:txBody>
      </p:sp>
      <p:sp>
        <p:nvSpPr>
          <p:cNvPr id="33" name="Text 31"/>
          <p:cNvSpPr/>
          <p:nvPr/>
        </p:nvSpPr>
        <p:spPr>
          <a:xfrm>
            <a:off x="6967728" y="5248656"/>
            <a:ext cx="4389120" cy="219456"/>
          </a:xfrm>
          <a:prstGeom prst="rect">
            <a:avLst/>
          </a:prstGeom>
          <a:noFill/>
          <a:ln/>
        </p:spPr>
        <p:txBody>
          <a:bodyPr wrap="square" lIns="0" tIns="0" rIns="0" bIns="0" rtlCol="0" anchor="ctr">
            <a:normAutofit/>
          </a:bodyPr>
          <a:lstStyle/>
          <a:p>
            <a:pPr marL="0" indent="0">
              <a:buNone/>
            </a:pPr>
            <a:r>
              <a:rPr lang="en-US" sz="1100" i="1" dirty="0">
                <a:solidFill>
                  <a:srgbClr val="64748B"/>
                </a:solidFill>
                <a:latin typeface="Aptos" pitchFamily="34" charset="0"/>
                <a:ea typeface="Aptos" pitchFamily="34" charset="-122"/>
                <a:cs typeface="Aptos" pitchFamily="34" charset="-120"/>
              </a:rPr>
              <a:t>here: agentic generation under a pinned contract</a:t>
            </a:r>
            <a:endParaRPr lang="en-US" sz="1100" dirty="0"/>
          </a:p>
        </p:txBody>
      </p:sp>
      <p:sp>
        <p:nvSpPr>
          <p:cNvPr id="34" name="Text 32"/>
          <p:cNvSpPr/>
          <p:nvPr/>
        </p:nvSpPr>
        <p:spPr>
          <a:xfrm>
            <a:off x="731520" y="5806440"/>
            <a:ext cx="10698480" cy="320040"/>
          </a:xfrm>
          <a:prstGeom prst="rect">
            <a:avLst/>
          </a:prstGeom>
          <a:noFill/>
          <a:ln/>
        </p:spPr>
        <p:txBody>
          <a:bodyPr wrap="square" lIns="0" tIns="0" rIns="0" bIns="0" rtlCol="0" anchor="ctr">
            <a:normAutofit/>
          </a:bodyPr>
          <a:lstStyle/>
          <a:p>
            <a:pPr marL="0" indent="0" algn="ctr">
              <a:buNone/>
            </a:pPr>
            <a:r>
              <a:rPr lang="en-US" sz="1500" b="1" dirty="0">
                <a:solidFill>
                  <a:srgbClr val="0F172A"/>
                </a:solidFill>
                <a:latin typeface="Aptos" pitchFamily="34" charset="0"/>
                <a:ea typeface="Aptos" pitchFamily="34" charset="-122"/>
                <a:cs typeface="Aptos" pitchFamily="34" charset="-120"/>
              </a:rPr>
              <a:t>Engaging with the newest abstraction layer is not a retreat from rigor — it is where the rigor now applies.</a:t>
            </a:r>
            <a:endParaRPr lang="en-US" sz="1500" dirty="0"/>
          </a:p>
        </p:txBody>
      </p:sp>
      <p:sp>
        <p:nvSpPr>
          <p:cNvPr id="3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F172A"/>
          </a:solidFill>
          <a:ln w="12700">
            <a:solidFill>
              <a:srgbClr val="0F172A"/>
            </a:solidFill>
            <a:prstDash val="solid"/>
          </a:ln>
        </p:spPr>
        <p:txBody>
          <a:bodyPr/>
          <a:lstStyle/>
          <a:p>
            <a:endParaRPr lang="en-US"/>
          </a:p>
        </p:txBody>
      </p:sp>
      <p:sp>
        <p:nvSpPr>
          <p:cNvPr id="3" name="Shape 1"/>
          <p:cNvSpPr/>
          <p:nvPr/>
        </p:nvSpPr>
        <p:spPr>
          <a:xfrm>
            <a:off x="640080" y="960120"/>
            <a:ext cx="109728" cy="4480560"/>
          </a:xfrm>
          <a:prstGeom prst="rect">
            <a:avLst/>
          </a:prstGeom>
          <a:solidFill>
            <a:srgbClr val="6D28D9"/>
          </a:solidFill>
          <a:ln w="12700">
            <a:solidFill>
              <a:srgbClr val="6D28D9"/>
            </a:solidFill>
            <a:prstDash val="solid"/>
          </a:ln>
        </p:spPr>
        <p:txBody>
          <a:bodyPr/>
          <a:lstStyle/>
          <a:p>
            <a:endParaRPr lang="en-US"/>
          </a:p>
        </p:txBody>
      </p:sp>
      <p:sp>
        <p:nvSpPr>
          <p:cNvPr id="4" name="Text 2"/>
          <p:cNvSpPr/>
          <p:nvPr/>
        </p:nvSpPr>
        <p:spPr>
          <a:xfrm>
            <a:off x="1024128" y="960120"/>
            <a:ext cx="2011680" cy="1097280"/>
          </a:xfrm>
          <a:prstGeom prst="rect">
            <a:avLst/>
          </a:prstGeom>
          <a:noFill/>
          <a:ln/>
        </p:spPr>
        <p:txBody>
          <a:bodyPr wrap="square" lIns="0" tIns="0" rIns="0" bIns="0" rtlCol="0" anchor="ctr">
            <a:normAutofit/>
          </a:bodyPr>
          <a:lstStyle/>
          <a:p>
            <a:pPr marL="0" indent="0">
              <a:buNone/>
            </a:pPr>
            <a:r>
              <a:rPr lang="en-US" sz="5800" b="1" dirty="0">
                <a:solidFill>
                  <a:srgbClr val="6D28D9"/>
                </a:solidFill>
                <a:latin typeface="Aptos" pitchFamily="34" charset="0"/>
                <a:ea typeface="Aptos" pitchFamily="34" charset="-122"/>
                <a:cs typeface="Aptos" pitchFamily="34" charset="-120"/>
              </a:rPr>
              <a:t>03</a:t>
            </a:r>
            <a:endParaRPr lang="en-US" sz="5800" dirty="0"/>
          </a:p>
        </p:txBody>
      </p:sp>
      <p:sp>
        <p:nvSpPr>
          <p:cNvPr id="5" name="Text 3"/>
          <p:cNvSpPr/>
          <p:nvPr/>
        </p:nvSpPr>
        <p:spPr>
          <a:xfrm>
            <a:off x="1024128" y="2148840"/>
            <a:ext cx="9784080" cy="10058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Aptos" pitchFamily="34" charset="0"/>
                <a:ea typeface="Aptos" pitchFamily="34" charset="-122"/>
                <a:cs typeface="Aptos" pitchFamily="34" charset="-120"/>
              </a:rPr>
              <a:t>Architecture: make the invisible system visible</a:t>
            </a:r>
            <a:endParaRPr lang="en-US" sz="3200" dirty="0"/>
          </a:p>
        </p:txBody>
      </p:sp>
      <p:sp>
        <p:nvSpPr>
          <p:cNvPr id="6" name="Text 4"/>
          <p:cNvSpPr/>
          <p:nvPr/>
        </p:nvSpPr>
        <p:spPr>
          <a:xfrm>
            <a:off x="1060704" y="4645152"/>
            <a:ext cx="8595360" cy="658368"/>
          </a:xfrm>
          <a:prstGeom prst="rect">
            <a:avLst/>
          </a:prstGeom>
          <a:noFill/>
          <a:ln/>
        </p:spPr>
        <p:txBody>
          <a:bodyPr wrap="square" lIns="0" tIns="0" rIns="0" bIns="0" rtlCol="0" anchor="ctr">
            <a:normAutofit/>
          </a:bodyPr>
          <a:lstStyle/>
          <a:p>
            <a:pPr marL="0" indent="0">
              <a:buNone/>
            </a:pPr>
            <a:r>
              <a:rPr lang="en-US" sz="1900" i="1" dirty="0">
                <a:solidFill>
                  <a:srgbClr val="E2E8F0"/>
                </a:solidFill>
                <a:latin typeface="Aptos" pitchFamily="34" charset="0"/>
                <a:ea typeface="Aptos" pitchFamily="34" charset="-122"/>
                <a:cs typeface="Aptos" pitchFamily="34" charset="-120"/>
              </a:rPr>
              <a:t>The goal is not to make the model sound confident.</a:t>
            </a:r>
            <a:endParaRPr lang="en-US" sz="1900" dirty="0"/>
          </a:p>
          <a:p>
            <a:pPr marL="0" indent="0">
              <a:buNone/>
            </a:pPr>
            <a:r>
              <a:rPr lang="en-US" sz="1900" i="1" dirty="0">
                <a:solidFill>
                  <a:srgbClr val="E2E8F0"/>
                </a:solidFill>
                <a:latin typeface="Aptos" pitchFamily="34" charset="0"/>
                <a:ea typeface="Aptos" pitchFamily="34" charset="-122"/>
                <a:cs typeface="Aptos" pitchFamily="34" charset="-120"/>
              </a:rPr>
              <a:t>The goal is to make the system useful, inspectable, and honest.</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94F7A-BBCB-0744-43E1-D5943ABC6D5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7EF66A7-9DD4-17CF-ECDC-175D595CADD4}"/>
              </a:ext>
            </a:extLst>
          </p:cNvPr>
          <p:cNvSpPr/>
          <p:nvPr/>
        </p:nvSpPr>
        <p:spPr>
          <a:xfrm>
            <a:off x="502920" y="292608"/>
            <a:ext cx="4114800" cy="201168"/>
          </a:xfrm>
          <a:prstGeom prst="rect">
            <a:avLst/>
          </a:prstGeom>
          <a:noFill/>
          <a:ln/>
        </p:spPr>
        <p:txBody>
          <a:bodyPr wrap="square" lIns="0" tIns="0" rIns="0" bIns="0" rtlCol="0" anchor="ctr">
            <a:normAutofit/>
          </a:bodyPr>
          <a:lstStyle/>
          <a:p>
            <a:pPr marL="0" indent="0">
              <a:buNone/>
            </a:pPr>
            <a:endParaRPr lang="en-US" sz="900" dirty="0"/>
          </a:p>
        </p:txBody>
      </p:sp>
      <p:sp>
        <p:nvSpPr>
          <p:cNvPr id="25" name="Slide Number Placeholder 0">
            <a:extLst>
              <a:ext uri="{FF2B5EF4-FFF2-40B4-BE49-F238E27FC236}">
                <a16:creationId xmlns:a16="http://schemas.microsoft.com/office/drawing/2014/main" id="{E759E519-06A1-0F34-9BA7-11B1299ACE9B}"/>
              </a:ext>
            </a:extLst>
          </p:cNvPr>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16</a:t>
            </a:fld>
            <a:endParaRPr lang="en-US"/>
          </a:p>
        </p:txBody>
      </p:sp>
      <p:sp>
        <p:nvSpPr>
          <p:cNvPr id="17" name="TextBox 16">
            <a:extLst>
              <a:ext uri="{FF2B5EF4-FFF2-40B4-BE49-F238E27FC236}">
                <a16:creationId xmlns:a16="http://schemas.microsoft.com/office/drawing/2014/main" id="{D79A3B3D-B65B-9294-1B46-635FF50F81CE}"/>
              </a:ext>
            </a:extLst>
          </p:cNvPr>
          <p:cNvSpPr txBox="1"/>
          <p:nvPr/>
        </p:nvSpPr>
        <p:spPr>
          <a:xfrm>
            <a:off x="502920" y="595563"/>
            <a:ext cx="11203806" cy="3970318"/>
          </a:xfrm>
          <a:prstGeom prst="rect">
            <a:avLst/>
          </a:prstGeom>
          <a:noFill/>
        </p:spPr>
        <p:txBody>
          <a:bodyPr wrap="square" rtlCol="0">
            <a:spAutoFit/>
          </a:bodyPr>
          <a:lstStyle/>
          <a:p>
            <a:pPr marL="285750" indent="-285750">
              <a:buFont typeface="Arial" panose="020B0604020202020204" pitchFamily="34" charset="0"/>
              <a:buChar char="•"/>
            </a:pPr>
            <a:r>
              <a:rPr lang="en-US" dirty="0"/>
              <a:t>End-to-End System Architecture Specification</a:t>
            </a:r>
          </a:p>
          <a:p>
            <a:pPr marL="742950" lvl="1" indent="-285750">
              <a:buFont typeface="Arial" panose="020B0604020202020204" pitchFamily="34" charset="0"/>
              <a:buChar char="•"/>
            </a:pPr>
            <a:r>
              <a:rPr lang="en-US" dirty="0">
                <a:hlinkClick r:id="rId3"/>
              </a:rPr>
              <a:t>http://localhost:13000/docs/diagrams/architecture_diagrams.pdf</a:t>
            </a:r>
            <a:r>
              <a:rPr lang="en-US" dirty="0"/>
              <a:t> </a:t>
            </a:r>
          </a:p>
          <a:p>
            <a:endParaRPr lang="en-US" dirty="0"/>
          </a:p>
          <a:p>
            <a:pPr marL="285750" indent="-285750">
              <a:buFont typeface="Arial" panose="020B0604020202020204" pitchFamily="34" charset="0"/>
              <a:buChar char="•"/>
            </a:pPr>
            <a:r>
              <a:rPr lang="en-US" dirty="0"/>
              <a:t>Retrieval-Augmented Generation (RAG) Architecture</a:t>
            </a:r>
          </a:p>
          <a:p>
            <a:pPr marL="742950" lvl="1" indent="-285750">
              <a:buFont typeface="Arial" panose="020B0604020202020204" pitchFamily="34" charset="0"/>
              <a:buChar char="•"/>
            </a:pPr>
            <a:r>
              <a:rPr lang="en-US" dirty="0">
                <a:hlinkClick r:id="rId4"/>
              </a:rPr>
              <a:t>http://localhost:13000/docs/rag-architecture-comparison.html</a:t>
            </a:r>
            <a:r>
              <a:rPr lang="en-US" dirty="0"/>
              <a:t>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The flow</a:t>
            </a:r>
          </a:p>
          <a:p>
            <a:pPr marL="742950" lvl="1" indent="-285750">
              <a:buFont typeface="Arial" panose="020B0604020202020204" pitchFamily="34" charset="0"/>
              <a:buChar char="•"/>
            </a:pPr>
            <a:r>
              <a:rPr lang="en-US" dirty="0">
                <a:hlinkClick r:id="rId5"/>
              </a:rPr>
              <a:t>http://localhost:13000/docs/diagrams/document_ingestion_rag.pdf</a:t>
            </a:r>
            <a:r>
              <a:rPr lang="en-US" dirty="0"/>
              <a:t> </a:t>
            </a:r>
          </a:p>
          <a:p>
            <a:endParaRPr lang="en-US" dirty="0"/>
          </a:p>
          <a:p>
            <a:pPr marL="285750" indent="-285750">
              <a:buFont typeface="Arial" panose="020B0604020202020204" pitchFamily="34" charset="0"/>
              <a:buChar char="•"/>
            </a:pPr>
            <a:r>
              <a:rPr lang="en-US" dirty="0"/>
              <a:t>Technical Docs</a:t>
            </a:r>
          </a:p>
          <a:p>
            <a:pPr marL="742950" lvl="1" indent="-285750">
              <a:buFont typeface="Arial" panose="020B0604020202020204" pitchFamily="34" charset="0"/>
              <a:buChar char="•"/>
            </a:pPr>
            <a:r>
              <a:rPr lang="en-US" dirty="0"/>
              <a:t>Frontend - </a:t>
            </a:r>
            <a:r>
              <a:rPr lang="en-US" dirty="0">
                <a:hlinkClick r:id="rId6"/>
              </a:rPr>
              <a:t>http://localhost:13000/docs/frontend-architecture.html</a:t>
            </a:r>
            <a:r>
              <a:rPr lang="en-US" dirty="0"/>
              <a:t> </a:t>
            </a:r>
          </a:p>
          <a:p>
            <a:pPr marL="742950" lvl="1" indent="-285750">
              <a:buFont typeface="Arial" panose="020B0604020202020204" pitchFamily="34" charset="0"/>
              <a:buChar char="•"/>
            </a:pPr>
            <a:r>
              <a:rPr lang="en-US" dirty="0"/>
              <a:t>Backend  - </a:t>
            </a:r>
            <a:r>
              <a:rPr lang="en-US" dirty="0">
                <a:hlinkClick r:id="rId7"/>
              </a:rPr>
              <a:t>http://localhost:13000/docs/backend-architecture.html</a:t>
            </a:r>
            <a:endParaRPr lang="en-US" dirty="0"/>
          </a:p>
          <a:p>
            <a:pPr marL="742950" lvl="1" indent="-285750">
              <a:buFont typeface="Arial" panose="020B0604020202020204" pitchFamily="34" charset="0"/>
              <a:buChar char="•"/>
            </a:pPr>
            <a:r>
              <a:rPr lang="en-US" dirty="0"/>
              <a:t>DevOps   -  </a:t>
            </a:r>
            <a:r>
              <a:rPr lang="en-US" dirty="0">
                <a:hlinkClick r:id="rId8"/>
              </a:rPr>
              <a:t>http://localhost:13000/docs/devops-guide.html</a:t>
            </a:r>
            <a:r>
              <a:rPr lang="en-US" dirty="0"/>
              <a:t> </a:t>
            </a:r>
            <a:br>
              <a:rPr lang="en-US" dirty="0"/>
            </a:br>
            <a:endParaRPr lang="en-US" dirty="0"/>
          </a:p>
        </p:txBody>
      </p:sp>
    </p:spTree>
    <p:extLst>
      <p:ext uri="{BB962C8B-B14F-4D97-AF65-F5344CB8AC3E}">
        <p14:creationId xmlns:p14="http://schemas.microsoft.com/office/powerpoint/2010/main" val="28335851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marL="0" indent="0">
              <a:buNone/>
            </a:pPr>
            <a:r>
              <a:rPr lang="en-US" sz="900" b="1" kern="0" spc="110" dirty="0">
                <a:solidFill>
                  <a:srgbClr val="0F766E"/>
                </a:solidFill>
                <a:latin typeface="Aptos" pitchFamily="34" charset="0"/>
                <a:ea typeface="Aptos" pitchFamily="34" charset="-122"/>
                <a:cs typeface="Aptos" pitchFamily="34" charset="-120"/>
              </a:rPr>
              <a:t>POLYGLOT PERSISTENCE</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marL="0" indent="0">
              <a:buNone/>
            </a:pPr>
            <a:r>
              <a:rPr lang="en-US" sz="2700" b="1" dirty="0">
                <a:solidFill>
                  <a:srgbClr val="0F172A"/>
                </a:solidFill>
                <a:latin typeface="Aptos" pitchFamily="34" charset="0"/>
                <a:ea typeface="Aptos" pitchFamily="34" charset="-122"/>
                <a:cs typeface="Aptos" pitchFamily="34" charset="-120"/>
              </a:rPr>
              <a:t>One document, different questions, different stores</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marL="0" indent="0">
              <a:buNone/>
            </a:pPr>
            <a:r>
              <a:rPr lang="en-US" sz="1200" dirty="0">
                <a:solidFill>
                  <a:srgbClr val="64748B"/>
                </a:solidFill>
                <a:latin typeface="Aptos" pitchFamily="34" charset="0"/>
                <a:ea typeface="Aptos" pitchFamily="34" charset="-122"/>
                <a:cs typeface="Aptos" pitchFamily="34" charset="-120"/>
              </a:rPr>
              <a:t>MongoDB is the system of record; Qdrant is the semantic index.</a:t>
            </a:r>
            <a:endParaRPr lang="en-US" sz="1200" dirty="0"/>
          </a:p>
        </p:txBody>
      </p:sp>
      <p:sp>
        <p:nvSpPr>
          <p:cNvPr id="5" name="Shape 3"/>
          <p:cNvSpPr/>
          <p:nvPr/>
        </p:nvSpPr>
        <p:spPr>
          <a:xfrm>
            <a:off x="777240" y="1737360"/>
            <a:ext cx="5074920" cy="3337560"/>
          </a:xfrm>
          <a:prstGeom prst="roundRect">
            <a:avLst>
              <a:gd name="adj" fmla="val 2192"/>
            </a:avLst>
          </a:prstGeom>
          <a:solidFill>
            <a:srgbClr val="FFFFFF"/>
          </a:solidFill>
          <a:ln w="12700">
            <a:solidFill>
              <a:srgbClr val="CBD5E1"/>
            </a:solidFill>
            <a:prstDash val="solid"/>
          </a:ln>
        </p:spPr>
        <p:txBody>
          <a:bodyPr/>
          <a:lstStyle/>
          <a:p>
            <a:endParaRPr lang="en-US"/>
          </a:p>
        </p:txBody>
      </p:sp>
      <p:sp>
        <p:nvSpPr>
          <p:cNvPr id="6" name="Text 4"/>
          <p:cNvSpPr/>
          <p:nvPr/>
        </p:nvSpPr>
        <p:spPr>
          <a:xfrm>
            <a:off x="1051560" y="2057400"/>
            <a:ext cx="4480560" cy="274320"/>
          </a:xfrm>
          <a:prstGeom prst="rect">
            <a:avLst/>
          </a:prstGeom>
          <a:noFill/>
          <a:ln/>
        </p:spPr>
        <p:txBody>
          <a:bodyPr wrap="square" lIns="0" tIns="0" rIns="0" bIns="0" rtlCol="0" anchor="ctr">
            <a:normAutofit fontScale="92500" lnSpcReduction="10000"/>
          </a:bodyPr>
          <a:lstStyle/>
          <a:p>
            <a:pPr marL="0" indent="0">
              <a:buNone/>
            </a:pPr>
            <a:r>
              <a:rPr lang="en-US" sz="2100" b="1" dirty="0">
                <a:solidFill>
                  <a:srgbClr val="0F766E"/>
                </a:solidFill>
                <a:latin typeface="Aptos" pitchFamily="34" charset="0"/>
                <a:ea typeface="Aptos" pitchFamily="34" charset="-122"/>
                <a:cs typeface="Aptos" pitchFamily="34" charset="-120"/>
              </a:rPr>
              <a:t>MongoDB — authoritative record</a:t>
            </a:r>
            <a:endParaRPr lang="en-US" sz="2100" dirty="0"/>
          </a:p>
        </p:txBody>
      </p:sp>
      <p:sp>
        <p:nvSpPr>
          <p:cNvPr id="7" name="Text 5"/>
          <p:cNvSpPr/>
          <p:nvPr/>
        </p:nvSpPr>
        <p:spPr>
          <a:xfrm>
            <a:off x="1097280" y="2651760"/>
            <a:ext cx="4206240" cy="347472"/>
          </a:xfrm>
          <a:prstGeom prst="rect">
            <a:avLst/>
          </a:prstGeom>
          <a:noFill/>
          <a:ln/>
        </p:spPr>
        <p:txBody>
          <a:bodyPr wrap="square" lIns="0" tIns="0" rIns="0" bIns="0" rtlCol="0" anchor="ctr">
            <a:normAutofit/>
          </a:bodyPr>
          <a:lstStyle/>
          <a:p>
            <a:pPr marL="177800" indent="-177800">
              <a:buSzPct val="100000"/>
              <a:buChar char="•"/>
            </a:pPr>
            <a:r>
              <a:rPr lang="en-US" sz="1600" dirty="0">
                <a:solidFill>
                  <a:srgbClr val="0F172A"/>
                </a:solidFill>
                <a:latin typeface="Aptos" pitchFamily="34" charset="0"/>
                <a:ea typeface="Aptos" pitchFamily="34" charset="-122"/>
                <a:cs typeface="Aptos" pitchFamily="34" charset="-120"/>
              </a:rPr>
              <a:t>document metadata and BibTeX</a:t>
            </a:r>
            <a:endParaRPr lang="en-US" sz="1600" dirty="0"/>
          </a:p>
        </p:txBody>
      </p:sp>
      <p:sp>
        <p:nvSpPr>
          <p:cNvPr id="8" name="Text 6"/>
          <p:cNvSpPr/>
          <p:nvPr/>
        </p:nvSpPr>
        <p:spPr>
          <a:xfrm>
            <a:off x="1097280" y="3246120"/>
            <a:ext cx="4206240" cy="347472"/>
          </a:xfrm>
          <a:prstGeom prst="rect">
            <a:avLst/>
          </a:prstGeom>
          <a:noFill/>
          <a:ln/>
        </p:spPr>
        <p:txBody>
          <a:bodyPr wrap="square" lIns="0" tIns="0" rIns="0" bIns="0" rtlCol="0" anchor="ctr">
            <a:normAutofit/>
          </a:bodyPr>
          <a:lstStyle/>
          <a:p>
            <a:pPr marL="177800" indent="-177800">
              <a:buSzPct val="100000"/>
              <a:buChar char="•"/>
            </a:pPr>
            <a:r>
              <a:rPr lang="en-US" sz="1600" dirty="0">
                <a:solidFill>
                  <a:srgbClr val="0F172A"/>
                </a:solidFill>
                <a:latin typeface="Aptos" pitchFamily="34" charset="0"/>
                <a:ea typeface="Aptos" pitchFamily="34" charset="-122"/>
                <a:cs typeface="Aptos" pitchFamily="34" charset="-120"/>
              </a:rPr>
              <a:t>current content and summaries</a:t>
            </a:r>
            <a:endParaRPr lang="en-US" sz="1600" dirty="0"/>
          </a:p>
        </p:txBody>
      </p:sp>
      <p:sp>
        <p:nvSpPr>
          <p:cNvPr id="9" name="Text 7"/>
          <p:cNvSpPr/>
          <p:nvPr/>
        </p:nvSpPr>
        <p:spPr>
          <a:xfrm>
            <a:off x="1097280" y="3840480"/>
            <a:ext cx="4206240" cy="347472"/>
          </a:xfrm>
          <a:prstGeom prst="rect">
            <a:avLst/>
          </a:prstGeom>
          <a:noFill/>
          <a:ln/>
        </p:spPr>
        <p:txBody>
          <a:bodyPr wrap="square" lIns="0" tIns="0" rIns="0" bIns="0" rtlCol="0" anchor="ctr">
            <a:normAutofit/>
          </a:bodyPr>
          <a:lstStyle/>
          <a:p>
            <a:pPr marL="177800" indent="-177800">
              <a:buSzPct val="100000"/>
              <a:buChar char="•"/>
            </a:pPr>
            <a:r>
              <a:rPr lang="en-US" sz="1600" dirty="0">
                <a:solidFill>
                  <a:srgbClr val="0F172A"/>
                </a:solidFill>
                <a:latin typeface="Aptos" pitchFamily="34" charset="0"/>
                <a:ea typeface="Aptos" pitchFamily="34" charset="-122"/>
                <a:cs typeface="Aptos" pitchFamily="34" charset="-120"/>
              </a:rPr>
              <a:t>version history and rollback</a:t>
            </a:r>
            <a:endParaRPr lang="en-US" sz="1600" dirty="0"/>
          </a:p>
        </p:txBody>
      </p:sp>
      <p:sp>
        <p:nvSpPr>
          <p:cNvPr id="10" name="Text 8"/>
          <p:cNvSpPr/>
          <p:nvPr/>
        </p:nvSpPr>
        <p:spPr>
          <a:xfrm>
            <a:off x="1097280" y="4434840"/>
            <a:ext cx="4206240" cy="347472"/>
          </a:xfrm>
          <a:prstGeom prst="rect">
            <a:avLst/>
          </a:prstGeom>
          <a:noFill/>
          <a:ln/>
        </p:spPr>
        <p:txBody>
          <a:bodyPr wrap="square" lIns="0" tIns="0" rIns="0" bIns="0" rtlCol="0" anchor="ctr">
            <a:normAutofit/>
          </a:bodyPr>
          <a:lstStyle/>
          <a:p>
            <a:pPr marL="177800" indent="-177800">
              <a:buSzPct val="100000"/>
              <a:buChar char="•"/>
            </a:pPr>
            <a:r>
              <a:rPr lang="en-US" sz="1600" dirty="0">
                <a:solidFill>
                  <a:srgbClr val="0F172A"/>
                </a:solidFill>
                <a:latin typeface="Aptos" pitchFamily="34" charset="0"/>
                <a:ea typeface="Aptos" pitchFamily="34" charset="-122"/>
                <a:cs typeface="Aptos" pitchFamily="34" charset="-120"/>
              </a:rPr>
              <a:t>transactional lifecycle queries</a:t>
            </a:r>
            <a:endParaRPr lang="en-US" sz="1600" dirty="0"/>
          </a:p>
        </p:txBody>
      </p:sp>
      <p:sp>
        <p:nvSpPr>
          <p:cNvPr id="11" name="Shape 9"/>
          <p:cNvSpPr/>
          <p:nvPr/>
        </p:nvSpPr>
        <p:spPr>
          <a:xfrm>
            <a:off x="6355080" y="1737360"/>
            <a:ext cx="5074920" cy="3337560"/>
          </a:xfrm>
          <a:prstGeom prst="roundRect">
            <a:avLst>
              <a:gd name="adj" fmla="val 2192"/>
            </a:avLst>
          </a:prstGeom>
          <a:solidFill>
            <a:srgbClr val="EDE9FE"/>
          </a:solidFill>
          <a:ln w="12700">
            <a:solidFill>
              <a:srgbClr val="6D28D9"/>
            </a:solidFill>
            <a:prstDash val="solid"/>
          </a:ln>
        </p:spPr>
        <p:txBody>
          <a:bodyPr/>
          <a:lstStyle/>
          <a:p>
            <a:endParaRPr lang="en-US"/>
          </a:p>
        </p:txBody>
      </p:sp>
      <p:sp>
        <p:nvSpPr>
          <p:cNvPr id="12" name="Text 10"/>
          <p:cNvSpPr/>
          <p:nvPr/>
        </p:nvSpPr>
        <p:spPr>
          <a:xfrm>
            <a:off x="6629400" y="2057400"/>
            <a:ext cx="4480560" cy="274320"/>
          </a:xfrm>
          <a:prstGeom prst="rect">
            <a:avLst/>
          </a:prstGeom>
          <a:noFill/>
          <a:ln/>
        </p:spPr>
        <p:txBody>
          <a:bodyPr wrap="square" lIns="0" tIns="0" rIns="0" bIns="0" rtlCol="0" anchor="ctr">
            <a:normAutofit fontScale="92500" lnSpcReduction="10000"/>
          </a:bodyPr>
          <a:lstStyle/>
          <a:p>
            <a:pPr marL="0" indent="0">
              <a:buNone/>
            </a:pPr>
            <a:r>
              <a:rPr lang="en-US" sz="2100" b="1" dirty="0">
                <a:solidFill>
                  <a:srgbClr val="6D28D9"/>
                </a:solidFill>
                <a:latin typeface="Aptos" pitchFamily="34" charset="0"/>
                <a:ea typeface="Aptos" pitchFamily="34" charset="-122"/>
                <a:cs typeface="Aptos" pitchFamily="34" charset="-120"/>
              </a:rPr>
              <a:t>Qdrant — semantic retrieval index</a:t>
            </a:r>
            <a:endParaRPr lang="en-US" sz="2100" dirty="0"/>
          </a:p>
        </p:txBody>
      </p:sp>
      <p:sp>
        <p:nvSpPr>
          <p:cNvPr id="13" name="Text 11"/>
          <p:cNvSpPr/>
          <p:nvPr/>
        </p:nvSpPr>
        <p:spPr>
          <a:xfrm>
            <a:off x="6675120" y="2651760"/>
            <a:ext cx="4206240" cy="347472"/>
          </a:xfrm>
          <a:prstGeom prst="rect">
            <a:avLst/>
          </a:prstGeom>
          <a:noFill/>
          <a:ln/>
        </p:spPr>
        <p:txBody>
          <a:bodyPr wrap="square" lIns="0" tIns="0" rIns="0" bIns="0" rtlCol="0" anchor="ctr">
            <a:normAutofit/>
          </a:bodyPr>
          <a:lstStyle/>
          <a:p>
            <a:pPr marL="177800" indent="-177800">
              <a:buSzPct val="100000"/>
              <a:buChar char="•"/>
            </a:pPr>
            <a:r>
              <a:rPr lang="en-US" sz="1600" dirty="0">
                <a:solidFill>
                  <a:srgbClr val="0F172A"/>
                </a:solidFill>
                <a:latin typeface="Aptos" pitchFamily="34" charset="0"/>
                <a:ea typeface="Aptos" pitchFamily="34" charset="-122"/>
                <a:cs typeface="Aptos" pitchFamily="34" charset="-120"/>
              </a:rPr>
              <a:t>768-dimensional embeddings</a:t>
            </a:r>
            <a:endParaRPr lang="en-US" sz="1600" dirty="0"/>
          </a:p>
        </p:txBody>
      </p:sp>
      <p:sp>
        <p:nvSpPr>
          <p:cNvPr id="14" name="Text 12"/>
          <p:cNvSpPr/>
          <p:nvPr/>
        </p:nvSpPr>
        <p:spPr>
          <a:xfrm>
            <a:off x="6675120" y="3246120"/>
            <a:ext cx="4206240" cy="347472"/>
          </a:xfrm>
          <a:prstGeom prst="rect">
            <a:avLst/>
          </a:prstGeom>
          <a:noFill/>
          <a:ln/>
        </p:spPr>
        <p:txBody>
          <a:bodyPr wrap="square" lIns="0" tIns="0" rIns="0" bIns="0" rtlCol="0" anchor="ctr">
            <a:normAutofit/>
          </a:bodyPr>
          <a:lstStyle/>
          <a:p>
            <a:pPr marL="177800" indent="-177800">
              <a:buSzPct val="100000"/>
              <a:buChar char="•"/>
            </a:pPr>
            <a:r>
              <a:rPr lang="en-US" sz="1600" dirty="0">
                <a:solidFill>
                  <a:srgbClr val="0F172A"/>
                </a:solidFill>
                <a:latin typeface="Aptos" pitchFamily="34" charset="0"/>
                <a:ea typeface="Aptos" pitchFamily="34" charset="-122"/>
                <a:cs typeface="Aptos" pitchFamily="34" charset="-120"/>
              </a:rPr>
              <a:t>cosine similarity and HNSW</a:t>
            </a:r>
            <a:endParaRPr lang="en-US" sz="1600" dirty="0"/>
          </a:p>
        </p:txBody>
      </p:sp>
      <p:sp>
        <p:nvSpPr>
          <p:cNvPr id="15" name="Text 13"/>
          <p:cNvSpPr/>
          <p:nvPr/>
        </p:nvSpPr>
        <p:spPr>
          <a:xfrm>
            <a:off x="6675120" y="3840480"/>
            <a:ext cx="4206240" cy="347472"/>
          </a:xfrm>
          <a:prstGeom prst="rect">
            <a:avLst/>
          </a:prstGeom>
          <a:noFill/>
          <a:ln/>
        </p:spPr>
        <p:txBody>
          <a:bodyPr wrap="square" lIns="0" tIns="0" rIns="0" bIns="0" rtlCol="0" anchor="ctr">
            <a:normAutofit/>
          </a:bodyPr>
          <a:lstStyle/>
          <a:p>
            <a:pPr marL="177800" indent="-177800">
              <a:buSzPct val="100000"/>
              <a:buChar char="•"/>
            </a:pPr>
            <a:r>
              <a:rPr lang="en-US" sz="1600" dirty="0">
                <a:solidFill>
                  <a:srgbClr val="0F172A"/>
                </a:solidFill>
                <a:latin typeface="Aptos" pitchFamily="34" charset="0"/>
                <a:ea typeface="Aptos" pitchFamily="34" charset="-122"/>
                <a:cs typeface="Aptos" pitchFamily="34" charset="-120"/>
              </a:rPr>
              <a:t>documentGuid payload scoping</a:t>
            </a:r>
            <a:endParaRPr lang="en-US" sz="1600" dirty="0"/>
          </a:p>
        </p:txBody>
      </p:sp>
      <p:sp>
        <p:nvSpPr>
          <p:cNvPr id="16" name="Text 14"/>
          <p:cNvSpPr/>
          <p:nvPr/>
        </p:nvSpPr>
        <p:spPr>
          <a:xfrm>
            <a:off x="6675120" y="4434840"/>
            <a:ext cx="4206240" cy="347472"/>
          </a:xfrm>
          <a:prstGeom prst="rect">
            <a:avLst/>
          </a:prstGeom>
          <a:noFill/>
          <a:ln/>
        </p:spPr>
        <p:txBody>
          <a:bodyPr wrap="square" lIns="0" tIns="0" rIns="0" bIns="0" rtlCol="0" anchor="ctr">
            <a:normAutofit/>
          </a:bodyPr>
          <a:lstStyle/>
          <a:p>
            <a:pPr marL="177800" indent="-177800">
              <a:buSzPct val="100000"/>
              <a:buChar char="•"/>
            </a:pPr>
            <a:r>
              <a:rPr lang="en-US" sz="1600" dirty="0">
                <a:solidFill>
                  <a:srgbClr val="0F172A"/>
                </a:solidFill>
                <a:latin typeface="Aptos" pitchFamily="34" charset="0"/>
                <a:ea typeface="Aptos" pitchFamily="34" charset="-122"/>
                <a:cs typeface="Aptos" pitchFamily="34" charset="-120"/>
              </a:rPr>
              <a:t>top-k context selection</a:t>
            </a:r>
            <a:endParaRPr lang="en-US" sz="1600" dirty="0"/>
          </a:p>
        </p:txBody>
      </p:sp>
      <p:sp>
        <p:nvSpPr>
          <p:cNvPr id="17" name="Text 15"/>
          <p:cNvSpPr/>
          <p:nvPr/>
        </p:nvSpPr>
        <p:spPr>
          <a:xfrm>
            <a:off x="868680" y="5623560"/>
            <a:ext cx="10561320" cy="411480"/>
          </a:xfrm>
          <a:prstGeom prst="rect">
            <a:avLst/>
          </a:prstGeom>
          <a:noFill/>
          <a:ln/>
        </p:spPr>
        <p:txBody>
          <a:bodyPr wrap="square" lIns="0" tIns="0" rIns="0" bIns="0" rtlCol="0" anchor="ctr">
            <a:normAutofit fontScale="92500" lnSpcReduction="20000"/>
          </a:bodyPr>
          <a:lstStyle/>
          <a:p>
            <a:pPr marL="0" indent="0" algn="ctr">
              <a:buNone/>
            </a:pPr>
            <a:r>
              <a:rPr lang="en-US" sz="1700" b="1" dirty="0">
                <a:solidFill>
                  <a:srgbClr val="0F172A"/>
                </a:solidFill>
                <a:latin typeface="Aptos" pitchFamily="34" charset="0"/>
                <a:ea typeface="Aptos" pitchFamily="34" charset="-122"/>
                <a:cs typeface="Aptos" pitchFamily="34" charset="-120"/>
              </a:rPr>
              <a:t>Do not ask a vector index to be your source of truth. Do not ask a document database to be your semantic search engine.</a:t>
            </a:r>
            <a:endParaRPr lang="en-US" sz="17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F172A"/>
          </a:solidFill>
          <a:ln w="12700">
            <a:solidFill>
              <a:srgbClr val="0F172A"/>
            </a:solidFill>
            <a:prstDash val="solid"/>
          </a:ln>
        </p:spPr>
        <p:txBody>
          <a:bodyPr/>
          <a:lstStyle/>
          <a:p>
            <a:endParaRPr lang="en-US"/>
          </a:p>
        </p:txBody>
      </p:sp>
      <p:sp>
        <p:nvSpPr>
          <p:cNvPr id="3" name="Shape 1"/>
          <p:cNvSpPr/>
          <p:nvPr/>
        </p:nvSpPr>
        <p:spPr>
          <a:xfrm>
            <a:off x="640080" y="960120"/>
            <a:ext cx="109728" cy="4480560"/>
          </a:xfrm>
          <a:prstGeom prst="rect">
            <a:avLst/>
          </a:prstGeom>
          <a:solidFill>
            <a:srgbClr val="B45309"/>
          </a:solidFill>
          <a:ln w="12700">
            <a:solidFill>
              <a:srgbClr val="B45309"/>
            </a:solidFill>
            <a:prstDash val="solid"/>
          </a:ln>
        </p:spPr>
        <p:txBody>
          <a:bodyPr/>
          <a:lstStyle/>
          <a:p>
            <a:endParaRPr lang="en-US"/>
          </a:p>
        </p:txBody>
      </p:sp>
      <p:sp>
        <p:nvSpPr>
          <p:cNvPr id="4" name="Text 2"/>
          <p:cNvSpPr/>
          <p:nvPr/>
        </p:nvSpPr>
        <p:spPr>
          <a:xfrm>
            <a:off x="1024128" y="960120"/>
            <a:ext cx="2011680" cy="1097280"/>
          </a:xfrm>
          <a:prstGeom prst="rect">
            <a:avLst/>
          </a:prstGeom>
          <a:noFill/>
          <a:ln/>
        </p:spPr>
        <p:txBody>
          <a:bodyPr wrap="square" lIns="0" tIns="0" rIns="0" bIns="0" rtlCol="0" anchor="ctr">
            <a:normAutofit/>
          </a:bodyPr>
          <a:lstStyle/>
          <a:p>
            <a:pPr marL="0" indent="0">
              <a:buNone/>
            </a:pPr>
            <a:r>
              <a:rPr lang="en-US" sz="5800" b="1" dirty="0">
                <a:solidFill>
                  <a:srgbClr val="B45309"/>
                </a:solidFill>
                <a:latin typeface="Aptos" pitchFamily="34" charset="0"/>
                <a:ea typeface="Aptos" pitchFamily="34" charset="-122"/>
                <a:cs typeface="Aptos" pitchFamily="34" charset="-120"/>
              </a:rPr>
              <a:t>04</a:t>
            </a:r>
            <a:endParaRPr lang="en-US" sz="5800" dirty="0"/>
          </a:p>
        </p:txBody>
      </p:sp>
      <p:sp>
        <p:nvSpPr>
          <p:cNvPr id="5" name="Text 3"/>
          <p:cNvSpPr/>
          <p:nvPr/>
        </p:nvSpPr>
        <p:spPr>
          <a:xfrm>
            <a:off x="1024128" y="2148840"/>
            <a:ext cx="9784080" cy="10058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Aptos" pitchFamily="34" charset="0"/>
                <a:ea typeface="Aptos" pitchFamily="34" charset="-122"/>
                <a:cs typeface="Aptos" pitchFamily="34" charset="-120"/>
              </a:rPr>
              <a:t>From Kansas to Vectors</a:t>
            </a:r>
            <a:endParaRPr lang="en-US" sz="3200" dirty="0"/>
          </a:p>
        </p:txBody>
      </p:sp>
      <p:sp>
        <p:nvSpPr>
          <p:cNvPr id="6" name="Text 4"/>
          <p:cNvSpPr/>
          <p:nvPr/>
        </p:nvSpPr>
        <p:spPr>
          <a:xfrm>
            <a:off x="1060704" y="4645152"/>
            <a:ext cx="8595360" cy="658368"/>
          </a:xfrm>
          <a:prstGeom prst="rect">
            <a:avLst/>
          </a:prstGeom>
          <a:noFill/>
          <a:ln/>
        </p:spPr>
        <p:txBody>
          <a:bodyPr wrap="square" lIns="0" tIns="0" rIns="0" bIns="0" rtlCol="0" anchor="ctr">
            <a:normAutofit/>
          </a:bodyPr>
          <a:lstStyle/>
          <a:p>
            <a:pPr marL="0" indent="0">
              <a:buNone/>
            </a:pPr>
            <a:r>
              <a:rPr lang="en-US" sz="1900" i="1" dirty="0">
                <a:solidFill>
                  <a:srgbClr val="E2E8F0"/>
                </a:solidFill>
                <a:latin typeface="Aptos" pitchFamily="34" charset="0"/>
                <a:ea typeface="Aptos" pitchFamily="34" charset="-122"/>
                <a:cs typeface="Aptos" pitchFamily="34" charset="-120"/>
              </a:rPr>
              <a:t>The goal is not to make the model sound confident.</a:t>
            </a:r>
            <a:endParaRPr lang="en-US" sz="1900" dirty="0"/>
          </a:p>
          <a:p>
            <a:pPr marL="0" indent="0">
              <a:buNone/>
            </a:pPr>
            <a:r>
              <a:rPr lang="en-US" sz="1900" i="1" dirty="0">
                <a:solidFill>
                  <a:srgbClr val="E2E8F0"/>
                </a:solidFill>
                <a:latin typeface="Aptos" pitchFamily="34" charset="0"/>
                <a:ea typeface="Aptos" pitchFamily="34" charset="-122"/>
                <a:cs typeface="Aptos" pitchFamily="34" charset="-120"/>
              </a:rPr>
              <a:t>The goal is to make the system useful, inspectable, and honest.</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4E6F4CF-C3CA-45BB-F42A-702C9645B426}"/>
              </a:ext>
            </a:extLst>
          </p:cNvPr>
          <p:cNvSpPr txBox="1"/>
          <p:nvPr/>
        </p:nvSpPr>
        <p:spPr>
          <a:xfrm>
            <a:off x="757989" y="956511"/>
            <a:ext cx="10665995" cy="2308324"/>
          </a:xfrm>
          <a:prstGeom prst="rect">
            <a:avLst/>
          </a:prstGeom>
          <a:noFill/>
        </p:spPr>
        <p:txBody>
          <a:bodyPr wrap="square" rtlCol="0">
            <a:spAutoFit/>
          </a:bodyPr>
          <a:lstStyle/>
          <a:p>
            <a:pPr marL="285750" indent="-285750">
              <a:buFont typeface="Arial" panose="020B0604020202020204" pitchFamily="34" charset="0"/>
              <a:buChar char="•"/>
            </a:pPr>
            <a:r>
              <a:rPr lang="en-US" b="1" dirty="0"/>
              <a:t>From Kansas to Vectors: An Illustrated Guide</a:t>
            </a:r>
          </a:p>
          <a:p>
            <a:pPr lvl="1"/>
            <a:r>
              <a:rPr lang="en-US" dirty="0">
                <a:hlinkClick r:id="rId2"/>
              </a:rPr>
              <a:t>http://localhost:13000/docs/wizard-of-oz-explainer.html</a:t>
            </a:r>
            <a:endParaRPr lang="en-US" dirty="0"/>
          </a:p>
          <a:p>
            <a:pPr lvl="1"/>
            <a:endParaRPr lang="en-US" dirty="0"/>
          </a:p>
          <a:p>
            <a:pPr marL="285750" indent="-285750">
              <a:buFont typeface="Arial" panose="020B0604020202020204" pitchFamily="34" charset="0"/>
              <a:buChar char="•"/>
            </a:pPr>
            <a:r>
              <a:rPr lang="en-US" b="1" dirty="0"/>
              <a:t>Imagine an AI that Never Guesses and Always Cites Its Sources</a:t>
            </a:r>
          </a:p>
          <a:p>
            <a:pPr lvl="1"/>
            <a:r>
              <a:rPr lang="en-US" dirty="0">
                <a:hlinkClick r:id="rId3"/>
              </a:rPr>
              <a:t>http://localhost:13000/docs/rag-explained-scratch.html</a:t>
            </a:r>
            <a:r>
              <a:rPr lang="en-US" dirty="0"/>
              <a:t>  </a:t>
            </a:r>
          </a:p>
          <a:p>
            <a:pPr lvl="1"/>
            <a:endParaRPr lang="en-US" dirty="0"/>
          </a:p>
          <a:p>
            <a:endParaRPr lang="en-US" dirty="0"/>
          </a:p>
          <a:p>
            <a:pPr lvl="1"/>
            <a:endParaRPr lang="en-US" dirty="0"/>
          </a:p>
        </p:txBody>
      </p:sp>
    </p:spTree>
    <p:extLst>
      <p:ext uri="{BB962C8B-B14F-4D97-AF65-F5344CB8AC3E}">
        <p14:creationId xmlns:p14="http://schemas.microsoft.com/office/powerpoint/2010/main" val="12369892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8">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F172A"/>
          </a:solidFill>
          <a:ln w="12700">
            <a:solidFill>
              <a:srgbClr val="0F172A"/>
            </a:solidFill>
            <a:prstDash val="solid"/>
          </a:ln>
        </p:spPr>
        <p:txBody>
          <a:bodyPr/>
          <a:lstStyle/>
          <a:p>
            <a:endParaRPr lang="en-US"/>
          </a:p>
        </p:txBody>
      </p:sp>
      <p:sp>
        <p:nvSpPr>
          <p:cNvPr id="3" name="Shape 1"/>
          <p:cNvSpPr/>
          <p:nvPr/>
        </p:nvSpPr>
        <p:spPr>
          <a:xfrm>
            <a:off x="640080" y="960120"/>
            <a:ext cx="109728" cy="4480560"/>
          </a:xfrm>
          <a:prstGeom prst="rect">
            <a:avLst/>
          </a:prstGeom>
          <a:solidFill>
            <a:srgbClr val="0F766E"/>
          </a:solidFill>
          <a:ln w="12700">
            <a:solidFill>
              <a:srgbClr val="0F766E"/>
            </a:solidFill>
            <a:prstDash val="solid"/>
          </a:ln>
        </p:spPr>
        <p:txBody>
          <a:bodyPr/>
          <a:lstStyle/>
          <a:p>
            <a:endParaRPr lang="en-US"/>
          </a:p>
        </p:txBody>
      </p:sp>
      <p:sp>
        <p:nvSpPr>
          <p:cNvPr id="4" name="Text 2"/>
          <p:cNvSpPr/>
          <p:nvPr/>
        </p:nvSpPr>
        <p:spPr>
          <a:xfrm>
            <a:off x="1024128" y="960120"/>
            <a:ext cx="2011680" cy="1097280"/>
          </a:xfrm>
          <a:prstGeom prst="rect">
            <a:avLst/>
          </a:prstGeom>
          <a:noFill/>
          <a:ln/>
        </p:spPr>
        <p:txBody>
          <a:bodyPr wrap="square" lIns="0" tIns="0" rIns="0" bIns="0" rtlCol="0" anchor="ctr">
            <a:normAutofit/>
          </a:bodyPr>
          <a:lstStyle/>
          <a:p>
            <a:pPr marL="0" indent="0">
              <a:buNone/>
            </a:pPr>
            <a:r>
              <a:rPr lang="en-US" sz="5800" b="1" dirty="0">
                <a:solidFill>
                  <a:srgbClr val="0F766E"/>
                </a:solidFill>
                <a:latin typeface="Aptos" pitchFamily="34" charset="0"/>
                <a:ea typeface="Aptos" pitchFamily="34" charset="-122"/>
                <a:cs typeface="Aptos" pitchFamily="34" charset="-120"/>
              </a:rPr>
              <a:t>05</a:t>
            </a:r>
            <a:endParaRPr lang="en-US" sz="5800" dirty="0"/>
          </a:p>
        </p:txBody>
      </p:sp>
      <p:sp>
        <p:nvSpPr>
          <p:cNvPr id="5" name="Text 3"/>
          <p:cNvSpPr/>
          <p:nvPr/>
        </p:nvSpPr>
        <p:spPr>
          <a:xfrm>
            <a:off x="1024128" y="2148840"/>
            <a:ext cx="9784080" cy="10058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Aptos" pitchFamily="34" charset="0"/>
                <a:ea typeface="Aptos" pitchFamily="34" charset="-122"/>
                <a:cs typeface="Aptos" pitchFamily="34" charset="-120"/>
              </a:rPr>
              <a:t>Evidence, economics, and lessons learned</a:t>
            </a:r>
            <a:endParaRPr lang="en-US" sz="3200" dirty="0"/>
          </a:p>
        </p:txBody>
      </p:sp>
      <p:sp>
        <p:nvSpPr>
          <p:cNvPr id="6" name="Text 4"/>
          <p:cNvSpPr/>
          <p:nvPr/>
        </p:nvSpPr>
        <p:spPr>
          <a:xfrm>
            <a:off x="1060704" y="4645152"/>
            <a:ext cx="8595360" cy="658368"/>
          </a:xfrm>
          <a:prstGeom prst="rect">
            <a:avLst/>
          </a:prstGeom>
          <a:noFill/>
          <a:ln/>
        </p:spPr>
        <p:txBody>
          <a:bodyPr wrap="square" lIns="0" tIns="0" rIns="0" bIns="0" rtlCol="0" anchor="ctr">
            <a:normAutofit/>
          </a:bodyPr>
          <a:lstStyle/>
          <a:p>
            <a:pPr marL="0" indent="0">
              <a:buNone/>
            </a:pPr>
            <a:r>
              <a:rPr lang="en-US" sz="1900" i="1" dirty="0">
                <a:solidFill>
                  <a:srgbClr val="E2E8F0"/>
                </a:solidFill>
                <a:latin typeface="Aptos" pitchFamily="34" charset="0"/>
                <a:ea typeface="Aptos" pitchFamily="34" charset="-122"/>
                <a:cs typeface="Aptos" pitchFamily="34" charset="-120"/>
              </a:rPr>
              <a:t>The goal is not to make the model sound confident.</a:t>
            </a:r>
            <a:endParaRPr lang="en-US" sz="1900" dirty="0"/>
          </a:p>
          <a:p>
            <a:pPr marL="0" indent="0">
              <a:buNone/>
            </a:pPr>
            <a:r>
              <a:rPr lang="en-US" sz="1900" i="1" dirty="0">
                <a:solidFill>
                  <a:srgbClr val="E2E8F0"/>
                </a:solidFill>
                <a:latin typeface="Aptos" pitchFamily="34" charset="0"/>
                <a:ea typeface="Aptos" pitchFamily="34" charset="-122"/>
                <a:cs typeface="Aptos" pitchFamily="34" charset="-120"/>
              </a:rPr>
              <a:t>The goal is to make the system useful, inspectable, and honest.</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marL="0" indent="0">
              <a:buNone/>
            </a:pPr>
            <a:r>
              <a:rPr lang="en-US" sz="900" b="1" kern="0" spc="110" dirty="0">
                <a:solidFill>
                  <a:srgbClr val="0F766E"/>
                </a:solidFill>
                <a:latin typeface="Aptos" pitchFamily="34" charset="0"/>
                <a:ea typeface="Aptos" pitchFamily="34" charset="-122"/>
                <a:cs typeface="Aptos" pitchFamily="34" charset="-120"/>
              </a:rPr>
              <a:t>FINANCIAL LEDGER</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marL="0" indent="0">
              <a:buNone/>
            </a:pPr>
            <a:r>
              <a:rPr lang="en-US" sz="2700" b="1" dirty="0">
                <a:solidFill>
                  <a:srgbClr val="0F172A"/>
                </a:solidFill>
                <a:latin typeface="Aptos" pitchFamily="34" charset="0"/>
                <a:ea typeface="Aptos" pitchFamily="34" charset="-122"/>
                <a:cs typeface="Aptos" pitchFamily="34" charset="-120"/>
              </a:rPr>
              <a:t>Unified Financial &amp; Consumption Ledger</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marL="0" indent="0">
              <a:buNone/>
            </a:pPr>
            <a:r>
              <a:rPr lang="en-US" sz="1200" dirty="0">
                <a:solidFill>
                  <a:srgbClr val="64748B"/>
                </a:solidFill>
                <a:latin typeface="Aptos" pitchFamily="34" charset="0"/>
                <a:ea typeface="Aptos" pitchFamily="34" charset="-122"/>
                <a:cs typeface="Aptos" pitchFamily="34" charset="-120"/>
              </a:rPr>
              <a:t>Engineering estimate for educational and comparative analysis; values are not audited accounting.</a:t>
            </a:r>
            <a:endParaRPr lang="en-US" sz="1200" dirty="0"/>
          </a:p>
        </p:txBody>
      </p:sp>
      <p:sp>
        <p:nvSpPr>
          <p:cNvPr id="5" name="Text 3"/>
          <p:cNvSpPr/>
          <p:nvPr/>
        </p:nvSpPr>
        <p:spPr>
          <a:xfrm>
            <a:off x="502920" y="1572768"/>
            <a:ext cx="2331720" cy="384048"/>
          </a:xfrm>
          <a:prstGeom prst="rect">
            <a:avLst/>
          </a:prstGeom>
          <a:noFill/>
          <a:ln/>
        </p:spPr>
        <p:txBody>
          <a:bodyPr wrap="square" lIns="0" tIns="0" rIns="0" bIns="0" rtlCol="0" anchor="ctr">
            <a:normAutofit/>
          </a:bodyPr>
          <a:lstStyle/>
          <a:p>
            <a:pPr marL="0" indent="0">
              <a:buNone/>
            </a:pPr>
            <a:r>
              <a:rPr lang="en-US" sz="1100" b="1" dirty="0">
                <a:solidFill>
                  <a:srgbClr val="0F766E"/>
                </a:solidFill>
                <a:latin typeface="Aptos" pitchFamily="34" charset="0"/>
                <a:ea typeface="Aptos" pitchFamily="34" charset="-122"/>
                <a:cs typeface="Aptos" pitchFamily="34" charset="-120"/>
              </a:rPr>
              <a:t>Metric / Parameter</a:t>
            </a:r>
            <a:endParaRPr lang="en-US" sz="1100" dirty="0"/>
          </a:p>
        </p:txBody>
      </p:sp>
      <p:sp>
        <p:nvSpPr>
          <p:cNvPr id="6" name="Text 4"/>
          <p:cNvSpPr/>
          <p:nvPr/>
        </p:nvSpPr>
        <p:spPr>
          <a:xfrm>
            <a:off x="2971800" y="1572768"/>
            <a:ext cx="2148840" cy="384048"/>
          </a:xfrm>
          <a:prstGeom prst="rect">
            <a:avLst/>
          </a:prstGeom>
          <a:noFill/>
          <a:ln/>
        </p:spPr>
        <p:txBody>
          <a:bodyPr wrap="square" lIns="0" tIns="0" rIns="0" bIns="0" rtlCol="0" anchor="ctr">
            <a:normAutofit/>
          </a:bodyPr>
          <a:lstStyle/>
          <a:p>
            <a:pPr marL="0" indent="0">
              <a:buNone/>
            </a:pPr>
            <a:r>
              <a:rPr lang="en-US" sz="1100" b="1" dirty="0">
                <a:solidFill>
                  <a:srgbClr val="0F766E"/>
                </a:solidFill>
                <a:latin typeface="Aptos" pitchFamily="34" charset="0"/>
                <a:ea typeface="Aptos" pitchFamily="34" charset="-122"/>
                <a:cs typeface="Aptos" pitchFamily="34" charset="-120"/>
              </a:rPr>
              <a:t>Consolidated Total</a:t>
            </a:r>
            <a:endParaRPr lang="en-US" sz="1100" dirty="0"/>
          </a:p>
        </p:txBody>
      </p:sp>
      <p:sp>
        <p:nvSpPr>
          <p:cNvPr id="7" name="Text 5"/>
          <p:cNvSpPr/>
          <p:nvPr/>
        </p:nvSpPr>
        <p:spPr>
          <a:xfrm>
            <a:off x="5257800" y="1572768"/>
            <a:ext cx="6720840" cy="384048"/>
          </a:xfrm>
          <a:prstGeom prst="rect">
            <a:avLst/>
          </a:prstGeom>
          <a:noFill/>
          <a:ln/>
        </p:spPr>
        <p:txBody>
          <a:bodyPr wrap="square" lIns="0" tIns="0" rIns="0" bIns="0" rtlCol="0" anchor="ctr">
            <a:normAutofit/>
          </a:bodyPr>
          <a:lstStyle/>
          <a:p>
            <a:pPr marL="0" indent="0">
              <a:buNone/>
            </a:pPr>
            <a:r>
              <a:rPr lang="en-US" sz="1100" b="1" dirty="0">
                <a:solidFill>
                  <a:srgbClr val="0F766E"/>
                </a:solidFill>
                <a:latin typeface="Aptos" pitchFamily="34" charset="0"/>
                <a:ea typeface="Aptos" pitchFamily="34" charset="-122"/>
                <a:cs typeface="Aptos" pitchFamily="34" charset="-120"/>
              </a:rPr>
              <a:t>Measurement Basis &amp; Technical Details</a:t>
            </a:r>
            <a:endParaRPr lang="en-US" sz="1100" dirty="0"/>
          </a:p>
        </p:txBody>
      </p:sp>
      <p:sp>
        <p:nvSpPr>
          <p:cNvPr id="8" name="Shape 6"/>
          <p:cNvSpPr/>
          <p:nvPr/>
        </p:nvSpPr>
        <p:spPr>
          <a:xfrm>
            <a:off x="502920" y="2029968"/>
            <a:ext cx="10972800" cy="512064"/>
          </a:xfrm>
          <a:prstGeom prst="roundRect">
            <a:avLst>
              <a:gd name="adj" fmla="val 14286"/>
            </a:avLst>
          </a:prstGeom>
          <a:solidFill>
            <a:srgbClr val="FFFFFF"/>
          </a:solidFill>
          <a:ln w="12700">
            <a:solidFill>
              <a:srgbClr val="CBD5E1"/>
            </a:solidFill>
            <a:prstDash val="solid"/>
          </a:ln>
        </p:spPr>
        <p:txBody>
          <a:bodyPr/>
          <a:lstStyle/>
          <a:p>
            <a:endParaRPr lang="en-US"/>
          </a:p>
        </p:txBody>
      </p:sp>
      <p:sp>
        <p:nvSpPr>
          <p:cNvPr id="9" name="Text 7"/>
          <p:cNvSpPr/>
          <p:nvPr/>
        </p:nvSpPr>
        <p:spPr>
          <a:xfrm>
            <a:off x="612648" y="2121408"/>
            <a:ext cx="2148840" cy="310896"/>
          </a:xfrm>
          <a:prstGeom prst="rect">
            <a:avLst/>
          </a:prstGeom>
          <a:noFill/>
          <a:ln/>
        </p:spPr>
        <p:txBody>
          <a:bodyPr wrap="square" lIns="0" tIns="0" rIns="0" bIns="0" rtlCol="0" anchor="ctr">
            <a:normAutofit/>
          </a:bodyPr>
          <a:lstStyle/>
          <a:p>
            <a:pPr marL="0" indent="0">
              <a:buNone/>
            </a:pPr>
            <a:r>
              <a:rPr lang="en-US" sz="1050" b="1" dirty="0">
                <a:solidFill>
                  <a:srgbClr val="0F172A"/>
                </a:solidFill>
                <a:latin typeface="Aptos" pitchFamily="34" charset="0"/>
                <a:ea typeface="Aptos" pitchFamily="34" charset="-122"/>
                <a:cs typeface="Aptos" pitchFamily="34" charset="-120"/>
              </a:rPr>
              <a:t>Total Out-of-Pocket Compute Cost</a:t>
            </a:r>
            <a:endParaRPr lang="en-US" sz="1050" dirty="0"/>
          </a:p>
        </p:txBody>
      </p:sp>
      <p:sp>
        <p:nvSpPr>
          <p:cNvPr id="10" name="Text 8"/>
          <p:cNvSpPr/>
          <p:nvPr/>
        </p:nvSpPr>
        <p:spPr>
          <a:xfrm>
            <a:off x="3081528" y="2121408"/>
            <a:ext cx="1965960" cy="310896"/>
          </a:xfrm>
          <a:prstGeom prst="rect">
            <a:avLst/>
          </a:prstGeom>
          <a:noFill/>
          <a:ln/>
        </p:spPr>
        <p:txBody>
          <a:bodyPr wrap="square" lIns="0" tIns="0" rIns="0" bIns="0" rtlCol="0" anchor="ctr">
            <a:normAutofit/>
          </a:bodyPr>
          <a:lstStyle/>
          <a:p>
            <a:pPr marL="0" indent="0">
              <a:buNone/>
            </a:pPr>
            <a:r>
              <a:rPr lang="en-US" sz="1050" b="1" dirty="0">
                <a:solidFill>
                  <a:srgbClr val="1D4ED8"/>
                </a:solidFill>
                <a:latin typeface="Aptos" pitchFamily="34" charset="0"/>
                <a:ea typeface="Aptos" pitchFamily="34" charset="-122"/>
                <a:cs typeface="Aptos" pitchFamily="34" charset="-120"/>
              </a:rPr>
              <a:t>~$270 USD</a:t>
            </a:r>
            <a:endParaRPr lang="en-US" sz="1050" dirty="0"/>
          </a:p>
        </p:txBody>
      </p:sp>
      <p:sp>
        <p:nvSpPr>
          <p:cNvPr id="11" name="Text 9"/>
          <p:cNvSpPr/>
          <p:nvPr/>
        </p:nvSpPr>
        <p:spPr>
          <a:xfrm>
            <a:off x="5367528" y="2103120"/>
            <a:ext cx="6537960" cy="356616"/>
          </a:xfrm>
          <a:prstGeom prst="rect">
            <a:avLst/>
          </a:prstGeom>
          <a:noFill/>
          <a:ln/>
        </p:spPr>
        <p:txBody>
          <a:bodyPr wrap="square" lIns="0" tIns="0" rIns="0" bIns="0" rtlCol="0" anchor="ctr">
            <a:normAutofit/>
          </a:bodyPr>
          <a:lstStyle/>
          <a:p>
            <a:pPr marL="0" indent="0">
              <a:buNone/>
            </a:pPr>
            <a:r>
              <a:rPr lang="en-US" sz="920" dirty="0">
                <a:solidFill>
                  <a:srgbClr val="334155"/>
                </a:solidFill>
                <a:latin typeface="Aptos" pitchFamily="34" charset="0"/>
                <a:ea typeface="Aptos" pitchFamily="34" charset="-122"/>
                <a:cs typeface="Aptos" pitchFamily="34" charset="-120"/>
              </a:rPr>
              <a:t>Direct prepaid balance deductions ($70 USD) + ~20,000 AI developer credits ($200.00 standard valuation)</a:t>
            </a:r>
            <a:endParaRPr lang="en-US" sz="920" dirty="0"/>
          </a:p>
        </p:txBody>
      </p:sp>
      <p:sp>
        <p:nvSpPr>
          <p:cNvPr id="12" name="Shape 10"/>
          <p:cNvSpPr/>
          <p:nvPr/>
        </p:nvSpPr>
        <p:spPr>
          <a:xfrm>
            <a:off x="502920" y="2651760"/>
            <a:ext cx="10972800" cy="512064"/>
          </a:xfrm>
          <a:prstGeom prst="roundRect">
            <a:avLst>
              <a:gd name="adj" fmla="val 14286"/>
            </a:avLst>
          </a:prstGeom>
          <a:solidFill>
            <a:srgbClr val="CCFBF1"/>
          </a:solidFill>
          <a:ln w="12700">
            <a:solidFill>
              <a:srgbClr val="0F766E"/>
            </a:solidFill>
            <a:prstDash val="solid"/>
          </a:ln>
        </p:spPr>
        <p:txBody>
          <a:bodyPr/>
          <a:lstStyle/>
          <a:p>
            <a:endParaRPr lang="en-US"/>
          </a:p>
        </p:txBody>
      </p:sp>
      <p:sp>
        <p:nvSpPr>
          <p:cNvPr id="13" name="Text 11"/>
          <p:cNvSpPr/>
          <p:nvPr/>
        </p:nvSpPr>
        <p:spPr>
          <a:xfrm>
            <a:off x="612648" y="2743200"/>
            <a:ext cx="2148840" cy="310896"/>
          </a:xfrm>
          <a:prstGeom prst="rect">
            <a:avLst/>
          </a:prstGeom>
          <a:noFill/>
          <a:ln/>
        </p:spPr>
        <p:txBody>
          <a:bodyPr wrap="square" lIns="0" tIns="0" rIns="0" bIns="0" rtlCol="0" anchor="ctr">
            <a:normAutofit/>
          </a:bodyPr>
          <a:lstStyle/>
          <a:p>
            <a:pPr marL="0" indent="0">
              <a:buNone/>
            </a:pPr>
            <a:r>
              <a:rPr lang="en-US" sz="1050" b="1" dirty="0">
                <a:solidFill>
                  <a:srgbClr val="0F172A"/>
                </a:solidFill>
                <a:latin typeface="Aptos" pitchFamily="34" charset="0"/>
                <a:ea typeface="Aptos" pitchFamily="34" charset="-122"/>
                <a:cs typeface="Aptos" pitchFamily="34" charset="-120"/>
              </a:rPr>
              <a:t>Gross AI Processing Volume</a:t>
            </a:r>
            <a:endParaRPr lang="en-US" sz="1050" dirty="0"/>
          </a:p>
        </p:txBody>
      </p:sp>
      <p:sp>
        <p:nvSpPr>
          <p:cNvPr id="14" name="Text 12"/>
          <p:cNvSpPr/>
          <p:nvPr/>
        </p:nvSpPr>
        <p:spPr>
          <a:xfrm>
            <a:off x="3081528" y="2743200"/>
            <a:ext cx="1965960" cy="310896"/>
          </a:xfrm>
          <a:prstGeom prst="rect">
            <a:avLst/>
          </a:prstGeom>
          <a:noFill/>
          <a:ln/>
        </p:spPr>
        <p:txBody>
          <a:bodyPr wrap="square" lIns="0" tIns="0" rIns="0" bIns="0" rtlCol="0" anchor="ctr">
            <a:normAutofit lnSpcReduction="10000"/>
          </a:bodyPr>
          <a:lstStyle/>
          <a:p>
            <a:pPr marL="0" indent="0">
              <a:buNone/>
            </a:pPr>
            <a:r>
              <a:rPr lang="en-US" sz="1050" b="1" dirty="0">
                <a:solidFill>
                  <a:srgbClr val="1D4ED8"/>
                </a:solidFill>
                <a:latin typeface="Aptos" pitchFamily="34" charset="0"/>
                <a:ea typeface="Aptos" pitchFamily="34" charset="-122"/>
                <a:cs typeface="Aptos" pitchFamily="34" charset="-120"/>
              </a:rPr>
              <a:t>~65.0M – 68.0M Tokens (estimated)</a:t>
            </a:r>
            <a:endParaRPr lang="en-US" sz="1050" dirty="0"/>
          </a:p>
        </p:txBody>
      </p:sp>
      <p:sp>
        <p:nvSpPr>
          <p:cNvPr id="15" name="Text 13"/>
          <p:cNvSpPr/>
          <p:nvPr/>
        </p:nvSpPr>
        <p:spPr>
          <a:xfrm>
            <a:off x="5367528" y="2724912"/>
            <a:ext cx="6537960" cy="356616"/>
          </a:xfrm>
          <a:prstGeom prst="rect">
            <a:avLst/>
          </a:prstGeom>
          <a:noFill/>
          <a:ln/>
        </p:spPr>
        <p:txBody>
          <a:bodyPr wrap="square" lIns="0" tIns="0" rIns="0" bIns="0" rtlCol="0" anchor="ctr">
            <a:normAutofit/>
          </a:bodyPr>
          <a:lstStyle/>
          <a:p>
            <a:pPr marL="0" indent="0">
              <a:buNone/>
            </a:pPr>
            <a:r>
              <a:rPr lang="en-US" sz="920" dirty="0">
                <a:solidFill>
                  <a:srgbClr val="334155"/>
                </a:solidFill>
                <a:latin typeface="Aptos" pitchFamily="34" charset="0"/>
                <a:ea typeface="Aptos" pitchFamily="34" charset="-122"/>
                <a:cs typeface="Aptos" pitchFamily="34" charset="-120"/>
              </a:rPr>
              <a:t>Prior ~32.5M–34.0M estimate scaled by revised ~20,000-credit usage versus the former 10,000-credit baseline; includes coding-agent context windows, AST refactorings, multi-file inspections, and prompt iteration</a:t>
            </a:r>
            <a:endParaRPr lang="en-US" sz="920" dirty="0"/>
          </a:p>
        </p:txBody>
      </p:sp>
      <p:sp>
        <p:nvSpPr>
          <p:cNvPr id="16" name="Shape 14"/>
          <p:cNvSpPr/>
          <p:nvPr/>
        </p:nvSpPr>
        <p:spPr>
          <a:xfrm>
            <a:off x="502920" y="3273552"/>
            <a:ext cx="10972800" cy="512064"/>
          </a:xfrm>
          <a:prstGeom prst="roundRect">
            <a:avLst>
              <a:gd name="adj" fmla="val 14286"/>
            </a:avLst>
          </a:prstGeom>
          <a:solidFill>
            <a:srgbClr val="FFFFFF"/>
          </a:solidFill>
          <a:ln w="12700">
            <a:solidFill>
              <a:srgbClr val="CBD5E1"/>
            </a:solidFill>
            <a:prstDash val="solid"/>
          </a:ln>
        </p:spPr>
        <p:txBody>
          <a:bodyPr/>
          <a:lstStyle/>
          <a:p>
            <a:endParaRPr lang="en-US"/>
          </a:p>
        </p:txBody>
      </p:sp>
      <p:sp>
        <p:nvSpPr>
          <p:cNvPr id="17" name="Text 15"/>
          <p:cNvSpPr/>
          <p:nvPr/>
        </p:nvSpPr>
        <p:spPr>
          <a:xfrm>
            <a:off x="612648" y="3364992"/>
            <a:ext cx="2148840" cy="310896"/>
          </a:xfrm>
          <a:prstGeom prst="rect">
            <a:avLst/>
          </a:prstGeom>
          <a:noFill/>
          <a:ln/>
        </p:spPr>
        <p:txBody>
          <a:bodyPr wrap="square" lIns="0" tIns="0" rIns="0" bIns="0" rtlCol="0" anchor="ctr">
            <a:normAutofit/>
          </a:bodyPr>
          <a:lstStyle/>
          <a:p>
            <a:pPr marL="0" indent="0">
              <a:buNone/>
            </a:pPr>
            <a:r>
              <a:rPr lang="en-US" sz="1050" b="1" dirty="0">
                <a:solidFill>
                  <a:srgbClr val="0F172A"/>
                </a:solidFill>
                <a:latin typeface="Aptos" pitchFamily="34" charset="0"/>
                <a:ea typeface="Aptos" pitchFamily="34" charset="-122"/>
                <a:cs typeface="Aptos" pitchFamily="34" charset="-120"/>
              </a:rPr>
              <a:t>Application Runtime Inference</a:t>
            </a:r>
            <a:endParaRPr lang="en-US" sz="1050" dirty="0"/>
          </a:p>
        </p:txBody>
      </p:sp>
      <p:sp>
        <p:nvSpPr>
          <p:cNvPr id="18" name="Text 16"/>
          <p:cNvSpPr/>
          <p:nvPr/>
        </p:nvSpPr>
        <p:spPr>
          <a:xfrm>
            <a:off x="3081528" y="3364992"/>
            <a:ext cx="1965960" cy="310896"/>
          </a:xfrm>
          <a:prstGeom prst="rect">
            <a:avLst/>
          </a:prstGeom>
          <a:noFill/>
          <a:ln/>
        </p:spPr>
        <p:txBody>
          <a:bodyPr wrap="square" lIns="0" tIns="0" rIns="0" bIns="0" rtlCol="0" anchor="ctr">
            <a:normAutofit/>
          </a:bodyPr>
          <a:lstStyle/>
          <a:p>
            <a:pPr marL="0" indent="0">
              <a:buNone/>
            </a:pPr>
            <a:r>
              <a:rPr lang="en-US" sz="1050" b="1" dirty="0">
                <a:solidFill>
                  <a:srgbClr val="1D4ED8"/>
                </a:solidFill>
                <a:latin typeface="Aptos" pitchFamily="34" charset="0"/>
                <a:ea typeface="Aptos" pitchFamily="34" charset="-122"/>
                <a:cs typeface="Aptos" pitchFamily="34" charset="-120"/>
              </a:rPr>
              <a:t>102,870 Tokens</a:t>
            </a:r>
            <a:endParaRPr lang="en-US" sz="1050" dirty="0"/>
          </a:p>
        </p:txBody>
      </p:sp>
      <p:sp>
        <p:nvSpPr>
          <p:cNvPr id="19" name="Text 17"/>
          <p:cNvSpPr/>
          <p:nvPr/>
        </p:nvSpPr>
        <p:spPr>
          <a:xfrm>
            <a:off x="5367528" y="3346704"/>
            <a:ext cx="6537960" cy="356616"/>
          </a:xfrm>
          <a:prstGeom prst="rect">
            <a:avLst/>
          </a:prstGeom>
          <a:noFill/>
          <a:ln/>
        </p:spPr>
        <p:txBody>
          <a:bodyPr wrap="square" lIns="0" tIns="0" rIns="0" bIns="0" rtlCol="0" anchor="ctr">
            <a:normAutofit/>
          </a:bodyPr>
          <a:lstStyle/>
          <a:p>
            <a:pPr marL="0" indent="0">
              <a:buNone/>
            </a:pPr>
            <a:r>
              <a:rPr lang="en-US" sz="920" dirty="0">
                <a:solidFill>
                  <a:srgbClr val="334155"/>
                </a:solidFill>
                <a:latin typeface="Aptos" pitchFamily="34" charset="0"/>
                <a:ea typeface="Aptos" pitchFamily="34" charset="-122"/>
                <a:cs typeface="Aptos" pitchFamily="34" charset="-120"/>
              </a:rPr>
              <a:t>In-app user document chat, embeddings (text-embedding-004), and dual-model summarization cascades</a:t>
            </a:r>
            <a:endParaRPr lang="en-US" sz="920" dirty="0"/>
          </a:p>
        </p:txBody>
      </p:sp>
      <p:sp>
        <p:nvSpPr>
          <p:cNvPr id="20" name="Shape 18"/>
          <p:cNvSpPr/>
          <p:nvPr/>
        </p:nvSpPr>
        <p:spPr>
          <a:xfrm>
            <a:off x="502920" y="3895344"/>
            <a:ext cx="10972800" cy="512064"/>
          </a:xfrm>
          <a:prstGeom prst="roundRect">
            <a:avLst>
              <a:gd name="adj" fmla="val 14286"/>
            </a:avLst>
          </a:prstGeom>
          <a:solidFill>
            <a:srgbClr val="FFFFFF"/>
          </a:solidFill>
          <a:ln w="12700">
            <a:solidFill>
              <a:srgbClr val="CBD5E1"/>
            </a:solidFill>
            <a:prstDash val="solid"/>
          </a:ln>
        </p:spPr>
        <p:txBody>
          <a:bodyPr/>
          <a:lstStyle/>
          <a:p>
            <a:endParaRPr lang="en-US"/>
          </a:p>
        </p:txBody>
      </p:sp>
      <p:sp>
        <p:nvSpPr>
          <p:cNvPr id="21" name="Text 19"/>
          <p:cNvSpPr/>
          <p:nvPr/>
        </p:nvSpPr>
        <p:spPr>
          <a:xfrm>
            <a:off x="612648" y="3986784"/>
            <a:ext cx="2148840" cy="310896"/>
          </a:xfrm>
          <a:prstGeom prst="rect">
            <a:avLst/>
          </a:prstGeom>
          <a:noFill/>
          <a:ln/>
        </p:spPr>
        <p:txBody>
          <a:bodyPr wrap="square" lIns="0" tIns="0" rIns="0" bIns="0" rtlCol="0" anchor="ctr">
            <a:normAutofit/>
          </a:bodyPr>
          <a:lstStyle/>
          <a:p>
            <a:pPr marL="0" indent="0">
              <a:buNone/>
            </a:pPr>
            <a:r>
              <a:rPr lang="en-US" sz="1050" b="1" dirty="0">
                <a:solidFill>
                  <a:srgbClr val="0F172A"/>
                </a:solidFill>
                <a:latin typeface="Aptos" pitchFamily="34" charset="0"/>
                <a:ea typeface="Aptos" pitchFamily="34" charset="-122"/>
                <a:cs typeface="Aptos" pitchFamily="34" charset="-120"/>
              </a:rPr>
              <a:t>Total Autonomous Agent Actions</a:t>
            </a:r>
            <a:endParaRPr lang="en-US" sz="1050" dirty="0"/>
          </a:p>
        </p:txBody>
      </p:sp>
      <p:sp>
        <p:nvSpPr>
          <p:cNvPr id="22" name="Text 20"/>
          <p:cNvSpPr/>
          <p:nvPr/>
        </p:nvSpPr>
        <p:spPr>
          <a:xfrm>
            <a:off x="3081528" y="3986784"/>
            <a:ext cx="1965960" cy="310896"/>
          </a:xfrm>
          <a:prstGeom prst="rect">
            <a:avLst/>
          </a:prstGeom>
          <a:noFill/>
          <a:ln/>
        </p:spPr>
        <p:txBody>
          <a:bodyPr wrap="square" lIns="0" tIns="0" rIns="0" bIns="0" rtlCol="0" anchor="ctr">
            <a:normAutofit/>
          </a:bodyPr>
          <a:lstStyle/>
          <a:p>
            <a:pPr marL="0" indent="0">
              <a:buNone/>
            </a:pPr>
            <a:r>
              <a:rPr lang="en-US" sz="1050" b="1" dirty="0">
                <a:solidFill>
                  <a:srgbClr val="1D4ED8"/>
                </a:solidFill>
                <a:latin typeface="Aptos" pitchFamily="34" charset="0"/>
                <a:ea typeface="Aptos" pitchFamily="34" charset="-122"/>
                <a:cs typeface="Aptos" pitchFamily="34" charset="-120"/>
              </a:rPr>
              <a:t>284 Invocations</a:t>
            </a:r>
            <a:endParaRPr lang="en-US" sz="1050" dirty="0"/>
          </a:p>
        </p:txBody>
      </p:sp>
      <p:sp>
        <p:nvSpPr>
          <p:cNvPr id="23" name="Text 21"/>
          <p:cNvSpPr/>
          <p:nvPr/>
        </p:nvSpPr>
        <p:spPr>
          <a:xfrm>
            <a:off x="5367528" y="3968496"/>
            <a:ext cx="6537960" cy="356616"/>
          </a:xfrm>
          <a:prstGeom prst="rect">
            <a:avLst/>
          </a:prstGeom>
          <a:noFill/>
          <a:ln/>
        </p:spPr>
        <p:txBody>
          <a:bodyPr wrap="square" lIns="0" tIns="0" rIns="0" bIns="0" rtlCol="0" anchor="ctr">
            <a:normAutofit/>
          </a:bodyPr>
          <a:lstStyle/>
          <a:p>
            <a:pPr marL="0" indent="0">
              <a:buNone/>
            </a:pPr>
            <a:r>
              <a:rPr lang="en-US" sz="920" dirty="0">
                <a:solidFill>
                  <a:srgbClr val="334155"/>
                </a:solidFill>
                <a:latin typeface="Aptos" pitchFamily="34" charset="0"/>
                <a:ea typeface="Aptos" pitchFamily="34" charset="-122"/>
                <a:cs typeface="Aptos" pitchFamily="34" charset="-120"/>
              </a:rPr>
              <a:t>Compiles, multi-file atomic edits, TypeScript linter executions, AST inspections, and container restarts</a:t>
            </a:r>
            <a:endParaRPr lang="en-US" sz="920" dirty="0"/>
          </a:p>
        </p:txBody>
      </p:sp>
      <p:sp>
        <p:nvSpPr>
          <p:cNvPr id="24" name="Shape 22"/>
          <p:cNvSpPr/>
          <p:nvPr/>
        </p:nvSpPr>
        <p:spPr>
          <a:xfrm>
            <a:off x="502920" y="4517136"/>
            <a:ext cx="10972800" cy="512064"/>
          </a:xfrm>
          <a:prstGeom prst="roundRect">
            <a:avLst>
              <a:gd name="adj" fmla="val 14286"/>
            </a:avLst>
          </a:prstGeom>
          <a:solidFill>
            <a:srgbClr val="FFFFFF"/>
          </a:solidFill>
          <a:ln w="12700">
            <a:solidFill>
              <a:srgbClr val="CBD5E1"/>
            </a:solidFill>
            <a:prstDash val="solid"/>
          </a:ln>
        </p:spPr>
        <p:txBody>
          <a:bodyPr/>
          <a:lstStyle/>
          <a:p>
            <a:endParaRPr lang="en-US"/>
          </a:p>
        </p:txBody>
      </p:sp>
      <p:sp>
        <p:nvSpPr>
          <p:cNvPr id="25" name="Text 23"/>
          <p:cNvSpPr/>
          <p:nvPr/>
        </p:nvSpPr>
        <p:spPr>
          <a:xfrm>
            <a:off x="612648" y="4608576"/>
            <a:ext cx="2148840" cy="310896"/>
          </a:xfrm>
          <a:prstGeom prst="rect">
            <a:avLst/>
          </a:prstGeom>
          <a:noFill/>
          <a:ln/>
        </p:spPr>
        <p:txBody>
          <a:bodyPr wrap="square" lIns="0" tIns="0" rIns="0" bIns="0" rtlCol="0" anchor="ctr">
            <a:normAutofit/>
          </a:bodyPr>
          <a:lstStyle/>
          <a:p>
            <a:pPr marL="0" indent="0">
              <a:buNone/>
            </a:pPr>
            <a:r>
              <a:rPr lang="en-US" sz="1050" b="1" dirty="0">
                <a:solidFill>
                  <a:srgbClr val="0F172A"/>
                </a:solidFill>
                <a:latin typeface="Aptos" pitchFamily="34" charset="0"/>
                <a:ea typeface="Aptos" pitchFamily="34" charset="-122"/>
                <a:cs typeface="Aptos" pitchFamily="34" charset="-120"/>
              </a:rPr>
              <a:t>Active Engineering Turnaround</a:t>
            </a:r>
            <a:endParaRPr lang="en-US" sz="1050" dirty="0"/>
          </a:p>
        </p:txBody>
      </p:sp>
      <p:sp>
        <p:nvSpPr>
          <p:cNvPr id="26" name="Text 24"/>
          <p:cNvSpPr/>
          <p:nvPr/>
        </p:nvSpPr>
        <p:spPr>
          <a:xfrm>
            <a:off x="3081528" y="4608576"/>
            <a:ext cx="1965960" cy="310896"/>
          </a:xfrm>
          <a:prstGeom prst="rect">
            <a:avLst/>
          </a:prstGeom>
          <a:noFill/>
          <a:ln/>
        </p:spPr>
        <p:txBody>
          <a:bodyPr wrap="square" lIns="0" tIns="0" rIns="0" bIns="0" rtlCol="0" anchor="ctr">
            <a:normAutofit/>
          </a:bodyPr>
          <a:lstStyle/>
          <a:p>
            <a:pPr marL="0" indent="0">
              <a:buNone/>
            </a:pPr>
            <a:r>
              <a:rPr lang="en-US" sz="1050" b="1" dirty="0">
                <a:solidFill>
                  <a:srgbClr val="1D4ED8"/>
                </a:solidFill>
                <a:latin typeface="Aptos" pitchFamily="34" charset="0"/>
                <a:ea typeface="Aptos" pitchFamily="34" charset="-122"/>
                <a:cs typeface="Aptos" pitchFamily="34" charset="-120"/>
              </a:rPr>
              <a:t>~22 – 30 Hours</a:t>
            </a:r>
            <a:endParaRPr lang="en-US" sz="1050" dirty="0"/>
          </a:p>
        </p:txBody>
      </p:sp>
      <p:sp>
        <p:nvSpPr>
          <p:cNvPr id="27" name="Text 25"/>
          <p:cNvSpPr/>
          <p:nvPr/>
        </p:nvSpPr>
        <p:spPr>
          <a:xfrm>
            <a:off x="5367528" y="4590288"/>
            <a:ext cx="6537960" cy="356616"/>
          </a:xfrm>
          <a:prstGeom prst="rect">
            <a:avLst/>
          </a:prstGeom>
          <a:noFill/>
          <a:ln/>
        </p:spPr>
        <p:txBody>
          <a:bodyPr wrap="square" lIns="0" tIns="0" rIns="0" bIns="0" rtlCol="0" anchor="ctr">
            <a:normAutofit/>
          </a:bodyPr>
          <a:lstStyle/>
          <a:p>
            <a:pPr marL="0" indent="0">
              <a:buNone/>
            </a:pPr>
            <a:r>
              <a:rPr lang="en-US" sz="920" dirty="0">
                <a:solidFill>
                  <a:srgbClr val="334155"/>
                </a:solidFill>
                <a:latin typeface="Aptos" pitchFamily="34" charset="0"/>
                <a:ea typeface="Aptos" pitchFamily="34" charset="-122"/>
                <a:cs typeface="Aptos" pitchFamily="34" charset="-120"/>
              </a:rPr>
              <a:t>Revised estimate covering total hands-on prompt turns, refactoring cycles, and full integration across sessions</a:t>
            </a:r>
            <a:endParaRPr lang="en-US" sz="920" dirty="0"/>
          </a:p>
        </p:txBody>
      </p:sp>
      <p:sp>
        <p:nvSpPr>
          <p:cNvPr id="28" name="Shape 26"/>
          <p:cNvSpPr/>
          <p:nvPr/>
        </p:nvSpPr>
        <p:spPr>
          <a:xfrm>
            <a:off x="502920" y="5138928"/>
            <a:ext cx="10972800" cy="512064"/>
          </a:xfrm>
          <a:prstGeom prst="roundRect">
            <a:avLst>
              <a:gd name="adj" fmla="val 14286"/>
            </a:avLst>
          </a:prstGeom>
          <a:solidFill>
            <a:srgbClr val="FFFFFF"/>
          </a:solidFill>
          <a:ln w="12700">
            <a:solidFill>
              <a:srgbClr val="CBD5E1"/>
            </a:solidFill>
            <a:prstDash val="solid"/>
          </a:ln>
        </p:spPr>
        <p:txBody>
          <a:bodyPr/>
          <a:lstStyle/>
          <a:p>
            <a:endParaRPr lang="en-US"/>
          </a:p>
        </p:txBody>
      </p:sp>
      <p:sp>
        <p:nvSpPr>
          <p:cNvPr id="29" name="Text 27"/>
          <p:cNvSpPr/>
          <p:nvPr/>
        </p:nvSpPr>
        <p:spPr>
          <a:xfrm>
            <a:off x="612648" y="5230368"/>
            <a:ext cx="2148840" cy="310896"/>
          </a:xfrm>
          <a:prstGeom prst="rect">
            <a:avLst/>
          </a:prstGeom>
          <a:noFill/>
          <a:ln/>
        </p:spPr>
        <p:txBody>
          <a:bodyPr wrap="square" lIns="0" tIns="0" rIns="0" bIns="0" rtlCol="0" anchor="ctr">
            <a:normAutofit/>
          </a:bodyPr>
          <a:lstStyle/>
          <a:p>
            <a:pPr marL="0" indent="0">
              <a:buNone/>
            </a:pPr>
            <a:r>
              <a:rPr lang="en-US" sz="1050" b="1" dirty="0">
                <a:solidFill>
                  <a:srgbClr val="0F172A"/>
                </a:solidFill>
                <a:latin typeface="Aptos" pitchFamily="34" charset="0"/>
                <a:ea typeface="Aptos" pitchFamily="34" charset="-122"/>
                <a:cs typeface="Aptos" pitchFamily="34" charset="-120"/>
              </a:rPr>
              <a:t>Container &amp; Hosting Overhead</a:t>
            </a:r>
            <a:endParaRPr lang="en-US" sz="1050" dirty="0"/>
          </a:p>
        </p:txBody>
      </p:sp>
      <p:sp>
        <p:nvSpPr>
          <p:cNvPr id="30" name="Text 28"/>
          <p:cNvSpPr/>
          <p:nvPr/>
        </p:nvSpPr>
        <p:spPr>
          <a:xfrm>
            <a:off x="3081528" y="5230368"/>
            <a:ext cx="1965960" cy="310896"/>
          </a:xfrm>
          <a:prstGeom prst="rect">
            <a:avLst/>
          </a:prstGeom>
          <a:noFill/>
          <a:ln/>
        </p:spPr>
        <p:txBody>
          <a:bodyPr wrap="square" lIns="0" tIns="0" rIns="0" bIns="0" rtlCol="0" anchor="ctr">
            <a:normAutofit/>
          </a:bodyPr>
          <a:lstStyle/>
          <a:p>
            <a:pPr marL="0" indent="0">
              <a:buNone/>
            </a:pPr>
            <a:r>
              <a:rPr lang="en-US" sz="1050" b="1" dirty="0">
                <a:solidFill>
                  <a:srgbClr val="1D4ED8"/>
                </a:solidFill>
                <a:latin typeface="Aptos" pitchFamily="34" charset="0"/>
                <a:ea typeface="Aptos" pitchFamily="34" charset="-122"/>
                <a:cs typeface="Aptos" pitchFamily="34" charset="-120"/>
              </a:rPr>
              <a:t>$2.14 USD</a:t>
            </a:r>
            <a:endParaRPr lang="en-US" sz="1050" dirty="0"/>
          </a:p>
        </p:txBody>
      </p:sp>
      <p:sp>
        <p:nvSpPr>
          <p:cNvPr id="31" name="Text 29"/>
          <p:cNvSpPr/>
          <p:nvPr/>
        </p:nvSpPr>
        <p:spPr>
          <a:xfrm>
            <a:off x="5367528" y="5212080"/>
            <a:ext cx="6537960" cy="356616"/>
          </a:xfrm>
          <a:prstGeom prst="rect">
            <a:avLst/>
          </a:prstGeom>
          <a:noFill/>
          <a:ln/>
        </p:spPr>
        <p:txBody>
          <a:bodyPr wrap="square" lIns="0" tIns="0" rIns="0" bIns="0" rtlCol="0" anchor="ctr">
            <a:normAutofit/>
          </a:bodyPr>
          <a:lstStyle/>
          <a:p>
            <a:pPr marL="0" indent="0">
              <a:buNone/>
            </a:pPr>
            <a:r>
              <a:rPr lang="en-US" sz="920" dirty="0">
                <a:solidFill>
                  <a:srgbClr val="334155"/>
                </a:solidFill>
                <a:latin typeface="Aptos" pitchFamily="34" charset="0"/>
                <a:ea typeface="Aptos" pitchFamily="34" charset="-122"/>
                <a:cs typeface="Aptos" pitchFamily="34" charset="-120"/>
              </a:rPr>
              <a:t>Dual Cloud Run instances (dev &amp; preview applets), 4 Docker images, 6.8 GB Artifact Registry storage</a:t>
            </a:r>
            <a:endParaRPr lang="en-US" sz="920" dirty="0"/>
          </a:p>
        </p:txBody>
      </p:sp>
      <p:sp>
        <p:nvSpPr>
          <p:cNvPr id="32"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marL="0" indent="0">
              <a:buNone/>
            </a:pPr>
            <a:r>
              <a:rPr lang="en-US" sz="900" b="1" kern="0" spc="110" dirty="0">
                <a:solidFill>
                  <a:srgbClr val="0F766E"/>
                </a:solidFill>
                <a:latin typeface="Aptos" pitchFamily="34" charset="0"/>
                <a:ea typeface="Aptos" pitchFamily="34" charset="-122"/>
                <a:cs typeface="Aptos" pitchFamily="34" charset="-120"/>
              </a:rPr>
              <a:t>FINANCIAL LEDGER</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marL="0" indent="0">
              <a:buNone/>
            </a:pPr>
            <a:r>
              <a:rPr lang="en-US" sz="2700" b="1" dirty="0">
                <a:solidFill>
                  <a:srgbClr val="0F172A"/>
                </a:solidFill>
                <a:latin typeface="Aptos" pitchFamily="34" charset="0"/>
                <a:ea typeface="Aptos" pitchFamily="34" charset="-122"/>
                <a:cs typeface="Aptos" pitchFamily="34" charset="-120"/>
              </a:rPr>
              <a:t>Commercial Valuation &amp; Real-World ROI Analysis</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marL="0" indent="0">
              <a:buNone/>
            </a:pPr>
            <a:r>
              <a:rPr lang="en-US" sz="1200" dirty="0">
                <a:solidFill>
                  <a:srgbClr val="64748B"/>
                </a:solidFill>
                <a:latin typeface="Aptos" pitchFamily="34" charset="0"/>
                <a:ea typeface="Aptos" pitchFamily="34" charset="-122"/>
                <a:cs typeface="Aptos" pitchFamily="34" charset="-120"/>
              </a:rPr>
              <a:t>Engineering estimate for educational and comparative analysis; values are not audited accounting.</a:t>
            </a:r>
            <a:endParaRPr lang="en-US" sz="1200" dirty="0"/>
          </a:p>
        </p:txBody>
      </p:sp>
      <p:sp>
        <p:nvSpPr>
          <p:cNvPr id="5" name="Text 3"/>
          <p:cNvSpPr/>
          <p:nvPr/>
        </p:nvSpPr>
        <p:spPr>
          <a:xfrm>
            <a:off x="502920" y="1627632"/>
            <a:ext cx="2423160" cy="393192"/>
          </a:xfrm>
          <a:prstGeom prst="rect">
            <a:avLst/>
          </a:prstGeom>
          <a:noFill/>
          <a:ln/>
        </p:spPr>
        <p:txBody>
          <a:bodyPr wrap="square" lIns="0" tIns="0" rIns="0" bIns="0" rtlCol="0" anchor="ctr">
            <a:normAutofit/>
          </a:bodyPr>
          <a:lstStyle/>
          <a:p>
            <a:pPr marL="0" indent="0">
              <a:buNone/>
            </a:pPr>
            <a:r>
              <a:rPr lang="en-US" sz="1050" b="1" dirty="0">
                <a:solidFill>
                  <a:srgbClr val="0F766E"/>
                </a:solidFill>
                <a:latin typeface="Aptos" pitchFamily="34" charset="0"/>
                <a:ea typeface="Aptos" pitchFamily="34" charset="-122"/>
                <a:cs typeface="Aptos" pitchFamily="34" charset="-120"/>
              </a:rPr>
              <a:t>Development Workflow Model</a:t>
            </a:r>
            <a:endParaRPr lang="en-US" sz="1050" dirty="0"/>
          </a:p>
        </p:txBody>
      </p:sp>
      <p:sp>
        <p:nvSpPr>
          <p:cNvPr id="6" name="Text 4"/>
          <p:cNvSpPr/>
          <p:nvPr/>
        </p:nvSpPr>
        <p:spPr>
          <a:xfrm>
            <a:off x="3063240" y="1627632"/>
            <a:ext cx="1508760" cy="393192"/>
          </a:xfrm>
          <a:prstGeom prst="rect">
            <a:avLst/>
          </a:prstGeom>
          <a:noFill/>
          <a:ln/>
        </p:spPr>
        <p:txBody>
          <a:bodyPr wrap="square" lIns="0" tIns="0" rIns="0" bIns="0" rtlCol="0" anchor="ctr">
            <a:normAutofit/>
          </a:bodyPr>
          <a:lstStyle/>
          <a:p>
            <a:pPr marL="0" indent="0">
              <a:buNone/>
            </a:pPr>
            <a:r>
              <a:rPr lang="en-US" sz="1050" b="1" dirty="0">
                <a:solidFill>
                  <a:srgbClr val="0F766E"/>
                </a:solidFill>
                <a:latin typeface="Aptos" pitchFamily="34" charset="0"/>
                <a:ea typeface="Aptos" pitchFamily="34" charset="-122"/>
                <a:cs typeface="Aptos" pitchFamily="34" charset="-120"/>
              </a:rPr>
              <a:t>Estimated Hours</a:t>
            </a:r>
            <a:endParaRPr lang="en-US" sz="1050" dirty="0"/>
          </a:p>
        </p:txBody>
      </p:sp>
      <p:sp>
        <p:nvSpPr>
          <p:cNvPr id="7" name="Text 5"/>
          <p:cNvSpPr/>
          <p:nvPr/>
        </p:nvSpPr>
        <p:spPr>
          <a:xfrm>
            <a:off x="4709160" y="1627632"/>
            <a:ext cx="1508760" cy="393192"/>
          </a:xfrm>
          <a:prstGeom prst="rect">
            <a:avLst/>
          </a:prstGeom>
          <a:noFill/>
          <a:ln/>
        </p:spPr>
        <p:txBody>
          <a:bodyPr wrap="square" lIns="0" tIns="0" rIns="0" bIns="0" rtlCol="0" anchor="ctr">
            <a:normAutofit/>
          </a:bodyPr>
          <a:lstStyle/>
          <a:p>
            <a:pPr marL="0" indent="0">
              <a:buNone/>
            </a:pPr>
            <a:r>
              <a:rPr lang="en-US" sz="1050" b="1" dirty="0">
                <a:solidFill>
                  <a:srgbClr val="0F766E"/>
                </a:solidFill>
                <a:latin typeface="Aptos" pitchFamily="34" charset="0"/>
                <a:ea typeface="Aptos" pitchFamily="34" charset="-122"/>
                <a:cs typeface="Aptos" pitchFamily="34" charset="-120"/>
              </a:rPr>
              <a:t>Market Labor Rate</a:t>
            </a:r>
            <a:endParaRPr lang="en-US" sz="1050" dirty="0"/>
          </a:p>
        </p:txBody>
      </p:sp>
      <p:sp>
        <p:nvSpPr>
          <p:cNvPr id="8" name="Text 6"/>
          <p:cNvSpPr/>
          <p:nvPr/>
        </p:nvSpPr>
        <p:spPr>
          <a:xfrm>
            <a:off x="6355080" y="1627632"/>
            <a:ext cx="2194560" cy="393192"/>
          </a:xfrm>
          <a:prstGeom prst="rect">
            <a:avLst/>
          </a:prstGeom>
          <a:noFill/>
          <a:ln/>
        </p:spPr>
        <p:txBody>
          <a:bodyPr wrap="square" lIns="0" tIns="0" rIns="0" bIns="0" rtlCol="0" anchor="ctr">
            <a:normAutofit/>
          </a:bodyPr>
          <a:lstStyle/>
          <a:p>
            <a:pPr marL="0" indent="0">
              <a:buNone/>
            </a:pPr>
            <a:r>
              <a:rPr lang="en-US" sz="1050" b="1" dirty="0">
                <a:solidFill>
                  <a:srgbClr val="0F766E"/>
                </a:solidFill>
                <a:latin typeface="Aptos" pitchFamily="34" charset="0"/>
                <a:ea typeface="Aptos" pitchFamily="34" charset="-122"/>
                <a:cs typeface="Aptos" pitchFamily="34" charset="-120"/>
              </a:rPr>
              <a:t>Total Commercial Value</a:t>
            </a:r>
            <a:endParaRPr lang="en-US" sz="1050" dirty="0"/>
          </a:p>
        </p:txBody>
      </p:sp>
      <p:sp>
        <p:nvSpPr>
          <p:cNvPr id="9" name="Text 7"/>
          <p:cNvSpPr/>
          <p:nvPr/>
        </p:nvSpPr>
        <p:spPr>
          <a:xfrm>
            <a:off x="8732520" y="1627632"/>
            <a:ext cx="2697480" cy="393192"/>
          </a:xfrm>
          <a:prstGeom prst="rect">
            <a:avLst/>
          </a:prstGeom>
          <a:noFill/>
          <a:ln/>
        </p:spPr>
        <p:txBody>
          <a:bodyPr wrap="square" lIns="0" tIns="0" rIns="0" bIns="0" rtlCol="0" anchor="ctr">
            <a:normAutofit/>
          </a:bodyPr>
          <a:lstStyle/>
          <a:p>
            <a:pPr marL="0" indent="0">
              <a:buNone/>
            </a:pPr>
            <a:r>
              <a:rPr lang="en-US" sz="1050" b="1" dirty="0">
                <a:solidFill>
                  <a:srgbClr val="0F766E"/>
                </a:solidFill>
                <a:latin typeface="Aptos" pitchFamily="34" charset="0"/>
                <a:ea typeface="Aptos" pitchFamily="34" charset="-122"/>
                <a:cs typeface="Aptos" pitchFamily="34" charset="-120"/>
              </a:rPr>
              <a:t>Net Savings / Multiplier</a:t>
            </a:r>
            <a:endParaRPr lang="en-US" sz="1050" dirty="0"/>
          </a:p>
        </p:txBody>
      </p:sp>
      <p:sp>
        <p:nvSpPr>
          <p:cNvPr id="10" name="Shape 8"/>
          <p:cNvSpPr/>
          <p:nvPr/>
        </p:nvSpPr>
        <p:spPr>
          <a:xfrm>
            <a:off x="502920" y="2331720"/>
            <a:ext cx="10972800" cy="640080"/>
          </a:xfrm>
          <a:prstGeom prst="roundRect">
            <a:avLst>
              <a:gd name="adj" fmla="val 11429"/>
            </a:avLst>
          </a:prstGeom>
          <a:solidFill>
            <a:srgbClr val="FFFFFF"/>
          </a:solidFill>
          <a:ln w="12700">
            <a:solidFill>
              <a:srgbClr val="CBD5E1"/>
            </a:solidFill>
            <a:prstDash val="solid"/>
          </a:ln>
        </p:spPr>
        <p:txBody>
          <a:bodyPr/>
          <a:lstStyle/>
          <a:p>
            <a:endParaRPr lang="en-US"/>
          </a:p>
        </p:txBody>
      </p:sp>
      <p:sp>
        <p:nvSpPr>
          <p:cNvPr id="11" name="Text 9"/>
          <p:cNvSpPr/>
          <p:nvPr/>
        </p:nvSpPr>
        <p:spPr>
          <a:xfrm>
            <a:off x="594360" y="2468880"/>
            <a:ext cx="2286000" cy="347472"/>
          </a:xfrm>
          <a:prstGeom prst="rect">
            <a:avLst/>
          </a:prstGeom>
          <a:noFill/>
          <a:ln/>
        </p:spPr>
        <p:txBody>
          <a:bodyPr wrap="square" lIns="0" tIns="0" rIns="0" bIns="0" rtlCol="0" anchor="ctr">
            <a:normAutofit/>
          </a:bodyPr>
          <a:lstStyle/>
          <a:p>
            <a:pPr marL="0" indent="0">
              <a:buNone/>
            </a:pPr>
            <a:r>
              <a:rPr lang="en-US" sz="1100" b="1" dirty="0">
                <a:solidFill>
                  <a:srgbClr val="0F172A"/>
                </a:solidFill>
                <a:latin typeface="Aptos" pitchFamily="34" charset="0"/>
                <a:ea typeface="Aptos" pitchFamily="34" charset="-122"/>
                <a:cs typeface="Aptos" pitchFamily="34" charset="-120"/>
              </a:rPr>
              <a:t>Traditional Manual Build (No AI)</a:t>
            </a:r>
            <a:endParaRPr lang="en-US" sz="1100" dirty="0"/>
          </a:p>
        </p:txBody>
      </p:sp>
      <p:sp>
        <p:nvSpPr>
          <p:cNvPr id="12" name="Text 10"/>
          <p:cNvSpPr/>
          <p:nvPr/>
        </p:nvSpPr>
        <p:spPr>
          <a:xfrm>
            <a:off x="3154680" y="2468880"/>
            <a:ext cx="1371600" cy="347472"/>
          </a:xfrm>
          <a:prstGeom prst="rect">
            <a:avLst/>
          </a:prstGeom>
          <a:noFill/>
          <a:ln/>
        </p:spPr>
        <p:txBody>
          <a:bodyPr wrap="square" lIns="0" tIns="0" rIns="0" bIns="0" rtlCol="0" anchor="ctr">
            <a:normAutofit/>
          </a:bodyPr>
          <a:lstStyle/>
          <a:p>
            <a:pPr marL="0" indent="0">
              <a:buNone/>
            </a:pPr>
            <a:r>
              <a:rPr lang="en-US" sz="1100" dirty="0">
                <a:solidFill>
                  <a:srgbClr val="1D4ED8"/>
                </a:solidFill>
                <a:latin typeface="Aptos" pitchFamily="34" charset="0"/>
                <a:ea typeface="Aptos" pitchFamily="34" charset="-122"/>
                <a:cs typeface="Aptos" pitchFamily="34" charset="-120"/>
              </a:rPr>
              <a:t>120 – 165 hrs</a:t>
            </a:r>
            <a:endParaRPr lang="en-US" sz="1100" dirty="0"/>
          </a:p>
        </p:txBody>
      </p:sp>
      <p:sp>
        <p:nvSpPr>
          <p:cNvPr id="13" name="Text 11"/>
          <p:cNvSpPr/>
          <p:nvPr/>
        </p:nvSpPr>
        <p:spPr>
          <a:xfrm>
            <a:off x="4800600" y="2468880"/>
            <a:ext cx="1371600" cy="347472"/>
          </a:xfrm>
          <a:prstGeom prst="rect">
            <a:avLst/>
          </a:prstGeom>
          <a:noFill/>
          <a:ln/>
        </p:spPr>
        <p:txBody>
          <a:bodyPr wrap="square" lIns="0" tIns="0" rIns="0" bIns="0" rtlCol="0" anchor="ctr">
            <a:normAutofit/>
          </a:bodyPr>
          <a:lstStyle/>
          <a:p>
            <a:pPr marL="0" indent="0">
              <a:buNone/>
            </a:pPr>
            <a:r>
              <a:rPr lang="en-US" sz="1100" dirty="0">
                <a:solidFill>
                  <a:srgbClr val="1D4ED8"/>
                </a:solidFill>
                <a:latin typeface="Aptos" pitchFamily="34" charset="0"/>
                <a:ea typeface="Aptos" pitchFamily="34" charset="-122"/>
                <a:cs typeface="Aptos" pitchFamily="34" charset="-120"/>
              </a:rPr>
              <a:t>$100 / hr</a:t>
            </a:r>
            <a:endParaRPr lang="en-US" sz="1100" dirty="0"/>
          </a:p>
        </p:txBody>
      </p:sp>
      <p:sp>
        <p:nvSpPr>
          <p:cNvPr id="14" name="Text 12"/>
          <p:cNvSpPr/>
          <p:nvPr/>
        </p:nvSpPr>
        <p:spPr>
          <a:xfrm>
            <a:off x="6446520" y="2468880"/>
            <a:ext cx="2057400" cy="347472"/>
          </a:xfrm>
          <a:prstGeom prst="rect">
            <a:avLst/>
          </a:prstGeom>
          <a:noFill/>
          <a:ln/>
        </p:spPr>
        <p:txBody>
          <a:bodyPr wrap="square" lIns="0" tIns="0" rIns="0" bIns="0" rtlCol="0" anchor="ctr">
            <a:normAutofit/>
          </a:bodyPr>
          <a:lstStyle/>
          <a:p>
            <a:pPr marL="0" indent="0">
              <a:buNone/>
            </a:pPr>
            <a:r>
              <a:rPr lang="en-US" sz="1100" dirty="0">
                <a:solidFill>
                  <a:srgbClr val="1D4ED8"/>
                </a:solidFill>
                <a:latin typeface="Aptos" pitchFamily="34" charset="0"/>
                <a:ea typeface="Aptos" pitchFamily="34" charset="-122"/>
                <a:cs typeface="Aptos" pitchFamily="34" charset="-120"/>
              </a:rPr>
              <a:t>$12,000 – $16,500 USD</a:t>
            </a:r>
            <a:endParaRPr lang="en-US" sz="1100" dirty="0"/>
          </a:p>
        </p:txBody>
      </p:sp>
      <p:sp>
        <p:nvSpPr>
          <p:cNvPr id="15" name="Text 13"/>
          <p:cNvSpPr/>
          <p:nvPr/>
        </p:nvSpPr>
        <p:spPr>
          <a:xfrm>
            <a:off x="8823960" y="2468880"/>
            <a:ext cx="2560320" cy="347472"/>
          </a:xfrm>
          <a:prstGeom prst="rect">
            <a:avLst/>
          </a:prstGeom>
          <a:noFill/>
          <a:ln/>
        </p:spPr>
        <p:txBody>
          <a:bodyPr wrap="square" lIns="0" tIns="0" rIns="0" bIns="0" rtlCol="0" anchor="ctr">
            <a:normAutofit/>
          </a:bodyPr>
          <a:lstStyle/>
          <a:p>
            <a:pPr marL="0" indent="0">
              <a:buNone/>
            </a:pPr>
            <a:r>
              <a:rPr lang="en-US" sz="1100" dirty="0">
                <a:solidFill>
                  <a:srgbClr val="334155"/>
                </a:solidFill>
                <a:latin typeface="Aptos" pitchFamily="34" charset="0"/>
                <a:ea typeface="Aptos" pitchFamily="34" charset="-122"/>
                <a:cs typeface="Aptos" pitchFamily="34" charset="-120"/>
              </a:rPr>
              <a:t>~44x – 61x Cheaper</a:t>
            </a:r>
            <a:endParaRPr lang="en-US" sz="1100" dirty="0"/>
          </a:p>
        </p:txBody>
      </p:sp>
      <p:sp>
        <p:nvSpPr>
          <p:cNvPr id="16" name="Shape 14"/>
          <p:cNvSpPr/>
          <p:nvPr/>
        </p:nvSpPr>
        <p:spPr>
          <a:xfrm>
            <a:off x="502920" y="3127248"/>
            <a:ext cx="10972800" cy="640080"/>
          </a:xfrm>
          <a:prstGeom prst="roundRect">
            <a:avLst>
              <a:gd name="adj" fmla="val 11429"/>
            </a:avLst>
          </a:prstGeom>
          <a:solidFill>
            <a:srgbClr val="FFFFFF"/>
          </a:solidFill>
          <a:ln w="12700">
            <a:solidFill>
              <a:srgbClr val="CBD5E1"/>
            </a:solidFill>
            <a:prstDash val="solid"/>
          </a:ln>
        </p:spPr>
        <p:txBody>
          <a:bodyPr/>
          <a:lstStyle/>
          <a:p>
            <a:endParaRPr lang="en-US"/>
          </a:p>
        </p:txBody>
      </p:sp>
      <p:sp>
        <p:nvSpPr>
          <p:cNvPr id="17" name="Text 15"/>
          <p:cNvSpPr/>
          <p:nvPr/>
        </p:nvSpPr>
        <p:spPr>
          <a:xfrm>
            <a:off x="594360" y="3264408"/>
            <a:ext cx="2286000" cy="347472"/>
          </a:xfrm>
          <a:prstGeom prst="rect">
            <a:avLst/>
          </a:prstGeom>
          <a:noFill/>
          <a:ln/>
        </p:spPr>
        <p:txBody>
          <a:bodyPr wrap="square" lIns="0" tIns="0" rIns="0" bIns="0" rtlCol="0" anchor="ctr">
            <a:normAutofit/>
          </a:bodyPr>
          <a:lstStyle/>
          <a:p>
            <a:pPr marL="0" indent="0">
              <a:buNone/>
            </a:pPr>
            <a:r>
              <a:rPr lang="en-US" sz="1100" b="1" dirty="0">
                <a:solidFill>
                  <a:srgbClr val="0F172A"/>
                </a:solidFill>
                <a:latin typeface="Aptos" pitchFamily="34" charset="0"/>
                <a:ea typeface="Aptos" pitchFamily="34" charset="-122"/>
                <a:cs typeface="Aptos" pitchFamily="34" charset="-120"/>
              </a:rPr>
              <a:t>Senior Engineer (with AI Copilot)</a:t>
            </a:r>
            <a:endParaRPr lang="en-US" sz="1100" dirty="0"/>
          </a:p>
        </p:txBody>
      </p:sp>
      <p:sp>
        <p:nvSpPr>
          <p:cNvPr id="18" name="Text 16"/>
          <p:cNvSpPr/>
          <p:nvPr/>
        </p:nvSpPr>
        <p:spPr>
          <a:xfrm>
            <a:off x="3154680" y="3264408"/>
            <a:ext cx="1371600" cy="347472"/>
          </a:xfrm>
          <a:prstGeom prst="rect">
            <a:avLst/>
          </a:prstGeom>
          <a:noFill/>
          <a:ln/>
        </p:spPr>
        <p:txBody>
          <a:bodyPr wrap="square" lIns="0" tIns="0" rIns="0" bIns="0" rtlCol="0" anchor="ctr">
            <a:normAutofit/>
          </a:bodyPr>
          <a:lstStyle/>
          <a:p>
            <a:pPr marL="0" indent="0">
              <a:buNone/>
            </a:pPr>
            <a:r>
              <a:rPr lang="en-US" sz="1100" dirty="0">
                <a:solidFill>
                  <a:srgbClr val="1D4ED8"/>
                </a:solidFill>
                <a:latin typeface="Aptos" pitchFamily="34" charset="0"/>
                <a:ea typeface="Aptos" pitchFamily="34" charset="-122"/>
                <a:cs typeface="Aptos" pitchFamily="34" charset="-120"/>
              </a:rPr>
              <a:t>55 – 70 hrs</a:t>
            </a:r>
            <a:endParaRPr lang="en-US" sz="1100" dirty="0"/>
          </a:p>
        </p:txBody>
      </p:sp>
      <p:sp>
        <p:nvSpPr>
          <p:cNvPr id="19" name="Text 17"/>
          <p:cNvSpPr/>
          <p:nvPr/>
        </p:nvSpPr>
        <p:spPr>
          <a:xfrm>
            <a:off x="4800600" y="3264408"/>
            <a:ext cx="1371600" cy="347472"/>
          </a:xfrm>
          <a:prstGeom prst="rect">
            <a:avLst/>
          </a:prstGeom>
          <a:noFill/>
          <a:ln/>
        </p:spPr>
        <p:txBody>
          <a:bodyPr wrap="square" lIns="0" tIns="0" rIns="0" bIns="0" rtlCol="0" anchor="ctr">
            <a:normAutofit/>
          </a:bodyPr>
          <a:lstStyle/>
          <a:p>
            <a:pPr marL="0" indent="0">
              <a:buNone/>
            </a:pPr>
            <a:r>
              <a:rPr lang="en-US" sz="1100" dirty="0">
                <a:solidFill>
                  <a:srgbClr val="1D4ED8"/>
                </a:solidFill>
                <a:latin typeface="Aptos" pitchFamily="34" charset="0"/>
                <a:ea typeface="Aptos" pitchFamily="34" charset="-122"/>
                <a:cs typeface="Aptos" pitchFamily="34" charset="-120"/>
              </a:rPr>
              <a:t>$100 / hr</a:t>
            </a:r>
            <a:endParaRPr lang="en-US" sz="1100" dirty="0"/>
          </a:p>
        </p:txBody>
      </p:sp>
      <p:sp>
        <p:nvSpPr>
          <p:cNvPr id="20" name="Text 18"/>
          <p:cNvSpPr/>
          <p:nvPr/>
        </p:nvSpPr>
        <p:spPr>
          <a:xfrm>
            <a:off x="6446520" y="3264408"/>
            <a:ext cx="2057400" cy="347472"/>
          </a:xfrm>
          <a:prstGeom prst="rect">
            <a:avLst/>
          </a:prstGeom>
          <a:noFill/>
          <a:ln/>
        </p:spPr>
        <p:txBody>
          <a:bodyPr wrap="square" lIns="0" tIns="0" rIns="0" bIns="0" rtlCol="0" anchor="ctr">
            <a:normAutofit/>
          </a:bodyPr>
          <a:lstStyle/>
          <a:p>
            <a:pPr marL="0" indent="0">
              <a:buNone/>
            </a:pPr>
            <a:r>
              <a:rPr lang="en-US" sz="1100" dirty="0">
                <a:solidFill>
                  <a:srgbClr val="1D4ED8"/>
                </a:solidFill>
                <a:latin typeface="Aptos" pitchFamily="34" charset="0"/>
                <a:ea typeface="Aptos" pitchFamily="34" charset="-122"/>
                <a:cs typeface="Aptos" pitchFamily="34" charset="-120"/>
              </a:rPr>
              <a:t>$5,500 – $7,000 USD</a:t>
            </a:r>
            <a:endParaRPr lang="en-US" sz="1100" dirty="0"/>
          </a:p>
        </p:txBody>
      </p:sp>
      <p:sp>
        <p:nvSpPr>
          <p:cNvPr id="21" name="Text 19"/>
          <p:cNvSpPr/>
          <p:nvPr/>
        </p:nvSpPr>
        <p:spPr>
          <a:xfrm>
            <a:off x="8823960" y="3264408"/>
            <a:ext cx="2560320" cy="347472"/>
          </a:xfrm>
          <a:prstGeom prst="rect">
            <a:avLst/>
          </a:prstGeom>
          <a:noFill/>
          <a:ln/>
        </p:spPr>
        <p:txBody>
          <a:bodyPr wrap="square" lIns="0" tIns="0" rIns="0" bIns="0" rtlCol="0" anchor="ctr">
            <a:normAutofit/>
          </a:bodyPr>
          <a:lstStyle/>
          <a:p>
            <a:pPr marL="0" indent="0">
              <a:buNone/>
            </a:pPr>
            <a:r>
              <a:rPr lang="en-US" sz="1100" dirty="0">
                <a:solidFill>
                  <a:srgbClr val="334155"/>
                </a:solidFill>
                <a:latin typeface="Aptos" pitchFamily="34" charset="0"/>
                <a:ea typeface="Aptos" pitchFamily="34" charset="-122"/>
                <a:cs typeface="Aptos" pitchFamily="34" charset="-120"/>
              </a:rPr>
              <a:t>~20x – 26x Cheaper</a:t>
            </a:r>
            <a:endParaRPr lang="en-US" sz="1100" dirty="0"/>
          </a:p>
        </p:txBody>
      </p:sp>
      <p:sp>
        <p:nvSpPr>
          <p:cNvPr id="22" name="Shape 20"/>
          <p:cNvSpPr/>
          <p:nvPr/>
        </p:nvSpPr>
        <p:spPr>
          <a:xfrm>
            <a:off x="502920" y="3922776"/>
            <a:ext cx="10972800" cy="640080"/>
          </a:xfrm>
          <a:prstGeom prst="roundRect">
            <a:avLst>
              <a:gd name="adj" fmla="val 11429"/>
            </a:avLst>
          </a:prstGeom>
          <a:solidFill>
            <a:srgbClr val="CCFBF1"/>
          </a:solidFill>
          <a:ln w="12700">
            <a:solidFill>
              <a:srgbClr val="0F766E"/>
            </a:solidFill>
            <a:prstDash val="solid"/>
          </a:ln>
        </p:spPr>
        <p:txBody>
          <a:bodyPr/>
          <a:lstStyle/>
          <a:p>
            <a:endParaRPr lang="en-US"/>
          </a:p>
        </p:txBody>
      </p:sp>
      <p:sp>
        <p:nvSpPr>
          <p:cNvPr id="23" name="Text 21"/>
          <p:cNvSpPr/>
          <p:nvPr/>
        </p:nvSpPr>
        <p:spPr>
          <a:xfrm>
            <a:off x="594360" y="4059936"/>
            <a:ext cx="2286000" cy="347472"/>
          </a:xfrm>
          <a:prstGeom prst="rect">
            <a:avLst/>
          </a:prstGeom>
          <a:noFill/>
          <a:ln/>
        </p:spPr>
        <p:txBody>
          <a:bodyPr wrap="square" lIns="0" tIns="0" rIns="0" bIns="0" rtlCol="0" anchor="ctr">
            <a:normAutofit/>
          </a:bodyPr>
          <a:lstStyle/>
          <a:p>
            <a:pPr marL="0" indent="0">
              <a:buNone/>
            </a:pPr>
            <a:r>
              <a:rPr lang="en-US" sz="1100" b="1" dirty="0">
                <a:solidFill>
                  <a:srgbClr val="0F172A"/>
                </a:solidFill>
                <a:latin typeface="Aptos" pitchFamily="34" charset="0"/>
                <a:ea typeface="Aptos" pitchFamily="34" charset="-122"/>
                <a:cs typeface="Aptos" pitchFamily="34" charset="-120"/>
              </a:rPr>
              <a:t>Autonomous Agent Build (This Project)</a:t>
            </a:r>
            <a:endParaRPr lang="en-US" sz="1100" dirty="0"/>
          </a:p>
        </p:txBody>
      </p:sp>
      <p:sp>
        <p:nvSpPr>
          <p:cNvPr id="24" name="Text 22"/>
          <p:cNvSpPr/>
          <p:nvPr/>
        </p:nvSpPr>
        <p:spPr>
          <a:xfrm>
            <a:off x="3154680" y="4059936"/>
            <a:ext cx="1371600" cy="347472"/>
          </a:xfrm>
          <a:prstGeom prst="rect">
            <a:avLst/>
          </a:prstGeom>
          <a:noFill/>
          <a:ln/>
        </p:spPr>
        <p:txBody>
          <a:bodyPr wrap="square" lIns="0" tIns="0" rIns="0" bIns="0" rtlCol="0" anchor="ctr">
            <a:normAutofit/>
          </a:bodyPr>
          <a:lstStyle/>
          <a:p>
            <a:pPr marL="0" indent="0">
              <a:buNone/>
            </a:pPr>
            <a:r>
              <a:rPr lang="en-US" sz="1100" b="1" dirty="0">
                <a:solidFill>
                  <a:srgbClr val="1D4ED8"/>
                </a:solidFill>
                <a:latin typeface="Aptos" pitchFamily="34" charset="0"/>
                <a:ea typeface="Aptos" pitchFamily="34" charset="-122"/>
                <a:cs typeface="Aptos" pitchFamily="34" charset="-120"/>
              </a:rPr>
              <a:t>~22 – 30 hrs</a:t>
            </a:r>
            <a:endParaRPr lang="en-US" sz="1100" dirty="0"/>
          </a:p>
        </p:txBody>
      </p:sp>
      <p:sp>
        <p:nvSpPr>
          <p:cNvPr id="25" name="Text 23"/>
          <p:cNvSpPr/>
          <p:nvPr/>
        </p:nvSpPr>
        <p:spPr>
          <a:xfrm>
            <a:off x="4800600" y="4059936"/>
            <a:ext cx="1371600" cy="347472"/>
          </a:xfrm>
          <a:prstGeom prst="rect">
            <a:avLst/>
          </a:prstGeom>
          <a:noFill/>
          <a:ln/>
        </p:spPr>
        <p:txBody>
          <a:bodyPr wrap="square" lIns="0" tIns="0" rIns="0" bIns="0" rtlCol="0" anchor="ctr">
            <a:normAutofit/>
          </a:bodyPr>
          <a:lstStyle/>
          <a:p>
            <a:pPr marL="0" indent="0">
              <a:buNone/>
            </a:pPr>
            <a:r>
              <a:rPr lang="en-US" sz="1100" b="1" dirty="0">
                <a:solidFill>
                  <a:srgbClr val="1D4ED8"/>
                </a:solidFill>
                <a:latin typeface="Aptos" pitchFamily="34" charset="0"/>
                <a:ea typeface="Aptos" pitchFamily="34" charset="-122"/>
                <a:cs typeface="Aptos" pitchFamily="34" charset="-120"/>
              </a:rPr>
              <a:t>Direct Compute</a:t>
            </a:r>
            <a:endParaRPr lang="en-US" sz="1100" dirty="0"/>
          </a:p>
        </p:txBody>
      </p:sp>
      <p:sp>
        <p:nvSpPr>
          <p:cNvPr id="26" name="Text 24"/>
          <p:cNvSpPr/>
          <p:nvPr/>
        </p:nvSpPr>
        <p:spPr>
          <a:xfrm>
            <a:off x="6446520" y="4059936"/>
            <a:ext cx="2057400" cy="347472"/>
          </a:xfrm>
          <a:prstGeom prst="rect">
            <a:avLst/>
          </a:prstGeom>
          <a:noFill/>
          <a:ln/>
        </p:spPr>
        <p:txBody>
          <a:bodyPr wrap="square" lIns="0" tIns="0" rIns="0" bIns="0" rtlCol="0" anchor="ctr">
            <a:normAutofit/>
          </a:bodyPr>
          <a:lstStyle/>
          <a:p>
            <a:pPr marL="0" indent="0">
              <a:buNone/>
            </a:pPr>
            <a:r>
              <a:rPr lang="en-US" sz="1100" b="1" dirty="0">
                <a:solidFill>
                  <a:srgbClr val="1D4ED8"/>
                </a:solidFill>
                <a:latin typeface="Aptos" pitchFamily="34" charset="0"/>
                <a:ea typeface="Aptos" pitchFamily="34" charset="-122"/>
                <a:cs typeface="Aptos" pitchFamily="34" charset="-120"/>
              </a:rPr>
              <a:t>~$270 USD</a:t>
            </a:r>
            <a:endParaRPr lang="en-US" sz="1100" dirty="0"/>
          </a:p>
        </p:txBody>
      </p:sp>
      <p:sp>
        <p:nvSpPr>
          <p:cNvPr id="27" name="Text 25"/>
          <p:cNvSpPr/>
          <p:nvPr/>
        </p:nvSpPr>
        <p:spPr>
          <a:xfrm>
            <a:off x="8823960" y="4059936"/>
            <a:ext cx="2560320" cy="347472"/>
          </a:xfrm>
          <a:prstGeom prst="rect">
            <a:avLst/>
          </a:prstGeom>
          <a:noFill/>
          <a:ln/>
        </p:spPr>
        <p:txBody>
          <a:bodyPr wrap="square" lIns="0" tIns="0" rIns="0" bIns="0" rtlCol="0" anchor="ctr">
            <a:normAutofit/>
          </a:bodyPr>
          <a:lstStyle/>
          <a:p>
            <a:pPr marL="0" indent="0">
              <a:buNone/>
            </a:pPr>
            <a:r>
              <a:rPr lang="en-US" sz="1100" b="1" dirty="0">
                <a:solidFill>
                  <a:srgbClr val="334155"/>
                </a:solidFill>
                <a:latin typeface="Aptos" pitchFamily="34" charset="0"/>
                <a:ea typeface="Aptos" pitchFamily="34" charset="-122"/>
                <a:cs typeface="Aptos" pitchFamily="34" charset="-120"/>
              </a:rPr>
              <a:t>Baseline Direct Cost</a:t>
            </a:r>
            <a:endParaRPr lang="en-US" sz="1100" dirty="0"/>
          </a:p>
        </p:txBody>
      </p:sp>
      <p:sp>
        <p:nvSpPr>
          <p:cNvPr id="28" name="Shape 26"/>
          <p:cNvSpPr/>
          <p:nvPr/>
        </p:nvSpPr>
        <p:spPr>
          <a:xfrm>
            <a:off x="822960" y="5074920"/>
            <a:ext cx="10515600" cy="658368"/>
          </a:xfrm>
          <a:prstGeom prst="roundRect">
            <a:avLst>
              <a:gd name="adj" fmla="val 11111"/>
            </a:avLst>
          </a:prstGeom>
          <a:solidFill>
            <a:srgbClr val="FEF3C7"/>
          </a:solidFill>
          <a:ln w="12700">
            <a:solidFill>
              <a:srgbClr val="B45309"/>
            </a:solidFill>
            <a:prstDash val="solid"/>
          </a:ln>
        </p:spPr>
        <p:txBody>
          <a:bodyPr/>
          <a:lstStyle/>
          <a:p>
            <a:endParaRPr lang="en-US"/>
          </a:p>
        </p:txBody>
      </p:sp>
      <p:sp>
        <p:nvSpPr>
          <p:cNvPr id="29" name="Text 27"/>
          <p:cNvSpPr/>
          <p:nvPr/>
        </p:nvSpPr>
        <p:spPr>
          <a:xfrm>
            <a:off x="1097280" y="5276088"/>
            <a:ext cx="9966960" cy="228600"/>
          </a:xfrm>
          <a:prstGeom prst="rect">
            <a:avLst/>
          </a:prstGeom>
          <a:noFill/>
          <a:ln/>
        </p:spPr>
        <p:txBody>
          <a:bodyPr wrap="square" lIns="0" tIns="0" rIns="0" bIns="0" rtlCol="0" anchor="ctr">
            <a:normAutofit fontScale="92500"/>
          </a:bodyPr>
          <a:lstStyle/>
          <a:p>
            <a:pPr marL="0" indent="0" algn="ctr">
              <a:buNone/>
            </a:pPr>
            <a:r>
              <a:rPr lang="en-US" sz="1400" b="1" dirty="0">
                <a:solidFill>
                  <a:srgbClr val="B45309"/>
                </a:solidFill>
                <a:latin typeface="Aptos" pitchFamily="34" charset="0"/>
                <a:ea typeface="Aptos" pitchFamily="34" charset="-122"/>
                <a:cs typeface="Aptos" pitchFamily="34" charset="-120"/>
              </a:rPr>
              <a:t>Capital Efficiency: ~$270 USD represents approximately 98% savings compared with conventional contractor or agency rates.</a:t>
            </a:r>
            <a:endParaRPr lang="en-US" sz="1400" dirty="0"/>
          </a:p>
        </p:txBody>
      </p:sp>
      <p:sp>
        <p:nvSpPr>
          <p:cNvPr id="30" name="Text 28"/>
          <p:cNvSpPr/>
          <p:nvPr/>
        </p:nvSpPr>
        <p:spPr>
          <a:xfrm>
            <a:off x="822960" y="5925312"/>
            <a:ext cx="10515600" cy="256032"/>
          </a:xfrm>
          <a:prstGeom prst="rect">
            <a:avLst/>
          </a:prstGeom>
          <a:noFill/>
          <a:ln/>
        </p:spPr>
        <p:txBody>
          <a:bodyPr wrap="square" lIns="0" tIns="0" rIns="0" bIns="0" rtlCol="0" anchor="ctr">
            <a:normAutofit/>
          </a:bodyPr>
          <a:lstStyle/>
          <a:p>
            <a:pPr marL="0" indent="0" algn="ctr">
              <a:buNone/>
            </a:pPr>
            <a:r>
              <a:rPr lang="en-US" sz="1100" b="1" dirty="0">
                <a:solidFill>
                  <a:srgbClr val="64748B"/>
                </a:solidFill>
                <a:latin typeface="Aptos" pitchFamily="34" charset="0"/>
                <a:ea typeface="Aptos" pitchFamily="34" charset="-122"/>
                <a:cs typeface="Aptos" pitchFamily="34" charset="-120"/>
              </a:rPr>
              <a:t>Overall confidence: approximately 90% accurate as an engineering estimate; direct costs and recorded credits are stronger than reconstructed ROI and time figures.</a:t>
            </a:r>
            <a:endParaRPr lang="en-US" sz="1100" dirty="0"/>
          </a:p>
        </p:txBody>
      </p:sp>
      <p:sp>
        <p:nvSpPr>
          <p:cNvPr id="31"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marL="0" indent="0">
              <a:buNone/>
            </a:pPr>
            <a:r>
              <a:rPr lang="en-US" sz="900" b="1" kern="0" spc="110" dirty="0">
                <a:solidFill>
                  <a:srgbClr val="0F766E"/>
                </a:solidFill>
                <a:latin typeface="Aptos" pitchFamily="34" charset="0"/>
                <a:ea typeface="Aptos" pitchFamily="34" charset="-122"/>
                <a:cs typeface="Aptos" pitchFamily="34" charset="-120"/>
              </a:rPr>
              <a:t>LESSONS LEARNED</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marL="0" indent="0">
              <a:buNone/>
            </a:pPr>
            <a:r>
              <a:rPr lang="en-US" sz="2700" b="1" dirty="0">
                <a:solidFill>
                  <a:srgbClr val="0F172A"/>
                </a:solidFill>
                <a:latin typeface="Aptos" pitchFamily="34" charset="0"/>
                <a:ea typeface="Aptos" pitchFamily="34" charset="-122"/>
                <a:cs typeface="Aptos" pitchFamily="34" charset="-120"/>
              </a:rPr>
              <a:t>Five rules for building applications with AI</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marL="0" indent="0">
              <a:buNone/>
            </a:pPr>
            <a:r>
              <a:rPr lang="en-US" sz="1200" dirty="0">
                <a:solidFill>
                  <a:srgbClr val="64748B"/>
                </a:solidFill>
                <a:latin typeface="Aptos" pitchFamily="34" charset="0"/>
                <a:ea typeface="Aptos" pitchFamily="34" charset="-122"/>
                <a:cs typeface="Aptos" pitchFamily="34" charset="-120"/>
              </a:rPr>
              <a:t>A short checklist to take back to the next project.</a:t>
            </a:r>
            <a:endParaRPr lang="en-US" sz="1200" dirty="0"/>
          </a:p>
        </p:txBody>
      </p:sp>
      <p:sp>
        <p:nvSpPr>
          <p:cNvPr id="5" name="Text 3"/>
          <p:cNvSpPr/>
          <p:nvPr/>
        </p:nvSpPr>
        <p:spPr>
          <a:xfrm>
            <a:off x="822960" y="1664208"/>
            <a:ext cx="384048" cy="320040"/>
          </a:xfrm>
          <a:prstGeom prst="rect">
            <a:avLst/>
          </a:prstGeom>
          <a:noFill/>
          <a:ln/>
        </p:spPr>
        <p:txBody>
          <a:bodyPr wrap="square" lIns="0" tIns="0" rIns="0" bIns="0" rtlCol="0" anchor="ctr">
            <a:normAutofit/>
          </a:bodyPr>
          <a:lstStyle/>
          <a:p>
            <a:pPr marL="0" indent="0" algn="ctr">
              <a:buNone/>
            </a:pPr>
            <a:r>
              <a:rPr lang="en-US" sz="2100" b="1" dirty="0">
                <a:solidFill>
                  <a:srgbClr val="0F766E"/>
                </a:solidFill>
                <a:latin typeface="Aptos" pitchFamily="34" charset="0"/>
                <a:ea typeface="Aptos" pitchFamily="34" charset="-122"/>
                <a:cs typeface="Aptos" pitchFamily="34" charset="-120"/>
              </a:rPr>
              <a:t>1</a:t>
            </a:r>
            <a:endParaRPr lang="en-US" sz="2100" dirty="0"/>
          </a:p>
        </p:txBody>
      </p:sp>
      <p:sp>
        <p:nvSpPr>
          <p:cNvPr id="6" name="Shape 4"/>
          <p:cNvSpPr/>
          <p:nvPr/>
        </p:nvSpPr>
        <p:spPr>
          <a:xfrm>
            <a:off x="1417320" y="1956816"/>
            <a:ext cx="9418320" cy="0"/>
          </a:xfrm>
          <a:prstGeom prst="line">
            <a:avLst/>
          </a:prstGeom>
          <a:noFill/>
          <a:ln w="12700">
            <a:solidFill>
              <a:srgbClr val="CBD5E1"/>
            </a:solidFill>
            <a:prstDash val="solid"/>
          </a:ln>
        </p:spPr>
        <p:txBody>
          <a:bodyPr/>
          <a:lstStyle/>
          <a:p>
            <a:endParaRPr lang="en-US"/>
          </a:p>
        </p:txBody>
      </p:sp>
      <p:sp>
        <p:nvSpPr>
          <p:cNvPr id="7" name="Text 5"/>
          <p:cNvSpPr/>
          <p:nvPr/>
        </p:nvSpPr>
        <p:spPr>
          <a:xfrm>
            <a:off x="1691640" y="1581911"/>
            <a:ext cx="8961120" cy="539496"/>
          </a:xfrm>
          <a:prstGeom prst="rect">
            <a:avLst/>
          </a:prstGeom>
          <a:noFill/>
          <a:ln/>
        </p:spPr>
        <p:txBody>
          <a:bodyPr wrap="square" lIns="0" tIns="0" rIns="0" bIns="0" rtlCol="0" anchor="ctr">
            <a:normAutofit/>
          </a:bodyPr>
          <a:lstStyle/>
          <a:p>
            <a:r>
              <a:rPr lang="en-US" sz="1700" i="1" dirty="0">
                <a:solidFill>
                  <a:srgbClr val="0F172A"/>
                </a:solidFill>
                <a:latin typeface="Aptos" pitchFamily="34" charset="0"/>
                <a:ea typeface="Aptos" pitchFamily="34" charset="-122"/>
                <a:cs typeface="Aptos" pitchFamily="34" charset="-120"/>
              </a:rPr>
              <a:t>Specify the architecture before asking for implementation:</a:t>
            </a:r>
            <a:r>
              <a:rPr lang="en-US" sz="1700" dirty="0">
                <a:solidFill>
                  <a:srgbClr val="0F172A"/>
                </a:solidFill>
                <a:latin typeface="Aptos" pitchFamily="34" charset="0"/>
                <a:ea typeface="Aptos" pitchFamily="34" charset="-122"/>
                <a:cs typeface="Aptos" pitchFamily="34" charset="-120"/>
              </a:rPr>
              <a:t> </a:t>
            </a:r>
            <a:r>
              <a:rPr lang="en-US" sz="1700" dirty="0"/>
              <a:t>Define system boundaries, responsibilities, data flows, and interfaces before requesting implementation.</a:t>
            </a:r>
          </a:p>
          <a:p>
            <a:pPr marL="0" indent="0">
              <a:buNone/>
            </a:pPr>
            <a:endParaRPr lang="en-US" sz="1700" dirty="0"/>
          </a:p>
        </p:txBody>
      </p:sp>
      <p:sp>
        <p:nvSpPr>
          <p:cNvPr id="8" name="Text 6"/>
          <p:cNvSpPr/>
          <p:nvPr/>
        </p:nvSpPr>
        <p:spPr>
          <a:xfrm>
            <a:off x="822960" y="2414016"/>
            <a:ext cx="384048" cy="320040"/>
          </a:xfrm>
          <a:prstGeom prst="rect">
            <a:avLst/>
          </a:prstGeom>
          <a:noFill/>
          <a:ln/>
        </p:spPr>
        <p:txBody>
          <a:bodyPr wrap="square" lIns="0" tIns="0" rIns="0" bIns="0" rtlCol="0" anchor="ctr">
            <a:normAutofit/>
          </a:bodyPr>
          <a:lstStyle/>
          <a:p>
            <a:pPr marL="0" indent="0" algn="ctr">
              <a:buNone/>
            </a:pPr>
            <a:r>
              <a:rPr lang="en-US" sz="2100" b="1" dirty="0">
                <a:solidFill>
                  <a:srgbClr val="0F766E"/>
                </a:solidFill>
                <a:latin typeface="Aptos" pitchFamily="34" charset="0"/>
                <a:ea typeface="Aptos" pitchFamily="34" charset="-122"/>
                <a:cs typeface="Aptos" pitchFamily="34" charset="-120"/>
              </a:rPr>
              <a:t>2</a:t>
            </a:r>
            <a:endParaRPr lang="en-US" sz="2100" dirty="0"/>
          </a:p>
        </p:txBody>
      </p:sp>
      <p:sp>
        <p:nvSpPr>
          <p:cNvPr id="9" name="Shape 7"/>
          <p:cNvSpPr/>
          <p:nvPr/>
        </p:nvSpPr>
        <p:spPr>
          <a:xfrm>
            <a:off x="1417320" y="2706624"/>
            <a:ext cx="9418320" cy="0"/>
          </a:xfrm>
          <a:prstGeom prst="line">
            <a:avLst/>
          </a:prstGeom>
          <a:noFill/>
          <a:ln w="12700">
            <a:solidFill>
              <a:srgbClr val="CBD5E1"/>
            </a:solidFill>
            <a:prstDash val="solid"/>
          </a:ln>
        </p:spPr>
        <p:txBody>
          <a:bodyPr/>
          <a:lstStyle/>
          <a:p>
            <a:endParaRPr lang="en-US"/>
          </a:p>
        </p:txBody>
      </p:sp>
      <p:sp>
        <p:nvSpPr>
          <p:cNvPr id="10" name="Text 8"/>
          <p:cNvSpPr/>
          <p:nvPr/>
        </p:nvSpPr>
        <p:spPr>
          <a:xfrm>
            <a:off x="1691640" y="2249425"/>
            <a:ext cx="8961120" cy="612647"/>
          </a:xfrm>
          <a:prstGeom prst="rect">
            <a:avLst/>
          </a:prstGeom>
          <a:noFill/>
          <a:ln/>
        </p:spPr>
        <p:txBody>
          <a:bodyPr wrap="square" lIns="0" tIns="0" rIns="0" bIns="0" rtlCol="0" anchor="ctr">
            <a:normAutofit/>
          </a:bodyPr>
          <a:lstStyle/>
          <a:p>
            <a:r>
              <a:rPr lang="en-US" sz="1700" i="1" dirty="0">
                <a:solidFill>
                  <a:srgbClr val="0F172A"/>
                </a:solidFill>
                <a:latin typeface="Aptos" pitchFamily="34" charset="0"/>
                <a:ea typeface="Aptos" pitchFamily="34" charset="-122"/>
                <a:cs typeface="Aptos" pitchFamily="34" charset="-120"/>
              </a:rPr>
              <a:t>Make acceptance criteria executable:</a:t>
            </a:r>
            <a:r>
              <a:rPr lang="en-US" sz="1700" dirty="0">
                <a:solidFill>
                  <a:srgbClr val="0F172A"/>
                </a:solidFill>
                <a:latin typeface="Aptos" pitchFamily="34" charset="0"/>
                <a:ea typeface="Aptos" pitchFamily="34" charset="-122"/>
                <a:cs typeface="Aptos" pitchFamily="34" charset="-120"/>
              </a:rPr>
              <a:t> </a:t>
            </a:r>
            <a:r>
              <a:rPr lang="en-US" dirty="0"/>
              <a:t>Validate outcomes with automated builds, type checks, endpoint tests, and documentation audits.</a:t>
            </a:r>
          </a:p>
          <a:p>
            <a:pPr marL="0" indent="0">
              <a:buNone/>
            </a:pPr>
            <a:endParaRPr lang="en-US" sz="1700" dirty="0"/>
          </a:p>
        </p:txBody>
      </p:sp>
      <p:sp>
        <p:nvSpPr>
          <p:cNvPr id="11" name="Text 9"/>
          <p:cNvSpPr/>
          <p:nvPr/>
        </p:nvSpPr>
        <p:spPr>
          <a:xfrm>
            <a:off x="822960" y="3163824"/>
            <a:ext cx="384048" cy="320040"/>
          </a:xfrm>
          <a:prstGeom prst="rect">
            <a:avLst/>
          </a:prstGeom>
          <a:noFill/>
          <a:ln/>
        </p:spPr>
        <p:txBody>
          <a:bodyPr wrap="square" lIns="0" tIns="0" rIns="0" bIns="0" rtlCol="0" anchor="ctr">
            <a:normAutofit/>
          </a:bodyPr>
          <a:lstStyle/>
          <a:p>
            <a:pPr marL="0" indent="0" algn="ctr">
              <a:buNone/>
            </a:pPr>
            <a:r>
              <a:rPr lang="en-US" sz="2100" b="1" dirty="0">
                <a:solidFill>
                  <a:srgbClr val="0F766E"/>
                </a:solidFill>
                <a:latin typeface="Aptos" pitchFamily="34" charset="0"/>
                <a:ea typeface="Aptos" pitchFamily="34" charset="-122"/>
                <a:cs typeface="Aptos" pitchFamily="34" charset="-120"/>
              </a:rPr>
              <a:t>3</a:t>
            </a:r>
            <a:endParaRPr lang="en-US" sz="2100" dirty="0"/>
          </a:p>
        </p:txBody>
      </p:sp>
      <p:sp>
        <p:nvSpPr>
          <p:cNvPr id="12" name="Shape 10"/>
          <p:cNvSpPr/>
          <p:nvPr/>
        </p:nvSpPr>
        <p:spPr>
          <a:xfrm>
            <a:off x="1417320" y="3456432"/>
            <a:ext cx="9418320" cy="0"/>
          </a:xfrm>
          <a:prstGeom prst="line">
            <a:avLst/>
          </a:prstGeom>
          <a:noFill/>
          <a:ln w="12700">
            <a:solidFill>
              <a:srgbClr val="CBD5E1"/>
            </a:solidFill>
            <a:prstDash val="solid"/>
          </a:ln>
        </p:spPr>
        <p:txBody>
          <a:bodyPr/>
          <a:lstStyle/>
          <a:p>
            <a:endParaRPr lang="en-US"/>
          </a:p>
        </p:txBody>
      </p:sp>
      <p:sp>
        <p:nvSpPr>
          <p:cNvPr id="13" name="Text 11"/>
          <p:cNvSpPr/>
          <p:nvPr/>
        </p:nvSpPr>
        <p:spPr>
          <a:xfrm>
            <a:off x="1691640" y="2898648"/>
            <a:ext cx="8961120" cy="585217"/>
          </a:xfrm>
          <a:prstGeom prst="rect">
            <a:avLst/>
          </a:prstGeom>
          <a:noFill/>
          <a:ln/>
        </p:spPr>
        <p:txBody>
          <a:bodyPr wrap="square" lIns="0" tIns="0" rIns="0" bIns="0" rtlCol="0" anchor="ctr">
            <a:normAutofit/>
          </a:bodyPr>
          <a:lstStyle/>
          <a:p>
            <a:pPr marL="0" indent="0">
              <a:buNone/>
            </a:pPr>
            <a:r>
              <a:rPr lang="en-US" sz="1700" i="1" dirty="0"/>
              <a:t>Review outputs critically:</a:t>
            </a:r>
            <a:r>
              <a:rPr lang="en-US" sz="1700" dirty="0"/>
              <a:t> The most dangerous AI mistakes are often plausible, </a:t>
            </a:r>
          </a:p>
          <a:p>
            <a:pPr marL="0" indent="0">
              <a:buNone/>
            </a:pPr>
            <a:r>
              <a:rPr lang="en-US" sz="1700" dirty="0"/>
              <a:t>polished, and confidently presented.</a:t>
            </a:r>
          </a:p>
        </p:txBody>
      </p:sp>
      <p:sp>
        <p:nvSpPr>
          <p:cNvPr id="14" name="Text 12"/>
          <p:cNvSpPr/>
          <p:nvPr/>
        </p:nvSpPr>
        <p:spPr>
          <a:xfrm>
            <a:off x="822960" y="3913632"/>
            <a:ext cx="384048" cy="320040"/>
          </a:xfrm>
          <a:prstGeom prst="rect">
            <a:avLst/>
          </a:prstGeom>
          <a:noFill/>
          <a:ln/>
        </p:spPr>
        <p:txBody>
          <a:bodyPr wrap="square" lIns="0" tIns="0" rIns="0" bIns="0" rtlCol="0" anchor="ctr">
            <a:normAutofit/>
          </a:bodyPr>
          <a:lstStyle/>
          <a:p>
            <a:pPr marL="0" indent="0" algn="ctr">
              <a:buNone/>
            </a:pPr>
            <a:r>
              <a:rPr lang="en-US" sz="2100" b="1" dirty="0">
                <a:solidFill>
                  <a:srgbClr val="0F766E"/>
                </a:solidFill>
                <a:latin typeface="Aptos" pitchFamily="34" charset="0"/>
                <a:ea typeface="Aptos" pitchFamily="34" charset="-122"/>
                <a:cs typeface="Aptos" pitchFamily="34" charset="-120"/>
              </a:rPr>
              <a:t>4</a:t>
            </a:r>
            <a:endParaRPr lang="en-US" sz="2100" dirty="0"/>
          </a:p>
        </p:txBody>
      </p:sp>
      <p:sp>
        <p:nvSpPr>
          <p:cNvPr id="15" name="Shape 13"/>
          <p:cNvSpPr/>
          <p:nvPr/>
        </p:nvSpPr>
        <p:spPr>
          <a:xfrm>
            <a:off x="1417320" y="4206240"/>
            <a:ext cx="9418320" cy="0"/>
          </a:xfrm>
          <a:prstGeom prst="line">
            <a:avLst/>
          </a:prstGeom>
          <a:noFill/>
          <a:ln w="12700">
            <a:solidFill>
              <a:srgbClr val="CBD5E1"/>
            </a:solidFill>
            <a:prstDash val="solid"/>
          </a:ln>
        </p:spPr>
        <p:txBody>
          <a:bodyPr/>
          <a:lstStyle/>
          <a:p>
            <a:endParaRPr lang="en-US"/>
          </a:p>
        </p:txBody>
      </p:sp>
      <p:sp>
        <p:nvSpPr>
          <p:cNvPr id="16" name="Text 14"/>
          <p:cNvSpPr/>
          <p:nvPr/>
        </p:nvSpPr>
        <p:spPr>
          <a:xfrm>
            <a:off x="1645920" y="3579876"/>
            <a:ext cx="8961120" cy="722377"/>
          </a:xfrm>
          <a:prstGeom prst="rect">
            <a:avLst/>
          </a:prstGeom>
          <a:noFill/>
          <a:ln/>
        </p:spPr>
        <p:txBody>
          <a:bodyPr wrap="square" lIns="0" tIns="0" rIns="0" bIns="0" rtlCol="0" anchor="ctr">
            <a:normAutofit/>
          </a:bodyPr>
          <a:lstStyle/>
          <a:p>
            <a:pPr marL="0" indent="0">
              <a:buNone/>
            </a:pPr>
            <a:r>
              <a:rPr lang="en-US" sz="1700" i="1" dirty="0"/>
              <a:t>Separate reality from intent:</a:t>
            </a:r>
            <a:r>
              <a:rPr lang="en-US" sz="1700" dirty="0"/>
              <a:t> Clearly distinguish implemented functionality from planned </a:t>
            </a:r>
          </a:p>
          <a:p>
            <a:pPr marL="0" indent="0">
              <a:buNone/>
            </a:pPr>
            <a:r>
              <a:rPr lang="en-US" sz="1700" dirty="0"/>
              <a:t>features and documentation artifacts. </a:t>
            </a:r>
          </a:p>
        </p:txBody>
      </p:sp>
      <p:sp>
        <p:nvSpPr>
          <p:cNvPr id="17" name="Text 15"/>
          <p:cNvSpPr/>
          <p:nvPr/>
        </p:nvSpPr>
        <p:spPr>
          <a:xfrm>
            <a:off x="822960" y="4663440"/>
            <a:ext cx="384048" cy="320040"/>
          </a:xfrm>
          <a:prstGeom prst="rect">
            <a:avLst/>
          </a:prstGeom>
          <a:noFill/>
          <a:ln/>
        </p:spPr>
        <p:txBody>
          <a:bodyPr wrap="square" lIns="0" tIns="0" rIns="0" bIns="0" rtlCol="0" anchor="ctr">
            <a:normAutofit/>
          </a:bodyPr>
          <a:lstStyle/>
          <a:p>
            <a:pPr marL="0" indent="0" algn="ctr">
              <a:buNone/>
            </a:pPr>
            <a:r>
              <a:rPr lang="en-US" sz="2100" b="1" dirty="0">
                <a:solidFill>
                  <a:srgbClr val="0F766E"/>
                </a:solidFill>
                <a:latin typeface="Aptos" pitchFamily="34" charset="0"/>
                <a:ea typeface="Aptos" pitchFamily="34" charset="-122"/>
                <a:cs typeface="Aptos" pitchFamily="34" charset="-120"/>
              </a:rPr>
              <a:t>5</a:t>
            </a:r>
            <a:endParaRPr lang="en-US" sz="2100" dirty="0"/>
          </a:p>
        </p:txBody>
      </p:sp>
      <p:sp>
        <p:nvSpPr>
          <p:cNvPr id="18" name="Shape 16"/>
          <p:cNvSpPr/>
          <p:nvPr/>
        </p:nvSpPr>
        <p:spPr>
          <a:xfrm>
            <a:off x="1417320" y="4956048"/>
            <a:ext cx="9418320" cy="0"/>
          </a:xfrm>
          <a:prstGeom prst="line">
            <a:avLst/>
          </a:prstGeom>
          <a:noFill/>
          <a:ln w="12700">
            <a:solidFill>
              <a:srgbClr val="CBD5E1"/>
            </a:solidFill>
            <a:prstDash val="solid"/>
          </a:ln>
        </p:spPr>
        <p:txBody>
          <a:bodyPr/>
          <a:lstStyle/>
          <a:p>
            <a:endParaRPr lang="en-US"/>
          </a:p>
        </p:txBody>
      </p:sp>
      <p:sp>
        <p:nvSpPr>
          <p:cNvPr id="19" name="Text 17"/>
          <p:cNvSpPr/>
          <p:nvPr/>
        </p:nvSpPr>
        <p:spPr>
          <a:xfrm>
            <a:off x="1645920" y="4560571"/>
            <a:ext cx="8961120" cy="598931"/>
          </a:xfrm>
          <a:prstGeom prst="rect">
            <a:avLst/>
          </a:prstGeom>
          <a:noFill/>
          <a:ln/>
        </p:spPr>
        <p:txBody>
          <a:bodyPr wrap="square" lIns="0" tIns="0" rIns="0" bIns="0" rtlCol="0" anchor="ctr">
            <a:normAutofit fontScale="85000" lnSpcReduction="10000"/>
          </a:bodyPr>
          <a:lstStyle/>
          <a:p>
            <a:r>
              <a:rPr lang="en-US" i="1" dirty="0"/>
              <a:t>Constrain responsibility with evidence:</a:t>
            </a:r>
            <a:r>
              <a:rPr lang="en-US" dirty="0"/>
              <a:t> Use retrieval, citations, and explicit abstention when information is </a:t>
            </a:r>
          </a:p>
          <a:p>
            <a:r>
              <a:rPr lang="en-US" dirty="0"/>
              <a:t>uncertain to improve reliability and trust.</a:t>
            </a:r>
          </a:p>
          <a:p>
            <a:endParaRPr lang="en-US" dirty="0"/>
          </a:p>
          <a:p>
            <a:pPr marL="0" indent="0">
              <a:buNone/>
            </a:pPr>
            <a:endParaRPr lang="en-US" sz="1700" dirty="0"/>
          </a:p>
        </p:txBody>
      </p:sp>
      <p:sp>
        <p:nvSpPr>
          <p:cNvPr id="20" name="Shape 18"/>
          <p:cNvSpPr/>
          <p:nvPr/>
        </p:nvSpPr>
        <p:spPr>
          <a:xfrm>
            <a:off x="960120" y="5125451"/>
            <a:ext cx="10149840" cy="566928"/>
          </a:xfrm>
          <a:prstGeom prst="roundRect">
            <a:avLst>
              <a:gd name="adj" fmla="val 12903"/>
            </a:avLst>
          </a:prstGeom>
          <a:solidFill>
            <a:srgbClr val="0F172A"/>
          </a:solidFill>
          <a:ln w="12700">
            <a:solidFill>
              <a:srgbClr val="0F172A"/>
            </a:solidFill>
            <a:prstDash val="solid"/>
          </a:ln>
        </p:spPr>
        <p:txBody>
          <a:bodyPr/>
          <a:lstStyle/>
          <a:p>
            <a:endParaRPr lang="en-US"/>
          </a:p>
        </p:txBody>
      </p:sp>
      <p:sp>
        <p:nvSpPr>
          <p:cNvPr id="21" name="Text 19"/>
          <p:cNvSpPr/>
          <p:nvPr/>
        </p:nvSpPr>
        <p:spPr>
          <a:xfrm>
            <a:off x="1188720" y="5290043"/>
            <a:ext cx="9692640" cy="228600"/>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Human-in-the-loop curiosity · lateral thinking · identifying the business challenges truly worth solving</a:t>
            </a:r>
            <a:endParaRPr lang="en-US" sz="14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23</a:t>
            </a:fld>
            <a:endParaRPr lang="en-US"/>
          </a:p>
        </p:txBody>
      </p:sp>
      <p:sp>
        <p:nvSpPr>
          <p:cNvPr id="22" name="TextBox 21">
            <a:extLst>
              <a:ext uri="{FF2B5EF4-FFF2-40B4-BE49-F238E27FC236}">
                <a16:creationId xmlns:a16="http://schemas.microsoft.com/office/drawing/2014/main" id="{23971678-5E6F-894E-EC5B-5AD94B7C76DC}"/>
              </a:ext>
            </a:extLst>
          </p:cNvPr>
          <p:cNvSpPr txBox="1"/>
          <p:nvPr/>
        </p:nvSpPr>
        <p:spPr>
          <a:xfrm>
            <a:off x="926792" y="5792804"/>
            <a:ext cx="10216495" cy="923330"/>
          </a:xfrm>
          <a:prstGeom prst="rect">
            <a:avLst/>
          </a:prstGeom>
          <a:noFill/>
        </p:spPr>
        <p:txBody>
          <a:bodyPr wrap="square" rtlCol="0">
            <a:spAutoFit/>
          </a:bodyPr>
          <a:lstStyle/>
          <a:p>
            <a:r>
              <a:rPr lang="en-US" b="1" dirty="0"/>
              <a:t>Core principle:</a:t>
            </a:r>
            <a:r>
              <a:rPr lang="en-US" dirty="0"/>
              <a:t> Treat AI-generated code and content as a draft that must be validated, not as a source of truth.</a:t>
            </a:r>
          </a:p>
          <a:p>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BA5DC-10FA-BDA2-9773-0C6D2171A029}"/>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D8BF09B0-9A3A-1525-7F60-885B9A691A5A}"/>
              </a:ext>
            </a:extLst>
          </p:cNvPr>
          <p:cNvSpPr/>
          <p:nvPr/>
        </p:nvSpPr>
        <p:spPr>
          <a:xfrm>
            <a:off x="0" y="0"/>
            <a:ext cx="12191695" cy="6858000"/>
          </a:xfrm>
          <a:prstGeom prst="rect">
            <a:avLst/>
          </a:prstGeom>
          <a:solidFill>
            <a:srgbClr val="0F172A"/>
          </a:solidFill>
          <a:ln w="12700">
            <a:solidFill>
              <a:srgbClr val="0F172A"/>
            </a:solidFill>
            <a:prstDash val="solid"/>
          </a:ln>
        </p:spPr>
        <p:txBody>
          <a:bodyPr/>
          <a:lstStyle/>
          <a:p>
            <a:endParaRPr lang="en-US"/>
          </a:p>
        </p:txBody>
      </p:sp>
      <p:sp>
        <p:nvSpPr>
          <p:cNvPr id="3" name="Shape 1">
            <a:extLst>
              <a:ext uri="{FF2B5EF4-FFF2-40B4-BE49-F238E27FC236}">
                <a16:creationId xmlns:a16="http://schemas.microsoft.com/office/drawing/2014/main" id="{6482C903-E6D4-9AFC-5E32-A081FCF3990F}"/>
              </a:ext>
            </a:extLst>
          </p:cNvPr>
          <p:cNvSpPr/>
          <p:nvPr/>
        </p:nvSpPr>
        <p:spPr>
          <a:xfrm>
            <a:off x="640080" y="960120"/>
            <a:ext cx="109728" cy="4480560"/>
          </a:xfrm>
          <a:prstGeom prst="rect">
            <a:avLst/>
          </a:prstGeom>
          <a:solidFill>
            <a:srgbClr val="0F766E"/>
          </a:solidFill>
          <a:ln w="12700">
            <a:solidFill>
              <a:srgbClr val="0F766E"/>
            </a:solidFill>
            <a:prstDash val="solid"/>
          </a:ln>
        </p:spPr>
        <p:txBody>
          <a:bodyPr/>
          <a:lstStyle/>
          <a:p>
            <a:endParaRPr lang="en-US"/>
          </a:p>
        </p:txBody>
      </p:sp>
      <p:sp>
        <p:nvSpPr>
          <p:cNvPr id="4" name="Text 2">
            <a:extLst>
              <a:ext uri="{FF2B5EF4-FFF2-40B4-BE49-F238E27FC236}">
                <a16:creationId xmlns:a16="http://schemas.microsoft.com/office/drawing/2014/main" id="{784E1976-87E1-2B93-4698-1FB8EB12E896}"/>
              </a:ext>
            </a:extLst>
          </p:cNvPr>
          <p:cNvSpPr/>
          <p:nvPr/>
        </p:nvSpPr>
        <p:spPr>
          <a:xfrm>
            <a:off x="1024128" y="960120"/>
            <a:ext cx="2011680" cy="1097280"/>
          </a:xfrm>
          <a:prstGeom prst="rect">
            <a:avLst/>
          </a:prstGeom>
          <a:noFill/>
          <a:ln/>
        </p:spPr>
        <p:txBody>
          <a:bodyPr wrap="square" lIns="0" tIns="0" rIns="0" bIns="0" rtlCol="0" anchor="ctr">
            <a:normAutofit/>
          </a:bodyPr>
          <a:lstStyle/>
          <a:p>
            <a:pPr marL="0" indent="0">
              <a:buNone/>
            </a:pPr>
            <a:r>
              <a:rPr lang="en-US" sz="5800" b="1" dirty="0">
                <a:solidFill>
                  <a:srgbClr val="0F766E"/>
                </a:solidFill>
                <a:latin typeface="Aptos" pitchFamily="34" charset="0"/>
                <a:ea typeface="Aptos" pitchFamily="34" charset="-122"/>
                <a:cs typeface="Aptos" pitchFamily="34" charset="-120"/>
              </a:rPr>
              <a:t>06</a:t>
            </a:r>
            <a:endParaRPr lang="en-US" sz="5800" dirty="0"/>
          </a:p>
        </p:txBody>
      </p:sp>
      <p:sp>
        <p:nvSpPr>
          <p:cNvPr id="5" name="Text 3">
            <a:extLst>
              <a:ext uri="{FF2B5EF4-FFF2-40B4-BE49-F238E27FC236}">
                <a16:creationId xmlns:a16="http://schemas.microsoft.com/office/drawing/2014/main" id="{3C1C8ECC-4F09-49BA-2522-0FA2968029EF}"/>
              </a:ext>
            </a:extLst>
          </p:cNvPr>
          <p:cNvSpPr/>
          <p:nvPr/>
        </p:nvSpPr>
        <p:spPr>
          <a:xfrm>
            <a:off x="1024128" y="2148840"/>
            <a:ext cx="9784080" cy="100584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Aptos" pitchFamily="34" charset="0"/>
                <a:ea typeface="Aptos" pitchFamily="34" charset="-122"/>
                <a:cs typeface="Aptos" pitchFamily="34" charset="-120"/>
              </a:rPr>
              <a:t>Q&amp;A</a:t>
            </a:r>
            <a:endParaRPr lang="en-US" sz="3200" dirty="0"/>
          </a:p>
        </p:txBody>
      </p:sp>
      <p:sp>
        <p:nvSpPr>
          <p:cNvPr id="6" name="Text 4">
            <a:extLst>
              <a:ext uri="{FF2B5EF4-FFF2-40B4-BE49-F238E27FC236}">
                <a16:creationId xmlns:a16="http://schemas.microsoft.com/office/drawing/2014/main" id="{82795CC0-1425-4A28-6C8D-3C7DC73CA654}"/>
              </a:ext>
            </a:extLst>
          </p:cNvPr>
          <p:cNvSpPr/>
          <p:nvPr/>
        </p:nvSpPr>
        <p:spPr>
          <a:xfrm>
            <a:off x="1060704" y="4645152"/>
            <a:ext cx="8595360" cy="658368"/>
          </a:xfrm>
          <a:prstGeom prst="rect">
            <a:avLst/>
          </a:prstGeom>
          <a:noFill/>
          <a:ln/>
        </p:spPr>
        <p:txBody>
          <a:bodyPr wrap="square" lIns="0" tIns="0" rIns="0" bIns="0" rtlCol="0" anchor="ctr">
            <a:normAutofit/>
          </a:bodyPr>
          <a:lstStyle/>
          <a:p>
            <a:pPr marL="0" indent="0">
              <a:buNone/>
            </a:pPr>
            <a:r>
              <a:rPr lang="en-US" sz="1900" i="1" dirty="0">
                <a:solidFill>
                  <a:srgbClr val="E2E8F0"/>
                </a:solidFill>
                <a:latin typeface="Aptos" pitchFamily="34" charset="0"/>
                <a:ea typeface="Aptos" pitchFamily="34" charset="-122"/>
                <a:cs typeface="Aptos" pitchFamily="34" charset="-120"/>
              </a:rPr>
              <a:t>The goal is not to make the model sound confident.</a:t>
            </a:r>
            <a:endParaRPr lang="en-US" sz="1900" dirty="0"/>
          </a:p>
          <a:p>
            <a:pPr marL="0" indent="0">
              <a:buNone/>
            </a:pPr>
            <a:r>
              <a:rPr lang="en-US" sz="1900" i="1" dirty="0">
                <a:solidFill>
                  <a:srgbClr val="E2E8F0"/>
                </a:solidFill>
                <a:latin typeface="Aptos" pitchFamily="34" charset="0"/>
                <a:ea typeface="Aptos" pitchFamily="34" charset="-122"/>
                <a:cs typeface="Aptos" pitchFamily="34" charset="-120"/>
              </a:rPr>
              <a:t>The goal is to make the system useful, inspectable, and honest.</a:t>
            </a:r>
            <a:endParaRPr lang="en-US" sz="1900" dirty="0"/>
          </a:p>
        </p:txBody>
      </p:sp>
    </p:spTree>
    <p:extLst>
      <p:ext uri="{BB962C8B-B14F-4D97-AF65-F5344CB8AC3E}">
        <p14:creationId xmlns:p14="http://schemas.microsoft.com/office/powerpoint/2010/main" val="37090133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marL="0" indent="0">
              <a:buNone/>
            </a:pPr>
            <a:r>
              <a:rPr lang="en-US" sz="900" b="1" kern="0" spc="110" dirty="0">
                <a:solidFill>
                  <a:srgbClr val="0F766E"/>
                </a:solidFill>
                <a:latin typeface="Aptos" pitchFamily="34" charset="0"/>
                <a:ea typeface="Aptos" pitchFamily="34" charset="-122"/>
                <a:cs typeface="Aptos" pitchFamily="34" charset="-120"/>
              </a:rPr>
              <a:t>CLOSING IDEA</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fontScale="77500" lnSpcReduction="20000"/>
          </a:bodyPr>
          <a:lstStyle/>
          <a:p>
            <a:pPr marL="0" indent="0">
              <a:buNone/>
            </a:pPr>
            <a:r>
              <a:rPr lang="en-US" sz="2700" b="1" dirty="0">
                <a:solidFill>
                  <a:srgbClr val="0F172A"/>
                </a:solidFill>
                <a:latin typeface="Aptos" pitchFamily="34" charset="0"/>
                <a:ea typeface="Aptos" pitchFamily="34" charset="-122"/>
                <a:cs typeface="Aptos" pitchFamily="34" charset="-120"/>
              </a:rPr>
              <a:t>The model can accelerate the build.</a:t>
            </a:r>
            <a:endParaRPr lang="en-US" sz="2700" dirty="0"/>
          </a:p>
          <a:p>
            <a:pPr marL="0" indent="0">
              <a:buNone/>
            </a:pPr>
            <a:r>
              <a:rPr lang="en-US" sz="2700" b="1" dirty="0">
                <a:solidFill>
                  <a:srgbClr val="0F172A"/>
                </a:solidFill>
                <a:latin typeface="Aptos" pitchFamily="34" charset="0"/>
                <a:ea typeface="Aptos" pitchFamily="34" charset="-122"/>
                <a:cs typeface="Aptos" pitchFamily="34" charset="-120"/>
              </a:rPr>
              <a:t>It cannot choose the problem.</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marL="0" indent="0">
              <a:buNone/>
            </a:pPr>
            <a:endParaRPr lang="en-US" sz="1200" dirty="0"/>
          </a:p>
        </p:txBody>
      </p:sp>
      <p:sp>
        <p:nvSpPr>
          <p:cNvPr id="5" name="Text 3"/>
          <p:cNvSpPr/>
          <p:nvPr/>
        </p:nvSpPr>
        <p:spPr>
          <a:xfrm>
            <a:off x="914400" y="1828800"/>
            <a:ext cx="10332720" cy="1234440"/>
          </a:xfrm>
          <a:prstGeom prst="rect">
            <a:avLst/>
          </a:prstGeom>
          <a:noFill/>
          <a:ln/>
        </p:spPr>
        <p:txBody>
          <a:bodyPr wrap="square" lIns="0" tIns="0" rIns="0" bIns="0" rtlCol="0" anchor="ctr">
            <a:normAutofit/>
          </a:bodyPr>
          <a:lstStyle/>
          <a:p>
            <a:pPr marL="0" indent="0" algn="ctr">
              <a:buNone/>
            </a:pPr>
            <a:r>
              <a:rPr lang="en-US" sz="2400" b="1" i="1" dirty="0">
                <a:solidFill>
                  <a:srgbClr val="0F172A"/>
                </a:solidFill>
                <a:latin typeface="Aptos" pitchFamily="34" charset="0"/>
                <a:ea typeface="Aptos" pitchFamily="34" charset="-122"/>
                <a:cs typeface="Aptos" pitchFamily="34" charset="-120"/>
              </a:rPr>
              <a:t>“As AI increasingly commoditizes execution, leadership differentiation comes from human-in-the-loop curiosity, lateral thinking, and identifying the business challenges truly worth solving.”</a:t>
            </a:r>
            <a:endParaRPr lang="en-US" sz="2400" dirty="0"/>
          </a:p>
        </p:txBody>
      </p:sp>
      <p:sp>
        <p:nvSpPr>
          <p:cNvPr id="6" name="Text 4"/>
          <p:cNvSpPr/>
          <p:nvPr/>
        </p:nvSpPr>
        <p:spPr>
          <a:xfrm>
            <a:off x="1005840" y="3794760"/>
            <a:ext cx="10149840" cy="658368"/>
          </a:xfrm>
          <a:prstGeom prst="rect">
            <a:avLst/>
          </a:prstGeom>
          <a:noFill/>
          <a:ln/>
        </p:spPr>
        <p:txBody>
          <a:bodyPr wrap="square" lIns="0" tIns="0" rIns="0" bIns="0" rtlCol="0" anchor="ctr">
            <a:normAutofit/>
          </a:bodyPr>
          <a:lstStyle/>
          <a:p>
            <a:pPr marL="0" indent="0" algn="ctr">
              <a:buNone/>
            </a:pPr>
            <a:r>
              <a:rPr lang="en-US" sz="2000" b="1" dirty="0">
                <a:solidFill>
                  <a:srgbClr val="0F766E"/>
                </a:solidFill>
                <a:latin typeface="Aptos" pitchFamily="34" charset="0"/>
                <a:ea typeface="Aptos" pitchFamily="34" charset="-122"/>
                <a:cs typeface="Aptos" pitchFamily="34" charset="-120"/>
              </a:rPr>
              <a:t>Beyond prompting is not less engineering. It is engineering with a larger responsibility for intent, evidence, and consequences.</a:t>
            </a:r>
            <a:endParaRPr lang="en-US" sz="20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marL="0" indent="0">
              <a:buNone/>
            </a:pPr>
            <a:r>
              <a:rPr lang="en-US" sz="900" b="1" kern="0" spc="110" dirty="0">
                <a:solidFill>
                  <a:srgbClr val="0F766E"/>
                </a:solidFill>
                <a:latin typeface="Aptos" pitchFamily="34" charset="0"/>
                <a:ea typeface="Aptos" pitchFamily="34" charset="-122"/>
                <a:cs typeface="Aptos" pitchFamily="34" charset="-120"/>
              </a:rPr>
              <a:t>TAKE THE PROJECT FURTHER</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marL="0" indent="0">
              <a:buNone/>
            </a:pPr>
            <a:r>
              <a:rPr lang="en-US" sz="2700" b="1" dirty="0">
                <a:solidFill>
                  <a:srgbClr val="0F172A"/>
                </a:solidFill>
                <a:latin typeface="Aptos" pitchFamily="34" charset="0"/>
                <a:ea typeface="Aptos" pitchFamily="34" charset="-122"/>
                <a:cs typeface="Aptos" pitchFamily="34" charset="-120"/>
              </a:rPr>
              <a:t>Repository, technical documentation, and references</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marL="0" indent="0">
              <a:buNone/>
            </a:pPr>
            <a:r>
              <a:rPr lang="en-US" sz="1200" dirty="0">
                <a:solidFill>
                  <a:srgbClr val="64748B"/>
                </a:solidFill>
                <a:latin typeface="Aptos" pitchFamily="34" charset="0"/>
                <a:ea typeface="Aptos" pitchFamily="34" charset="-122"/>
                <a:cs typeface="Aptos" pitchFamily="34" charset="-120"/>
              </a:rPr>
              <a:t>Keep these links in the final deck and in the eventual GitHub Pages documentation site.</a:t>
            </a:r>
            <a:endParaRPr lang="en-US" sz="1200" dirty="0"/>
          </a:p>
        </p:txBody>
      </p:sp>
      <p:sp>
        <p:nvSpPr>
          <p:cNvPr id="5" name="Text 3"/>
          <p:cNvSpPr/>
          <p:nvPr/>
        </p:nvSpPr>
        <p:spPr>
          <a:xfrm>
            <a:off x="914400" y="1627632"/>
            <a:ext cx="2057400" cy="228600"/>
          </a:xfrm>
          <a:prstGeom prst="rect">
            <a:avLst/>
          </a:prstGeom>
          <a:noFill/>
          <a:ln/>
        </p:spPr>
        <p:txBody>
          <a:bodyPr wrap="square" lIns="0" tIns="0" rIns="0" bIns="0" rtlCol="0" anchor="ctr">
            <a:normAutofit/>
          </a:bodyPr>
          <a:lstStyle/>
          <a:p>
            <a:pPr marL="0" indent="0">
              <a:buNone/>
            </a:pPr>
            <a:r>
              <a:rPr lang="en-US" sz="1500" b="1" dirty="0">
                <a:solidFill>
                  <a:srgbClr val="0F766E"/>
                </a:solidFill>
                <a:latin typeface="Aptos" pitchFamily="34" charset="0"/>
                <a:ea typeface="Aptos" pitchFamily="34" charset="-122"/>
                <a:cs typeface="Aptos" pitchFamily="34" charset="-120"/>
              </a:rPr>
              <a:t>Project</a:t>
            </a:r>
            <a:endParaRPr lang="en-US" sz="1500" dirty="0"/>
          </a:p>
        </p:txBody>
      </p:sp>
      <p:sp>
        <p:nvSpPr>
          <p:cNvPr id="6" name="Text 4"/>
          <p:cNvSpPr/>
          <p:nvPr/>
        </p:nvSpPr>
        <p:spPr>
          <a:xfrm>
            <a:off x="2971800" y="1627632"/>
            <a:ext cx="8046720" cy="228600"/>
          </a:xfrm>
          <a:prstGeom prst="rect">
            <a:avLst/>
          </a:prstGeom>
          <a:noFill/>
          <a:ln/>
        </p:spPr>
        <p:txBody>
          <a:bodyPr wrap="square" lIns="0" tIns="0" rIns="0" bIns="0" rtlCol="0" anchor="ctr">
            <a:normAutofit/>
          </a:bodyPr>
          <a:lstStyle/>
          <a:p>
            <a:pPr marL="0" indent="0">
              <a:buNone/>
            </a:pPr>
            <a:r>
              <a:rPr lang="en-US" sz="1400" dirty="0">
                <a:solidFill>
                  <a:srgbClr val="1D4ED8"/>
                </a:solidFill>
                <a:latin typeface="Aptos" pitchFamily="34" charset="0"/>
                <a:ea typeface="Aptos" pitchFamily="34" charset="-122"/>
                <a:cs typeface="Aptos" pitchFamily="34" charset="-120"/>
              </a:rPr>
              <a:t>https://github.com/epascalau/personal-library</a:t>
            </a:r>
            <a:endParaRPr lang="en-US" sz="1400" dirty="0"/>
          </a:p>
        </p:txBody>
      </p:sp>
      <p:sp>
        <p:nvSpPr>
          <p:cNvPr id="7" name="Text 5"/>
          <p:cNvSpPr/>
          <p:nvPr/>
        </p:nvSpPr>
        <p:spPr>
          <a:xfrm>
            <a:off x="914400" y="2194560"/>
            <a:ext cx="2057400" cy="228600"/>
          </a:xfrm>
          <a:prstGeom prst="rect">
            <a:avLst/>
          </a:prstGeom>
          <a:noFill/>
          <a:ln/>
        </p:spPr>
        <p:txBody>
          <a:bodyPr wrap="square" lIns="0" tIns="0" rIns="0" bIns="0" rtlCol="0" anchor="ctr">
            <a:normAutofit fontScale="77500" lnSpcReduction="20000"/>
          </a:bodyPr>
          <a:lstStyle/>
          <a:p>
            <a:pPr marL="0" indent="0">
              <a:buNone/>
            </a:pPr>
            <a:r>
              <a:rPr lang="en-US" sz="1500" b="1" dirty="0">
                <a:solidFill>
                  <a:srgbClr val="0F766E"/>
                </a:solidFill>
                <a:latin typeface="Aptos" pitchFamily="34" charset="0"/>
              </a:rPr>
              <a:t>Project Documentation Hub</a:t>
            </a:r>
            <a:endParaRPr lang="en-US" sz="1500" dirty="0"/>
          </a:p>
        </p:txBody>
      </p:sp>
      <p:sp>
        <p:nvSpPr>
          <p:cNvPr id="8" name="Text 6"/>
          <p:cNvSpPr/>
          <p:nvPr/>
        </p:nvSpPr>
        <p:spPr>
          <a:xfrm>
            <a:off x="2971800" y="2194560"/>
            <a:ext cx="8046720" cy="228600"/>
          </a:xfrm>
          <a:prstGeom prst="rect">
            <a:avLst/>
          </a:prstGeom>
          <a:noFill/>
          <a:ln/>
        </p:spPr>
        <p:txBody>
          <a:bodyPr wrap="square" lIns="0" tIns="0" rIns="0" bIns="0" rtlCol="0" anchor="ctr">
            <a:normAutofit/>
          </a:bodyPr>
          <a:lstStyle/>
          <a:p>
            <a:pPr marL="0" indent="0">
              <a:buNone/>
            </a:pPr>
            <a:r>
              <a:rPr lang="en-US" sz="1400" dirty="0">
                <a:solidFill>
                  <a:srgbClr val="1D4ED8"/>
                </a:solidFill>
                <a:latin typeface="Aptos" pitchFamily="34" charset="0"/>
                <a:ea typeface="Aptos" pitchFamily="34" charset="-122"/>
                <a:cs typeface="Aptos" pitchFamily="34" charset="-120"/>
              </a:rPr>
              <a:t>docs/index.html</a:t>
            </a:r>
            <a:endParaRPr lang="en-US" sz="14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02920" y="292608"/>
            <a:ext cx="4114800" cy="201168"/>
          </a:xfrm>
          <a:prstGeom prst="rect">
            <a:avLst/>
          </a:prstGeom>
          <a:noFill/>
          <a:ln/>
        </p:spPr>
        <p:txBody>
          <a:bodyPr wrap="square" lIns="0" tIns="0" rIns="0" bIns="0" rtlCol="0" anchor="ctr">
            <a:normAutofit/>
          </a:bodyPr>
          <a:lstStyle/>
          <a:p>
            <a:pPr marL="0" indent="0">
              <a:buNone/>
            </a:pPr>
            <a:r>
              <a:rPr lang="en-US" sz="900" b="1" kern="0" spc="110" dirty="0">
                <a:solidFill>
                  <a:srgbClr val="0F766E"/>
                </a:solidFill>
                <a:latin typeface="Aptos" pitchFamily="34" charset="0"/>
                <a:ea typeface="Aptos" pitchFamily="34" charset="-122"/>
                <a:cs typeface="Aptos" pitchFamily="34" charset="-120"/>
              </a:rPr>
              <a:t>SELECTED BIBLIOGRAPHY</a:t>
            </a:r>
            <a:endParaRPr lang="en-US" sz="900" dirty="0"/>
          </a:p>
        </p:txBody>
      </p:sp>
      <p:sp>
        <p:nvSpPr>
          <p:cNvPr id="3" name="Text 1"/>
          <p:cNvSpPr/>
          <p:nvPr/>
        </p:nvSpPr>
        <p:spPr>
          <a:xfrm>
            <a:off x="502920" y="594360"/>
            <a:ext cx="11109960" cy="530352"/>
          </a:xfrm>
          <a:prstGeom prst="rect">
            <a:avLst/>
          </a:prstGeom>
          <a:noFill/>
          <a:ln/>
        </p:spPr>
        <p:txBody>
          <a:bodyPr wrap="square" lIns="0" tIns="0" rIns="0" bIns="0" rtlCol="0" anchor="ctr">
            <a:normAutofit/>
          </a:bodyPr>
          <a:lstStyle/>
          <a:p>
            <a:pPr marL="0" indent="0">
              <a:buNone/>
            </a:pPr>
            <a:r>
              <a:rPr lang="en-US" sz="2700" b="1" dirty="0">
                <a:solidFill>
                  <a:srgbClr val="0F172A"/>
                </a:solidFill>
                <a:latin typeface="Aptos" pitchFamily="34" charset="0"/>
                <a:ea typeface="Aptos" pitchFamily="34" charset="-122"/>
                <a:cs typeface="Aptos" pitchFamily="34" charset="-120"/>
              </a:rPr>
              <a:t>Start with the ideas behind the implementation</a:t>
            </a:r>
            <a:endParaRPr lang="en-US" sz="2700" dirty="0"/>
          </a:p>
        </p:txBody>
      </p:sp>
      <p:sp>
        <p:nvSpPr>
          <p:cNvPr id="4" name="Text 2"/>
          <p:cNvSpPr/>
          <p:nvPr/>
        </p:nvSpPr>
        <p:spPr>
          <a:xfrm>
            <a:off x="530352" y="1188720"/>
            <a:ext cx="10881360" cy="347472"/>
          </a:xfrm>
          <a:prstGeom prst="rect">
            <a:avLst/>
          </a:prstGeom>
          <a:noFill/>
          <a:ln/>
        </p:spPr>
        <p:txBody>
          <a:bodyPr wrap="square" lIns="0" tIns="0" rIns="0" bIns="0" rtlCol="0" anchor="ctr">
            <a:normAutofit/>
          </a:bodyPr>
          <a:lstStyle/>
          <a:p>
            <a:pPr marL="0" indent="0">
              <a:buNone/>
            </a:pPr>
            <a:endParaRPr lang="en-US" sz="1200" dirty="0"/>
          </a:p>
        </p:txBody>
      </p:sp>
      <p:sp>
        <p:nvSpPr>
          <p:cNvPr id="5" name="Text 3"/>
          <p:cNvSpPr/>
          <p:nvPr/>
        </p:nvSpPr>
        <p:spPr>
          <a:xfrm>
            <a:off x="868680" y="1600200"/>
            <a:ext cx="2331720" cy="256032"/>
          </a:xfrm>
          <a:prstGeom prst="rect">
            <a:avLst/>
          </a:prstGeom>
          <a:noFill/>
          <a:ln/>
        </p:spPr>
        <p:txBody>
          <a:bodyPr wrap="square" lIns="0" tIns="0" rIns="0" bIns="0" rtlCol="0" anchor="ctr">
            <a:normAutofit/>
          </a:bodyPr>
          <a:lstStyle/>
          <a:p>
            <a:pPr marL="0" indent="0">
              <a:buNone/>
            </a:pPr>
            <a:r>
              <a:rPr lang="en-US" sz="1500" b="1" dirty="0">
                <a:solidFill>
                  <a:srgbClr val="0F766E"/>
                </a:solidFill>
                <a:latin typeface="Aptos" pitchFamily="34" charset="0"/>
                <a:ea typeface="Aptos" pitchFamily="34" charset="-122"/>
                <a:cs typeface="Aptos" pitchFamily="34" charset="-120"/>
              </a:rPr>
              <a:t>Lewis et al. (2020)</a:t>
            </a:r>
            <a:endParaRPr lang="en-US" sz="1500" dirty="0"/>
          </a:p>
        </p:txBody>
      </p:sp>
      <p:sp>
        <p:nvSpPr>
          <p:cNvPr id="6" name="Text 4"/>
          <p:cNvSpPr/>
          <p:nvPr/>
        </p:nvSpPr>
        <p:spPr>
          <a:xfrm>
            <a:off x="3383280" y="1600200"/>
            <a:ext cx="7772400" cy="256032"/>
          </a:xfrm>
          <a:prstGeom prst="rect">
            <a:avLst/>
          </a:prstGeom>
          <a:noFill/>
          <a:ln/>
        </p:spPr>
        <p:txBody>
          <a:bodyPr wrap="square" lIns="0" tIns="0" rIns="0" bIns="0" rtlCol="0" anchor="ctr">
            <a:normAutofit/>
          </a:bodyPr>
          <a:lstStyle/>
          <a:p>
            <a:pPr marL="0" indent="0">
              <a:buNone/>
            </a:pPr>
            <a:r>
              <a:rPr lang="en-US" sz="1400" dirty="0">
                <a:solidFill>
                  <a:srgbClr val="334155"/>
                </a:solidFill>
                <a:latin typeface="Aptos" pitchFamily="34" charset="0"/>
                <a:ea typeface="Aptos" pitchFamily="34" charset="-122"/>
                <a:cs typeface="Aptos" pitchFamily="34" charset="-120"/>
              </a:rPr>
              <a:t>Retrieval-Augmented Generation for Knowledge-Intensive NLP Tasks</a:t>
            </a:r>
            <a:endParaRPr lang="en-US" sz="1400" dirty="0"/>
          </a:p>
        </p:txBody>
      </p:sp>
      <p:sp>
        <p:nvSpPr>
          <p:cNvPr id="7" name="Text 5"/>
          <p:cNvSpPr/>
          <p:nvPr/>
        </p:nvSpPr>
        <p:spPr>
          <a:xfrm>
            <a:off x="868680" y="2221992"/>
            <a:ext cx="2331720" cy="256032"/>
          </a:xfrm>
          <a:prstGeom prst="rect">
            <a:avLst/>
          </a:prstGeom>
          <a:noFill/>
          <a:ln/>
        </p:spPr>
        <p:txBody>
          <a:bodyPr wrap="square" lIns="0" tIns="0" rIns="0" bIns="0" rtlCol="0" anchor="ctr">
            <a:normAutofit/>
          </a:bodyPr>
          <a:lstStyle/>
          <a:p>
            <a:pPr marL="0" indent="0">
              <a:buNone/>
            </a:pPr>
            <a:r>
              <a:rPr lang="en-US" sz="1500" b="1" dirty="0">
                <a:solidFill>
                  <a:srgbClr val="0F766E"/>
                </a:solidFill>
                <a:latin typeface="Aptos" pitchFamily="34" charset="0"/>
                <a:ea typeface="Aptos" pitchFamily="34" charset="-122"/>
                <a:cs typeface="Aptos" pitchFamily="34" charset="-120"/>
              </a:rPr>
              <a:t>Gao et al. (2024)</a:t>
            </a:r>
            <a:endParaRPr lang="en-US" sz="1500" dirty="0"/>
          </a:p>
        </p:txBody>
      </p:sp>
      <p:sp>
        <p:nvSpPr>
          <p:cNvPr id="8" name="Text 6"/>
          <p:cNvSpPr/>
          <p:nvPr/>
        </p:nvSpPr>
        <p:spPr>
          <a:xfrm>
            <a:off x="3383280" y="2221992"/>
            <a:ext cx="7772400" cy="256032"/>
          </a:xfrm>
          <a:prstGeom prst="rect">
            <a:avLst/>
          </a:prstGeom>
          <a:noFill/>
          <a:ln/>
        </p:spPr>
        <p:txBody>
          <a:bodyPr wrap="square" lIns="0" tIns="0" rIns="0" bIns="0" rtlCol="0" anchor="ctr">
            <a:normAutofit/>
          </a:bodyPr>
          <a:lstStyle/>
          <a:p>
            <a:pPr marL="0" indent="0">
              <a:buNone/>
            </a:pPr>
            <a:r>
              <a:rPr lang="en-US" sz="1400" dirty="0">
                <a:solidFill>
                  <a:srgbClr val="334155"/>
                </a:solidFill>
                <a:latin typeface="Aptos" pitchFamily="34" charset="0"/>
                <a:ea typeface="Aptos" pitchFamily="34" charset="-122"/>
                <a:cs typeface="Aptos" pitchFamily="34" charset="-120"/>
              </a:rPr>
              <a:t>Retrieval-Augmented Generation for Large Language Models: A Survey</a:t>
            </a:r>
            <a:endParaRPr lang="en-US" sz="1400" dirty="0"/>
          </a:p>
        </p:txBody>
      </p:sp>
      <p:sp>
        <p:nvSpPr>
          <p:cNvPr id="9" name="Text 7"/>
          <p:cNvSpPr/>
          <p:nvPr/>
        </p:nvSpPr>
        <p:spPr>
          <a:xfrm>
            <a:off x="868680" y="2843784"/>
            <a:ext cx="2331720" cy="256032"/>
          </a:xfrm>
          <a:prstGeom prst="rect">
            <a:avLst/>
          </a:prstGeom>
          <a:noFill/>
          <a:ln/>
        </p:spPr>
        <p:txBody>
          <a:bodyPr wrap="square" lIns="0" tIns="0" rIns="0" bIns="0" rtlCol="0" anchor="ctr">
            <a:normAutofit/>
          </a:bodyPr>
          <a:lstStyle/>
          <a:p>
            <a:pPr marL="0" indent="0">
              <a:buNone/>
            </a:pPr>
            <a:r>
              <a:rPr lang="en-US" sz="1500" b="1" dirty="0">
                <a:solidFill>
                  <a:srgbClr val="0F766E"/>
                </a:solidFill>
                <a:latin typeface="Aptos" pitchFamily="34" charset="0"/>
                <a:ea typeface="Aptos" pitchFamily="34" charset="-122"/>
                <a:cs typeface="Aptos" pitchFamily="34" charset="-120"/>
              </a:rPr>
              <a:t>Vaswani et al. (2017)</a:t>
            </a:r>
            <a:endParaRPr lang="en-US" sz="1500" dirty="0"/>
          </a:p>
        </p:txBody>
      </p:sp>
      <p:sp>
        <p:nvSpPr>
          <p:cNvPr id="10" name="Text 8"/>
          <p:cNvSpPr/>
          <p:nvPr/>
        </p:nvSpPr>
        <p:spPr>
          <a:xfrm>
            <a:off x="3383280" y="2843784"/>
            <a:ext cx="7772400" cy="256032"/>
          </a:xfrm>
          <a:prstGeom prst="rect">
            <a:avLst/>
          </a:prstGeom>
          <a:noFill/>
          <a:ln/>
        </p:spPr>
        <p:txBody>
          <a:bodyPr wrap="square" lIns="0" tIns="0" rIns="0" bIns="0" rtlCol="0" anchor="ctr">
            <a:normAutofit/>
          </a:bodyPr>
          <a:lstStyle/>
          <a:p>
            <a:pPr marL="0" indent="0">
              <a:buNone/>
            </a:pPr>
            <a:r>
              <a:rPr lang="en-US" sz="1400" dirty="0">
                <a:solidFill>
                  <a:srgbClr val="334155"/>
                </a:solidFill>
                <a:latin typeface="Aptos" pitchFamily="34" charset="0"/>
                <a:ea typeface="Aptos" pitchFamily="34" charset="-122"/>
                <a:cs typeface="Aptos" pitchFamily="34" charset="-120"/>
              </a:rPr>
              <a:t>Attention Is All You Need</a:t>
            </a:r>
            <a:endParaRPr lang="en-US" sz="1400" dirty="0"/>
          </a:p>
        </p:txBody>
      </p:sp>
      <p:sp>
        <p:nvSpPr>
          <p:cNvPr id="11" name="Text 9"/>
          <p:cNvSpPr/>
          <p:nvPr/>
        </p:nvSpPr>
        <p:spPr>
          <a:xfrm>
            <a:off x="868680" y="3465576"/>
            <a:ext cx="2331720" cy="256032"/>
          </a:xfrm>
          <a:prstGeom prst="rect">
            <a:avLst/>
          </a:prstGeom>
          <a:noFill/>
          <a:ln/>
        </p:spPr>
        <p:txBody>
          <a:bodyPr wrap="square" lIns="0" tIns="0" rIns="0" bIns="0" rtlCol="0" anchor="ctr">
            <a:normAutofit/>
          </a:bodyPr>
          <a:lstStyle/>
          <a:p>
            <a:pPr marL="0" indent="0">
              <a:buNone/>
            </a:pPr>
            <a:r>
              <a:rPr lang="en-US" sz="1500" b="1" dirty="0">
                <a:solidFill>
                  <a:srgbClr val="0F766E"/>
                </a:solidFill>
                <a:latin typeface="Aptos" pitchFamily="34" charset="0"/>
                <a:ea typeface="Aptos" pitchFamily="34" charset="-122"/>
                <a:cs typeface="Aptos" pitchFamily="34" charset="-120"/>
              </a:rPr>
              <a:t>Qdrant documentation</a:t>
            </a:r>
            <a:endParaRPr lang="en-US" sz="1500" dirty="0"/>
          </a:p>
        </p:txBody>
      </p:sp>
      <p:sp>
        <p:nvSpPr>
          <p:cNvPr id="12" name="Text 10"/>
          <p:cNvSpPr/>
          <p:nvPr/>
        </p:nvSpPr>
        <p:spPr>
          <a:xfrm>
            <a:off x="3383280" y="3465576"/>
            <a:ext cx="7772400" cy="256032"/>
          </a:xfrm>
          <a:prstGeom prst="rect">
            <a:avLst/>
          </a:prstGeom>
          <a:noFill/>
          <a:ln/>
        </p:spPr>
        <p:txBody>
          <a:bodyPr wrap="square" lIns="0" tIns="0" rIns="0" bIns="0" rtlCol="0" anchor="ctr">
            <a:normAutofit/>
          </a:bodyPr>
          <a:lstStyle/>
          <a:p>
            <a:pPr marL="0" indent="0">
              <a:buNone/>
            </a:pPr>
            <a:r>
              <a:rPr lang="en-US" sz="1400" dirty="0">
                <a:solidFill>
                  <a:srgbClr val="334155"/>
                </a:solidFill>
                <a:latin typeface="Aptos" pitchFamily="34" charset="0"/>
                <a:ea typeface="Aptos" pitchFamily="34" charset="-122"/>
                <a:cs typeface="Aptos" pitchFamily="34" charset="-120"/>
              </a:rPr>
              <a:t>Vector search, payload filtering, and HNSW indexing</a:t>
            </a:r>
            <a:endParaRPr lang="en-US" sz="1400" dirty="0"/>
          </a:p>
        </p:txBody>
      </p:sp>
      <p:sp>
        <p:nvSpPr>
          <p:cNvPr id="13" name="Text 11"/>
          <p:cNvSpPr/>
          <p:nvPr/>
        </p:nvSpPr>
        <p:spPr>
          <a:xfrm>
            <a:off x="868680" y="4087368"/>
            <a:ext cx="2331720" cy="256032"/>
          </a:xfrm>
          <a:prstGeom prst="rect">
            <a:avLst/>
          </a:prstGeom>
          <a:noFill/>
          <a:ln/>
        </p:spPr>
        <p:txBody>
          <a:bodyPr wrap="square" lIns="0" tIns="0" rIns="0" bIns="0" rtlCol="0" anchor="ctr">
            <a:normAutofit/>
          </a:bodyPr>
          <a:lstStyle/>
          <a:p>
            <a:pPr marL="0" indent="0">
              <a:buNone/>
            </a:pPr>
            <a:r>
              <a:rPr lang="en-US" sz="1500" b="1" dirty="0">
                <a:solidFill>
                  <a:srgbClr val="0F766E"/>
                </a:solidFill>
                <a:latin typeface="Aptos" pitchFamily="34" charset="0"/>
                <a:ea typeface="Aptos" pitchFamily="34" charset="-122"/>
                <a:cs typeface="Aptos" pitchFamily="34" charset="-120"/>
              </a:rPr>
              <a:t>Spring AI documentation</a:t>
            </a:r>
            <a:endParaRPr lang="en-US" sz="1500" dirty="0"/>
          </a:p>
        </p:txBody>
      </p:sp>
      <p:sp>
        <p:nvSpPr>
          <p:cNvPr id="14" name="Text 12"/>
          <p:cNvSpPr/>
          <p:nvPr/>
        </p:nvSpPr>
        <p:spPr>
          <a:xfrm>
            <a:off x="3383280" y="4087368"/>
            <a:ext cx="7772400" cy="256032"/>
          </a:xfrm>
          <a:prstGeom prst="rect">
            <a:avLst/>
          </a:prstGeom>
          <a:noFill/>
          <a:ln/>
        </p:spPr>
        <p:txBody>
          <a:bodyPr wrap="square" lIns="0" tIns="0" rIns="0" bIns="0" rtlCol="0" anchor="ctr">
            <a:normAutofit/>
          </a:bodyPr>
          <a:lstStyle/>
          <a:p>
            <a:pPr marL="0" indent="0">
              <a:buNone/>
            </a:pPr>
            <a:r>
              <a:rPr lang="en-US" sz="1400" dirty="0">
                <a:solidFill>
                  <a:srgbClr val="334155"/>
                </a:solidFill>
                <a:latin typeface="Aptos" pitchFamily="34" charset="0"/>
                <a:ea typeface="Aptos" pitchFamily="34" charset="-122"/>
                <a:cs typeface="Aptos" pitchFamily="34" charset="-120"/>
              </a:rPr>
              <a:t>Chat clients, Ollama integration, and vector stores</a:t>
            </a:r>
            <a:endParaRPr lang="en-US" sz="1400" dirty="0"/>
          </a:p>
        </p:txBody>
      </p:sp>
      <p:sp>
        <p:nvSpPr>
          <p:cNvPr id="15" name="Text 13"/>
          <p:cNvSpPr/>
          <p:nvPr/>
        </p:nvSpPr>
        <p:spPr>
          <a:xfrm>
            <a:off x="868680" y="4709160"/>
            <a:ext cx="2331720" cy="256032"/>
          </a:xfrm>
          <a:prstGeom prst="rect">
            <a:avLst/>
          </a:prstGeom>
          <a:noFill/>
          <a:ln/>
        </p:spPr>
        <p:txBody>
          <a:bodyPr wrap="square" lIns="0" tIns="0" rIns="0" bIns="0" rtlCol="0" anchor="ctr">
            <a:normAutofit/>
          </a:bodyPr>
          <a:lstStyle/>
          <a:p>
            <a:pPr marL="0" indent="0">
              <a:buNone/>
            </a:pPr>
            <a:r>
              <a:rPr lang="en-US" sz="1500" b="1" dirty="0">
                <a:solidFill>
                  <a:srgbClr val="0F766E"/>
                </a:solidFill>
                <a:latin typeface="Aptos" pitchFamily="34" charset="0"/>
                <a:ea typeface="Aptos" pitchFamily="34" charset="-122"/>
                <a:cs typeface="Aptos" pitchFamily="34" charset="-120"/>
              </a:rPr>
              <a:t>SAP UI5 Web Components</a:t>
            </a:r>
            <a:endParaRPr lang="en-US" sz="1500" dirty="0"/>
          </a:p>
        </p:txBody>
      </p:sp>
      <p:sp>
        <p:nvSpPr>
          <p:cNvPr id="16" name="Text 14"/>
          <p:cNvSpPr/>
          <p:nvPr/>
        </p:nvSpPr>
        <p:spPr>
          <a:xfrm>
            <a:off x="3383280" y="4709160"/>
            <a:ext cx="7772400" cy="256032"/>
          </a:xfrm>
          <a:prstGeom prst="rect">
            <a:avLst/>
          </a:prstGeom>
          <a:noFill/>
          <a:ln/>
        </p:spPr>
        <p:txBody>
          <a:bodyPr wrap="square" lIns="0" tIns="0" rIns="0" bIns="0" rtlCol="0" anchor="ctr">
            <a:normAutofit/>
          </a:bodyPr>
          <a:lstStyle/>
          <a:p>
            <a:pPr marL="0" indent="0">
              <a:buNone/>
            </a:pPr>
            <a:r>
              <a:rPr lang="en-US" sz="1400" dirty="0">
                <a:solidFill>
                  <a:srgbClr val="334155"/>
                </a:solidFill>
                <a:latin typeface="Aptos" pitchFamily="34" charset="0"/>
                <a:ea typeface="Aptos" pitchFamily="34" charset="-122"/>
                <a:cs typeface="Aptos" pitchFamily="34" charset="-120"/>
              </a:rPr>
              <a:t>Enterprise design system and accessible web components</a:t>
            </a:r>
            <a:endParaRPr lang="en-US" sz="1400" dirty="0"/>
          </a:p>
        </p:txBody>
      </p:sp>
      <p:sp>
        <p:nvSpPr>
          <p:cNvPr id="17" name="Text 15"/>
          <p:cNvSpPr/>
          <p:nvPr/>
        </p:nvSpPr>
        <p:spPr>
          <a:xfrm>
            <a:off x="4800600" y="5623560"/>
            <a:ext cx="2560320" cy="347472"/>
          </a:xfrm>
          <a:prstGeom prst="rect">
            <a:avLst/>
          </a:prstGeom>
          <a:noFill/>
          <a:ln/>
        </p:spPr>
        <p:txBody>
          <a:bodyPr wrap="square" lIns="0" tIns="0" rIns="0" bIns="0" rtlCol="0" anchor="ctr">
            <a:normAutofit lnSpcReduction="10000"/>
          </a:bodyPr>
          <a:lstStyle/>
          <a:p>
            <a:pPr marL="0" indent="0" algn="ctr">
              <a:buNone/>
            </a:pPr>
            <a:r>
              <a:rPr lang="en-US" sz="2500" b="1" dirty="0">
                <a:solidFill>
                  <a:srgbClr val="0F172A"/>
                </a:solidFill>
                <a:latin typeface="Aptos" pitchFamily="34" charset="0"/>
                <a:ea typeface="Aptos" pitchFamily="34" charset="-122"/>
                <a:cs typeface="Aptos" pitchFamily="34" charset="-120"/>
              </a:rPr>
              <a:t>Thank you</a:t>
            </a:r>
            <a:endParaRPr lang="en-US" sz="2500" dirty="0"/>
          </a:p>
        </p:txBody>
      </p:sp>
      <p:sp>
        <p:nvSpPr>
          <p:cNvPr id="25" name="Slide Number Placeholder 0"/>
          <p:cNvSpPr>
            <a:spLocks noGrp="1"/>
          </p:cNvSpPr>
          <p:nvPr>
            <p:ph type="sldNum" sz="quarter" idx="4294967295"/>
          </p:nvPr>
        </p:nvSpPr>
        <p:spPr>
          <a:xfrm>
            <a:off x="11503152" y="6437376"/>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4748B"/>
                </a:solidFill>
                <a:latin typeface="Aptos"/>
                <a:ea typeface="Aptos"/>
                <a:cs typeface="Aptos"/>
              </a:defRPr>
            </a:lvl1pPr>
          </a:lstStyle>
          <a:p>
            <a:pPr algn="l"/>
            <a:fld id="{F7021451-1387-4CA6-816F-3879F97B5CBC}" type="slidenum">
              <a:rPr lang="en-US" b="0"/>
              <a:t>27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36aabc-4c6e-46f2-b057-c262089138e6}" enabled="1" method="Standard" siteId="{763b2760-45c5-46d3-883e-29705bba49b7}" contentBits="0" removed="0"/>
</clbl:labelList>
</file>

<file path=docProps/app.xml><?xml version="1.0" encoding="utf-8"?>
<Properties xmlns="http://schemas.openxmlformats.org/officeDocument/2006/extended-properties" xmlns:vt="http://schemas.openxmlformats.org/officeDocument/2006/docPropsVTypes">
  <TotalTime>0</TotalTime>
  <Words>3886</Words>
  <Application>Microsoft Office PowerPoint</Application>
  <PresentationFormat>Widescreen</PresentationFormat>
  <Paragraphs>444</Paragraphs>
  <Slides>27</Slides>
  <Notes>26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Aptos</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Personal Library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Prompting: Building a Local AI Document Assistant with LLMs and RAG</dc:title>
  <dc:subject>Beyond Prompting: Building a Local AI Document Assistant with LLMs and RAG</dc:subject>
  <dc:creator>Personal Library</dc:creator>
  <cp:lastModifiedBy>Emilian Pascalau</cp:lastModifiedBy>
  <cp:revision>8</cp:revision>
  <dcterms:created xsi:type="dcterms:W3CDTF">2026-10-08T09:08:33Z</dcterms:created>
  <dcterms:modified xsi:type="dcterms:W3CDTF">2026-10-08T12:00:54Z</dcterms:modified>
</cp:coreProperties>
</file>