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00:00–02:00
Open with the advertised promise: an LLM is a generator, not a reliable document database. The session shows how retrieval changes the boundary of what the system can responsibly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02:00–03:30
Read the four promises as the contract for the talk. Emphasize that the point is not a product tour; it is understanding the boundaries and trade-offs behind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03:30–04:00
Set expectations: the demo is intentionally short and focused. The audience will see the app before receiving the theory, so every later diagram answers a question raised by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04:00–04:30
Transition immediately to the running application. Keep the demo moving; do not explain every UI control. The audience should see a complete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04:30–08:30
Live sequence: select a document, show both summaries, ask a question, click a citation, then open System Services &amp; Admin Consoles. Be explicit that mock mode and real mode are different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08:30–10:00
Use this slide to protect credibility. Say plainly that a visible score is not automatically a measured score and that a BPMN diagram is not automatically an executing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10:00–10:15
This is the heart of the talk. Everything after the demo exists to explain two things: why retrieval is necessary, and why an AI agent left unsupervised builds something plausible instead of something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10:15–11:10
Resist anthropomorphising. The model is an inference engine whose output distribution is shaped by training data and by the context you supply. It has no concept of “I have not seen this.” That single fact explains both hallucination on documents and the implementation failures shown in three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11:10–12:00
A prompt cannot conjure missing evidence. Retrieval changes the input distribution, which is the only lever that actually moves the output. Say clearly that grounding reduces and localises hallucination rather than eliminating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12:00–12:45
Set this up as the premise, not as a complaint. Make the point that these five constraints are ordinary engineering requirements — the sort any enterprise project states on day one. Dwell on numbers 3 and 4: naming a technology and demanding its latest version are precisely the two instructions that fight hardest against the training prior, because the model has seen the alternative and the older version far more often. This slide exists so the next slide is evidence rather than anecdote.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12:45–13:50
Tell this honestly; it is the strongest evidence in the talk. The request was explicit in both cases and the output was still React and Boot 3. Connect it straight back to the previous slide: the model is not disobeying, it is returning to its prior because the requested alternative is sparse or post-cut-off in what it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13:50–14:45
The exact commands matter less than the principle: convert intent into an artefact the build can evaluate. Mention that this is also how you stop silent regressions when a later iteration quietly reintroduces the familiar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14:45–15:35
Walk through both fragments. The API is incidental; what matters is that the evidence boundary, the failure behaviour and the citation format are written down rather than hoped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15:35–16:20
Make the point that none of these failures were dramatic crashes. The React app ran. The Boot 3 backend ran. That is exactly the danger: plausible output passes a casual look and only fails an exacting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16:20–17:15
Do not read the table aloud. Make one point: the Google AI Professional Certificate is built around creativity, multi-model use and lateral synthesis rather than syntax, and that is precisely the skill set that survives when generation becomes cheap. The three layers on the right map directly onto the architecture shown in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17:15–18:00
Land this without turning it into a biography. The through-line is that the research training and the certificate serve the same purpose from two directions: navigating ambiguity, and choosing the problem. Pause here before moving into the architecture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18:00–18:20
Now show the architecture that makes the earlier claims possible. This section should feel like opening the application’s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18:20–20:00
Orient the audience from left to right. Stress that local inference and storage are not a single feature; they are a topology choice involving ports, persistence, timeouts, and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20:00–21:30
Explain that “upload” creates a source-of-truth record, a searchable index, and two summaries. This is also where timeouts and failure policies accumulate.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21:30–23:30
Make the crucial distinction: the BPMN file is a static design artifact. No Camunda or Zeebe engine executes it. The running system uses sequential Spring services. That honesty is itself an architectural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23:30–25:00
Use this as the architectural trade-off slide. Polyglot persistence is not about collecting technologies; it is about separating operational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25:00–27:00
Close architecture with a concrete “what would production require?” question: retries, queues, idempotency, human review, and observable workflow state. The deck should not overclaim that these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27:00–27:20
Introduce the teaching device: one familiar story, two explanations. First, the audience gets the mental model; then they see the engineering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27:20–29:30
Use the Kansas/Oz example because it is concrete and memorable. Keep the analogy short; the goal is to make the later terms—chunk, embedding, retrieval, context—feel inevitable.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29:30–32:00
Contrast the current implementation with a modular reference architecture. The strongest current features are document scoping, local embeddings, grounded prompts, and interactive citations—not automated self-evaluation.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32:00–34:00
Explain the code in terms of responsibility: retrieve with a scope, label the context, then generate under a grounded system instruction. Mention that the actual score exposed in the UI is not currently a measured cosine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34:00–36:00
This slide is important for technical credibility. Explicitly distinguish hallucination reduction from hallucination elimination, and retrieval quality from answer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36:00–36:20
The final section combines two tables and a short set of lessons. Present the numbers as engineering estimates, not audited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36:20–39:00
Walk through the exact financial-consumption table from the synchronized ledger. Emphasize that gross AI processing is estimated from the revised credit baseline, while runtime inference remains a separate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39:00–42:00
Walk through the exact commercial-valuation table from the synchronized ledger. Explain that the manual and senior-engineer values are market benchmarks, while the autonomous-agent row uses the revised engineering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42:00–44:00
Deliver the five rules briskly. This is the practical summary of the talk, not a generic AI checklist: each rule comes directly from the project’s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44:00–45:00
Pause here. Invite questions about the live demo, RAG design, local inference, the AI-assisted development process, the estimates, or how to move the BPMN design toward an executable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45:00–60:00
Use audience questions to return to the central distinction: implementation, evidence, architecture, and problem choice are related but not interchangeable.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Reference slide
Use this slide as the handoff. The project documentation remains versioned with the code; GitHub Pages is the presentation layer planned for the final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Reference slide
Leave this as the final slide if the audience wants references, or return to the Q&amp;A slide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6748272"/>
            <a:ext cx="12191695" cy="109728"/>
          </a:xfrm>
          <a:prstGeom prst="rect">
            <a:avLst/>
          </a:prstGeom>
          <a:solidFill>
            <a:srgbClr val="0F766E"/>
          </a:solidFill>
          <a:ln w="12700">
            <a:solidFill>
              <a:srgbClr val="0F766E"/>
            </a:solidFill>
            <a:prstDash val="solid"/>
          </a:ln>
        </p:spPr>
      </p:sp>
      <p:sp>
        <p:nvSpPr>
          <p:cNvPr id="3" name="Text 1"/>
          <p:cNvSpPr/>
          <p:nvPr/>
        </p:nvSpPr>
        <p:spPr>
          <a:xfrm>
            <a:off x="411480" y="6473952"/>
            <a:ext cx="4114800" cy="164592"/>
          </a:xfrm>
          <a:prstGeom prst="rect">
            <a:avLst/>
          </a:prstGeom>
          <a:noFill/>
          <a:ln/>
        </p:spPr>
        <p:txBody>
          <a:bodyPr wrap="square" lIns="0" tIns="0" rIns="0" bIns="0" rtlCol="0" anchor="ctr"/>
          <a:lstStyle/>
          <a:p>
            <a:pPr indent="0" marL="0">
              <a:buNone/>
            </a:pPr>
            <a:r>
              <a:rPr lang="en-US" sz="800" dirty="0">
                <a:solidFill>
                  <a:srgbClr val="64748B"/>
                </a:solidFill>
                <a:latin typeface="Aptos" pitchFamily="34" charset="0"/>
                <a:ea typeface="Aptos" pitchFamily="34" charset="-122"/>
                <a:cs typeface="Aptos" pitchFamily="34" charset="-120"/>
              </a:rPr>
              <a:t>Personal Library  |  Beyond Prompting</a:t>
            </a:r>
            <a:endParaRPr lang="en-US" sz="8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0"/>
            <a:ext cx="164592" cy="6858000"/>
          </a:xfrm>
          <a:prstGeom prst="rect">
            <a:avLst/>
          </a:prstGeom>
          <a:solidFill>
            <a:srgbClr val="0F766E"/>
          </a:solidFill>
          <a:ln w="12700">
            <a:solidFill>
              <a:srgbClr val="0F766E"/>
            </a:solidFill>
            <a:prstDash val="solid"/>
          </a:ln>
        </p:spPr>
      </p:sp>
      <p:sp>
        <p:nvSpPr>
          <p:cNvPr id="4" name="Text 2"/>
          <p:cNvSpPr/>
          <p:nvPr/>
        </p:nvSpPr>
        <p:spPr>
          <a:xfrm>
            <a:off x="731520" y="731520"/>
            <a:ext cx="6400800" cy="320040"/>
          </a:xfrm>
          <a:prstGeom prst="rect">
            <a:avLst/>
          </a:prstGeom>
          <a:noFill/>
          <a:ln/>
        </p:spPr>
        <p:txBody>
          <a:bodyPr wrap="square" lIns="0" tIns="0" rIns="0" bIns="0" rtlCol="0" anchor="ctr">
            <a:normAutofit/>
          </a:bodyPr>
          <a:lstStyle/>
          <a:p>
            <a:pPr indent="0" marL="0">
              <a:buNone/>
            </a:pPr>
            <a:r>
              <a:rPr lang="en-US" sz="1400" b="1" spc="200" kern="0" dirty="0">
                <a:solidFill>
                  <a:srgbClr val="5EEAD4"/>
                </a:solidFill>
                <a:latin typeface="Aptos" pitchFamily="34" charset="0"/>
                <a:ea typeface="Aptos" pitchFamily="34" charset="-122"/>
                <a:cs typeface="Aptos" pitchFamily="34" charset="-120"/>
              </a:rPr>
              <a:t>BEYOND PROMPTING</a:t>
            </a:r>
            <a:endParaRPr lang="en-US" sz="1400" dirty="0"/>
          </a:p>
        </p:txBody>
      </p:sp>
      <p:sp>
        <p:nvSpPr>
          <p:cNvPr id="5" name="Text 3"/>
          <p:cNvSpPr/>
          <p:nvPr/>
        </p:nvSpPr>
        <p:spPr>
          <a:xfrm>
            <a:off x="731520" y="1280160"/>
            <a:ext cx="8138160" cy="2057400"/>
          </a:xfrm>
          <a:prstGeom prst="rect">
            <a:avLst/>
          </a:prstGeom>
          <a:noFill/>
          <a:ln/>
        </p:spPr>
        <p:txBody>
          <a:bodyPr wrap="square" lIns="0" tIns="0" rIns="0" bIns="0" rtlCol="0" anchor="t">
            <a:normAutofit/>
          </a:bodyPr>
          <a:lstStyle/>
          <a:p>
            <a:pPr indent="0" marL="0">
              <a:buNone/>
            </a:pPr>
            <a:r>
              <a:rPr lang="en-US" sz="3500" b="1" dirty="0">
                <a:solidFill>
                  <a:srgbClr val="FFFFFF"/>
                </a:solidFill>
                <a:latin typeface="Aptos" pitchFamily="34" charset="0"/>
                <a:ea typeface="Aptos" pitchFamily="34" charset="-122"/>
                <a:cs typeface="Aptos" pitchFamily="34" charset="-120"/>
              </a:rPr>
              <a:t>Building a Local AI</a:t>
            </a:r>
            <a:endParaRPr lang="en-US" sz="3500" dirty="0"/>
          </a:p>
          <a:p>
            <a:pPr indent="0" marL="0">
              <a:buNone/>
            </a:pPr>
            <a:r>
              <a:rPr lang="en-US" sz="3500" b="1" dirty="0">
                <a:solidFill>
                  <a:srgbClr val="FFFFFF"/>
                </a:solidFill>
                <a:latin typeface="Aptos" pitchFamily="34" charset="0"/>
                <a:ea typeface="Aptos" pitchFamily="34" charset="-122"/>
                <a:cs typeface="Aptos" pitchFamily="34" charset="-120"/>
              </a:rPr>
              <a:t>Document Assistant</a:t>
            </a:r>
            <a:endParaRPr lang="en-US" sz="3500" dirty="0"/>
          </a:p>
          <a:p>
            <a:pPr indent="0" marL="0">
              <a:buNone/>
            </a:pPr>
            <a:r>
              <a:rPr lang="en-US" sz="3500" b="1" dirty="0">
                <a:solidFill>
                  <a:srgbClr val="FFFFFF"/>
                </a:solidFill>
                <a:latin typeface="Aptos" pitchFamily="34" charset="0"/>
                <a:ea typeface="Aptos" pitchFamily="34" charset="-122"/>
                <a:cs typeface="Aptos" pitchFamily="34" charset="-120"/>
              </a:rPr>
              <a:t>with LLMs and RAG</a:t>
            </a:r>
            <a:endParaRPr lang="en-US" sz="3500" dirty="0"/>
          </a:p>
        </p:txBody>
      </p:sp>
      <p:sp>
        <p:nvSpPr>
          <p:cNvPr id="6" name="Text 4"/>
          <p:cNvSpPr/>
          <p:nvPr/>
        </p:nvSpPr>
        <p:spPr>
          <a:xfrm>
            <a:off x="758952" y="3794760"/>
            <a:ext cx="7589520" cy="777240"/>
          </a:xfrm>
          <a:prstGeom prst="rect">
            <a:avLst/>
          </a:prstGeom>
          <a:noFill/>
          <a:ln/>
        </p:spPr>
        <p:txBody>
          <a:bodyPr wrap="square" lIns="0" tIns="0" rIns="0" bIns="0" rtlCol="0" anchor="ctr">
            <a:normAutofit/>
          </a:bodyPr>
          <a:lstStyle/>
          <a:p>
            <a:pPr indent="0" marL="0">
              <a:buNone/>
            </a:pPr>
            <a:r>
              <a:rPr lang="en-US" sz="1800" dirty="0">
                <a:solidFill>
                  <a:srgbClr val="CBD5E1"/>
                </a:solidFill>
                <a:latin typeface="Aptos" pitchFamily="34" charset="0"/>
                <a:ea typeface="Aptos" pitchFamily="34" charset="-122"/>
                <a:cs typeface="Aptos" pitchFamily="34" charset="-120"/>
              </a:rPr>
              <a:t>A practical tour from PDF upload to grounded answers — and a reflection on what AI can build, what it cannot decide, and what humans must verify.</a:t>
            </a:r>
            <a:endParaRPr lang="en-US" sz="1800" dirty="0"/>
          </a:p>
        </p:txBody>
      </p:sp>
      <p:sp>
        <p:nvSpPr>
          <p:cNvPr id="7" name="Shape 5"/>
          <p:cNvSpPr/>
          <p:nvPr/>
        </p:nvSpPr>
        <p:spPr>
          <a:xfrm>
            <a:off x="749808" y="5138928"/>
            <a:ext cx="1234440" cy="310896"/>
          </a:xfrm>
          <a:prstGeom prst="roundRect">
            <a:avLst>
              <a:gd name="adj" fmla="val 44118"/>
            </a:avLst>
          </a:prstGeom>
          <a:solidFill>
            <a:srgbClr val="134E4A"/>
          </a:solidFill>
          <a:ln w="12700">
            <a:solidFill>
              <a:srgbClr val="134E4A"/>
            </a:solidFill>
            <a:prstDash val="solid"/>
          </a:ln>
        </p:spPr>
      </p:sp>
      <p:sp>
        <p:nvSpPr>
          <p:cNvPr id="8" name="Text 6"/>
          <p:cNvSpPr/>
          <p:nvPr/>
        </p:nvSpPr>
        <p:spPr>
          <a:xfrm>
            <a:off x="749808" y="5157216"/>
            <a:ext cx="1234440" cy="182880"/>
          </a:xfrm>
          <a:prstGeom prst="rect">
            <a:avLst/>
          </a:prstGeom>
          <a:noFill/>
          <a:ln/>
        </p:spPr>
        <p:txBody>
          <a:bodyPr wrap="square" lIns="0" tIns="0" rIns="0" bIns="0" rtlCol="0" anchor="ctr">
            <a:normAutofit/>
          </a:bodyPr>
          <a:lstStyle/>
          <a:p>
            <a:pPr algn="ctr" indent="0" marL="0">
              <a:buNone/>
            </a:pPr>
            <a:r>
              <a:rPr lang="en-US" sz="900" b="1" dirty="0">
                <a:solidFill>
                  <a:srgbClr val="CCFBF1"/>
                </a:solidFill>
                <a:latin typeface="Aptos" pitchFamily="34" charset="0"/>
                <a:ea typeface="Aptos" pitchFamily="34" charset="-122"/>
                <a:cs typeface="Aptos" pitchFamily="34" charset="-120"/>
              </a:rPr>
              <a:t>LOCAL-FIRST</a:t>
            </a:r>
            <a:endParaRPr lang="en-US" sz="900" dirty="0"/>
          </a:p>
        </p:txBody>
      </p:sp>
      <p:sp>
        <p:nvSpPr>
          <p:cNvPr id="9" name="Shape 7"/>
          <p:cNvSpPr/>
          <p:nvPr/>
        </p:nvSpPr>
        <p:spPr>
          <a:xfrm>
            <a:off x="2121408" y="5138928"/>
            <a:ext cx="1234440" cy="310896"/>
          </a:xfrm>
          <a:prstGeom prst="roundRect">
            <a:avLst>
              <a:gd name="adj" fmla="val 44118"/>
            </a:avLst>
          </a:prstGeom>
          <a:solidFill>
            <a:srgbClr val="1E3A8A"/>
          </a:solidFill>
          <a:ln w="12700">
            <a:solidFill>
              <a:srgbClr val="1E3A8A"/>
            </a:solidFill>
            <a:prstDash val="solid"/>
          </a:ln>
        </p:spPr>
      </p:sp>
      <p:sp>
        <p:nvSpPr>
          <p:cNvPr id="10" name="Text 8"/>
          <p:cNvSpPr/>
          <p:nvPr/>
        </p:nvSpPr>
        <p:spPr>
          <a:xfrm>
            <a:off x="2121408" y="5157216"/>
            <a:ext cx="1234440" cy="182880"/>
          </a:xfrm>
          <a:prstGeom prst="rect">
            <a:avLst/>
          </a:prstGeom>
          <a:noFill/>
          <a:ln/>
        </p:spPr>
        <p:txBody>
          <a:bodyPr wrap="square" lIns="0" tIns="0" rIns="0" bIns="0" rtlCol="0" anchor="ctr">
            <a:normAutofit/>
          </a:bodyPr>
          <a:lstStyle/>
          <a:p>
            <a:pPr algn="ctr" indent="0" marL="0">
              <a:buNone/>
            </a:pPr>
            <a:r>
              <a:rPr lang="en-US" sz="900" b="1" dirty="0">
                <a:solidFill>
                  <a:srgbClr val="DBEAFE"/>
                </a:solidFill>
                <a:latin typeface="Aptos" pitchFamily="34" charset="0"/>
                <a:ea typeface="Aptos" pitchFamily="34" charset="-122"/>
                <a:cs typeface="Aptos" pitchFamily="34" charset="-120"/>
              </a:rPr>
              <a:t>GROUNDED AI</a:t>
            </a:r>
            <a:endParaRPr lang="en-US" sz="900" dirty="0"/>
          </a:p>
        </p:txBody>
      </p:sp>
      <p:sp>
        <p:nvSpPr>
          <p:cNvPr id="11" name="Text 9"/>
          <p:cNvSpPr/>
          <p:nvPr/>
        </p:nvSpPr>
        <p:spPr>
          <a:xfrm>
            <a:off x="758952" y="5989320"/>
            <a:ext cx="6400800" cy="228600"/>
          </a:xfrm>
          <a:prstGeom prst="rect">
            <a:avLst/>
          </a:prstGeom>
          <a:noFill/>
          <a:ln/>
        </p:spPr>
        <p:txBody>
          <a:bodyPr wrap="square" lIns="0" tIns="0" rIns="0" bIns="0" rtlCol="0" anchor="ctr">
            <a:normAutofit/>
          </a:bodyPr>
          <a:lstStyle/>
          <a:p>
            <a:pPr indent="0" marL="0">
              <a:buNone/>
            </a:pPr>
            <a:r>
              <a:rPr lang="en-US" sz="1100" dirty="0">
                <a:solidFill>
                  <a:srgbClr val="94A3B8"/>
                </a:solidFill>
                <a:latin typeface="Aptos" pitchFamily="34" charset="0"/>
                <a:ea typeface="Aptos" pitchFamily="34" charset="-122"/>
                <a:cs typeface="Aptos" pitchFamily="34" charset="-120"/>
              </a:rPr>
              <a:t>Personal Library  |  Local-first document intelligence</a:t>
            </a:r>
            <a:endParaRPr lang="en-US" sz="11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THE PROMISE</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What this session will make concrete</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The abstract becomes a sequence of inspectable engineering decisions.</a:t>
            </a:r>
            <a:endParaRPr lang="en-US" sz="1200" dirty="0"/>
          </a:p>
        </p:txBody>
      </p:sp>
      <p:sp>
        <p:nvSpPr>
          <p:cNvPr id="5" name="Shape 3"/>
          <p:cNvSpPr/>
          <p:nvPr/>
        </p:nvSpPr>
        <p:spPr>
          <a:xfrm>
            <a:off x="594360" y="1874520"/>
            <a:ext cx="5257800" cy="1234440"/>
          </a:xfrm>
          <a:prstGeom prst="roundRect">
            <a:avLst>
              <a:gd name="adj" fmla="val 5926"/>
            </a:avLst>
          </a:prstGeom>
          <a:solidFill>
            <a:srgbClr val="FFFFFF"/>
          </a:solidFill>
          <a:ln w="12700">
            <a:solidFill>
              <a:srgbClr val="CBD5E1"/>
            </a:solidFill>
            <a:prstDash val="solid"/>
          </a:ln>
        </p:spPr>
      </p:sp>
      <p:sp>
        <p:nvSpPr>
          <p:cNvPr id="6" name="Text 4"/>
          <p:cNvSpPr/>
          <p:nvPr/>
        </p:nvSpPr>
        <p:spPr>
          <a:xfrm>
            <a:off x="822960" y="2057400"/>
            <a:ext cx="4754880" cy="201168"/>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PRIVATE INPUT</a:t>
            </a:r>
            <a:endParaRPr lang="en-US" sz="1000" dirty="0"/>
          </a:p>
        </p:txBody>
      </p:sp>
      <p:sp>
        <p:nvSpPr>
          <p:cNvPr id="7" name="Text 5"/>
          <p:cNvSpPr/>
          <p:nvPr/>
        </p:nvSpPr>
        <p:spPr>
          <a:xfrm>
            <a:off x="822960" y="2377440"/>
            <a:ext cx="4709160" cy="50292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A PDF is uploaded locally. The system extracts text and metadata.</a:t>
            </a:r>
            <a:endParaRPr lang="en-US" sz="1700" dirty="0"/>
          </a:p>
        </p:txBody>
      </p:sp>
      <p:sp>
        <p:nvSpPr>
          <p:cNvPr id="8" name="Shape 6"/>
          <p:cNvSpPr/>
          <p:nvPr/>
        </p:nvSpPr>
        <p:spPr>
          <a:xfrm>
            <a:off x="6309360" y="1874520"/>
            <a:ext cx="5257800" cy="1234440"/>
          </a:xfrm>
          <a:prstGeom prst="roundRect">
            <a:avLst>
              <a:gd name="adj" fmla="val 5926"/>
            </a:avLst>
          </a:prstGeom>
          <a:solidFill>
            <a:srgbClr val="FFFFFF"/>
          </a:solidFill>
          <a:ln w="12700">
            <a:solidFill>
              <a:srgbClr val="CBD5E1"/>
            </a:solidFill>
            <a:prstDash val="solid"/>
          </a:ln>
        </p:spPr>
      </p:sp>
      <p:sp>
        <p:nvSpPr>
          <p:cNvPr id="9" name="Text 7"/>
          <p:cNvSpPr/>
          <p:nvPr/>
        </p:nvSpPr>
        <p:spPr>
          <a:xfrm>
            <a:off x="6537960" y="2057400"/>
            <a:ext cx="4754880" cy="201168"/>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RETRIEVAL</a:t>
            </a:r>
            <a:endParaRPr lang="en-US" sz="1000" dirty="0"/>
          </a:p>
        </p:txBody>
      </p:sp>
      <p:sp>
        <p:nvSpPr>
          <p:cNvPr id="10" name="Text 8"/>
          <p:cNvSpPr/>
          <p:nvPr/>
        </p:nvSpPr>
        <p:spPr>
          <a:xfrm>
            <a:off x="6537960" y="2377440"/>
            <a:ext cx="4709160" cy="50292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Chunks become embeddings, then searchable points in Qdrant.</a:t>
            </a:r>
            <a:endParaRPr lang="en-US" sz="1700" dirty="0"/>
          </a:p>
        </p:txBody>
      </p:sp>
      <p:sp>
        <p:nvSpPr>
          <p:cNvPr id="11" name="Shape 9"/>
          <p:cNvSpPr/>
          <p:nvPr/>
        </p:nvSpPr>
        <p:spPr>
          <a:xfrm>
            <a:off x="594360" y="3566160"/>
            <a:ext cx="5257800" cy="1234440"/>
          </a:xfrm>
          <a:prstGeom prst="roundRect">
            <a:avLst>
              <a:gd name="adj" fmla="val 5926"/>
            </a:avLst>
          </a:prstGeom>
          <a:solidFill>
            <a:srgbClr val="FFFFFF"/>
          </a:solidFill>
          <a:ln w="12700">
            <a:solidFill>
              <a:srgbClr val="CBD5E1"/>
            </a:solidFill>
            <a:prstDash val="solid"/>
          </a:ln>
        </p:spPr>
      </p:sp>
      <p:sp>
        <p:nvSpPr>
          <p:cNvPr id="12" name="Text 10"/>
          <p:cNvSpPr/>
          <p:nvPr/>
        </p:nvSpPr>
        <p:spPr>
          <a:xfrm>
            <a:off x="822960" y="3749040"/>
            <a:ext cx="4754880" cy="201168"/>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GROUNDED OUTPUT</a:t>
            </a:r>
            <a:endParaRPr lang="en-US" sz="1000" dirty="0"/>
          </a:p>
        </p:txBody>
      </p:sp>
      <p:sp>
        <p:nvSpPr>
          <p:cNvPr id="13" name="Text 11"/>
          <p:cNvSpPr/>
          <p:nvPr/>
        </p:nvSpPr>
        <p:spPr>
          <a:xfrm>
            <a:off x="822960" y="4069080"/>
            <a:ext cx="4709160" cy="50292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The model answers from retrieved passages and exposes citations.</a:t>
            </a:r>
            <a:endParaRPr lang="en-US" sz="1700" dirty="0"/>
          </a:p>
        </p:txBody>
      </p:sp>
      <p:sp>
        <p:nvSpPr>
          <p:cNvPr id="14" name="Shape 12"/>
          <p:cNvSpPr/>
          <p:nvPr/>
        </p:nvSpPr>
        <p:spPr>
          <a:xfrm>
            <a:off x="6309360" y="3566160"/>
            <a:ext cx="5257800" cy="1234440"/>
          </a:xfrm>
          <a:prstGeom prst="roundRect">
            <a:avLst>
              <a:gd name="adj" fmla="val 5926"/>
            </a:avLst>
          </a:prstGeom>
          <a:solidFill>
            <a:srgbClr val="CCFBF1"/>
          </a:solidFill>
          <a:ln w="12700">
            <a:solidFill>
              <a:srgbClr val="0F766E"/>
            </a:solidFill>
            <a:prstDash val="solid"/>
          </a:ln>
        </p:spPr>
      </p:sp>
      <p:sp>
        <p:nvSpPr>
          <p:cNvPr id="15" name="Text 13"/>
          <p:cNvSpPr/>
          <p:nvPr/>
        </p:nvSpPr>
        <p:spPr>
          <a:xfrm>
            <a:off x="6537960" y="3749040"/>
            <a:ext cx="4754880" cy="201168"/>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ENGINEERING LESSON</a:t>
            </a:r>
            <a:endParaRPr lang="en-US" sz="1000" dirty="0"/>
          </a:p>
        </p:txBody>
      </p:sp>
      <p:sp>
        <p:nvSpPr>
          <p:cNvPr id="16" name="Text 14"/>
          <p:cNvSpPr/>
          <p:nvPr/>
        </p:nvSpPr>
        <p:spPr>
          <a:xfrm>
            <a:off x="6537960" y="4069080"/>
            <a:ext cx="4709160" cy="502920"/>
          </a:xfrm>
          <a:prstGeom prst="rect">
            <a:avLst/>
          </a:prstGeom>
          <a:noFill/>
          <a:ln/>
        </p:spPr>
        <p:txBody>
          <a:bodyPr wrap="square" lIns="0" tIns="0" rIns="0" bIns="0"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AI can accelerate implementation, but it does not supply intent or verification.</a:t>
            </a:r>
            <a:endParaRPr lang="en-US" sz="1700" dirty="0"/>
          </a:p>
        </p:txBody>
      </p:sp>
      <p:sp>
        <p:nvSpPr>
          <p:cNvPr id="17" name="Text 15"/>
          <p:cNvSpPr/>
          <p:nvPr/>
        </p:nvSpPr>
        <p:spPr>
          <a:xfrm>
            <a:off x="640080" y="5532120"/>
            <a:ext cx="914400" cy="182880"/>
          </a:xfrm>
          <a:prstGeom prst="rect">
            <a:avLst/>
          </a:prstGeom>
          <a:noFill/>
          <a:ln/>
        </p:spPr>
        <p:txBody>
          <a:bodyPr wrap="square" lIns="0" tIns="0" rIns="0" bIns="0" rtlCol="0" anchor="ctr">
            <a:normAutofit/>
          </a:bodyPr>
          <a:lstStyle/>
          <a:p>
            <a:pPr indent="0" marL="0">
              <a:buNone/>
            </a:pPr>
            <a:r>
              <a:rPr lang="en-US" sz="1000" b="1" dirty="0">
                <a:solidFill>
                  <a:srgbClr val="64748B"/>
                </a:solidFill>
                <a:latin typeface="Aptos" pitchFamily="34" charset="0"/>
                <a:ea typeface="Aptos" pitchFamily="34" charset="-122"/>
                <a:cs typeface="Aptos" pitchFamily="34" charset="-120"/>
              </a:rPr>
              <a:t>Keywords</a:t>
            </a:r>
            <a:endParaRPr lang="en-US" sz="1000" dirty="0"/>
          </a:p>
        </p:txBody>
      </p:sp>
      <p:sp>
        <p:nvSpPr>
          <p:cNvPr id="18" name="Shape 16"/>
          <p:cNvSpPr/>
          <p:nvPr/>
        </p:nvSpPr>
        <p:spPr>
          <a:xfrm>
            <a:off x="1508760" y="5468112"/>
            <a:ext cx="1143000" cy="310896"/>
          </a:xfrm>
          <a:prstGeom prst="roundRect">
            <a:avLst>
              <a:gd name="adj" fmla="val 44118"/>
            </a:avLst>
          </a:prstGeom>
          <a:solidFill>
            <a:srgbClr val="CCFBF1"/>
          </a:solidFill>
          <a:ln w="12700">
            <a:solidFill>
              <a:srgbClr val="CCFBF1"/>
            </a:solidFill>
            <a:prstDash val="solid"/>
          </a:ln>
        </p:spPr>
      </p:sp>
      <p:sp>
        <p:nvSpPr>
          <p:cNvPr id="19" name="Text 17"/>
          <p:cNvSpPr/>
          <p:nvPr/>
        </p:nvSpPr>
        <p:spPr>
          <a:xfrm>
            <a:off x="1508760" y="5486400"/>
            <a:ext cx="114300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RAG</a:t>
            </a:r>
            <a:endParaRPr lang="en-US" sz="900" dirty="0"/>
          </a:p>
        </p:txBody>
      </p:sp>
      <p:sp>
        <p:nvSpPr>
          <p:cNvPr id="20" name="Shape 18"/>
          <p:cNvSpPr/>
          <p:nvPr/>
        </p:nvSpPr>
        <p:spPr>
          <a:xfrm>
            <a:off x="2834640" y="5468112"/>
            <a:ext cx="1143000" cy="310896"/>
          </a:xfrm>
          <a:prstGeom prst="roundRect">
            <a:avLst>
              <a:gd name="adj" fmla="val 44118"/>
            </a:avLst>
          </a:prstGeom>
          <a:solidFill>
            <a:srgbClr val="E2E8F0"/>
          </a:solidFill>
          <a:ln w="12700">
            <a:solidFill>
              <a:srgbClr val="E2E8F0"/>
            </a:solidFill>
            <a:prstDash val="solid"/>
          </a:ln>
        </p:spPr>
      </p:sp>
      <p:sp>
        <p:nvSpPr>
          <p:cNvPr id="21" name="Text 19"/>
          <p:cNvSpPr/>
          <p:nvPr/>
        </p:nvSpPr>
        <p:spPr>
          <a:xfrm>
            <a:off x="2834640" y="5486400"/>
            <a:ext cx="114300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Ollama</a:t>
            </a:r>
            <a:endParaRPr lang="en-US" sz="900" dirty="0"/>
          </a:p>
        </p:txBody>
      </p:sp>
      <p:sp>
        <p:nvSpPr>
          <p:cNvPr id="22" name="Shape 20"/>
          <p:cNvSpPr/>
          <p:nvPr/>
        </p:nvSpPr>
        <p:spPr>
          <a:xfrm>
            <a:off x="4160520" y="5468112"/>
            <a:ext cx="1143000" cy="310896"/>
          </a:xfrm>
          <a:prstGeom prst="roundRect">
            <a:avLst>
              <a:gd name="adj" fmla="val 44118"/>
            </a:avLst>
          </a:prstGeom>
          <a:solidFill>
            <a:srgbClr val="CCFBF1"/>
          </a:solidFill>
          <a:ln w="12700">
            <a:solidFill>
              <a:srgbClr val="CCFBF1"/>
            </a:solidFill>
            <a:prstDash val="solid"/>
          </a:ln>
        </p:spPr>
      </p:sp>
      <p:sp>
        <p:nvSpPr>
          <p:cNvPr id="23" name="Text 21"/>
          <p:cNvSpPr/>
          <p:nvPr/>
        </p:nvSpPr>
        <p:spPr>
          <a:xfrm>
            <a:off x="4160520" y="5486400"/>
            <a:ext cx="114300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Qdrant</a:t>
            </a:r>
            <a:endParaRPr lang="en-US" sz="900" dirty="0"/>
          </a:p>
        </p:txBody>
      </p:sp>
      <p:sp>
        <p:nvSpPr>
          <p:cNvPr id="24" name="Shape 22"/>
          <p:cNvSpPr/>
          <p:nvPr/>
        </p:nvSpPr>
        <p:spPr>
          <a:xfrm>
            <a:off x="5486400" y="5468112"/>
            <a:ext cx="1143000" cy="310896"/>
          </a:xfrm>
          <a:prstGeom prst="roundRect">
            <a:avLst>
              <a:gd name="adj" fmla="val 44118"/>
            </a:avLst>
          </a:prstGeom>
          <a:solidFill>
            <a:srgbClr val="E2E8F0"/>
          </a:solidFill>
          <a:ln w="12700">
            <a:solidFill>
              <a:srgbClr val="E2E8F0"/>
            </a:solidFill>
            <a:prstDash val="solid"/>
          </a:ln>
        </p:spPr>
      </p:sp>
      <p:sp>
        <p:nvSpPr>
          <p:cNvPr id="25" name="Text 23"/>
          <p:cNvSpPr/>
          <p:nvPr/>
        </p:nvSpPr>
        <p:spPr>
          <a:xfrm>
            <a:off x="5486400" y="5486400"/>
            <a:ext cx="114300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Embeddings</a:t>
            </a:r>
            <a:endParaRPr lang="en-US" sz="900" dirty="0"/>
          </a:p>
        </p:txBody>
      </p:sp>
      <p:sp>
        <p:nvSpPr>
          <p:cNvPr id="26" name="Shape 24"/>
          <p:cNvSpPr/>
          <p:nvPr/>
        </p:nvSpPr>
        <p:spPr>
          <a:xfrm>
            <a:off x="6812280" y="5468112"/>
            <a:ext cx="1143000" cy="310896"/>
          </a:xfrm>
          <a:prstGeom prst="roundRect">
            <a:avLst>
              <a:gd name="adj" fmla="val 44118"/>
            </a:avLst>
          </a:prstGeom>
          <a:solidFill>
            <a:srgbClr val="CCFBF1"/>
          </a:solidFill>
          <a:ln w="12700">
            <a:solidFill>
              <a:srgbClr val="CCFBF1"/>
            </a:solidFill>
            <a:prstDash val="solid"/>
          </a:ln>
        </p:spPr>
      </p:sp>
      <p:sp>
        <p:nvSpPr>
          <p:cNvPr id="27" name="Text 25"/>
          <p:cNvSpPr/>
          <p:nvPr/>
        </p:nvSpPr>
        <p:spPr>
          <a:xfrm>
            <a:off x="6812280" y="5486400"/>
            <a:ext cx="114300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Spring AI</a:t>
            </a:r>
            <a:endParaRPr lang="en-US" sz="900" dirty="0"/>
          </a:p>
        </p:txBody>
      </p:sp>
      <p:sp>
        <p:nvSpPr>
          <p:cNvPr id="28" name="Shape 26"/>
          <p:cNvSpPr/>
          <p:nvPr/>
        </p:nvSpPr>
        <p:spPr>
          <a:xfrm>
            <a:off x="8138160" y="5468112"/>
            <a:ext cx="1143000" cy="310896"/>
          </a:xfrm>
          <a:prstGeom prst="roundRect">
            <a:avLst>
              <a:gd name="adj" fmla="val 44118"/>
            </a:avLst>
          </a:prstGeom>
          <a:solidFill>
            <a:srgbClr val="E2E8F0"/>
          </a:solidFill>
          <a:ln w="12700">
            <a:solidFill>
              <a:srgbClr val="E2E8F0"/>
            </a:solidFill>
            <a:prstDash val="solid"/>
          </a:ln>
        </p:spPr>
      </p:sp>
      <p:sp>
        <p:nvSpPr>
          <p:cNvPr id="29" name="Text 27"/>
          <p:cNvSpPr/>
          <p:nvPr/>
        </p:nvSpPr>
        <p:spPr>
          <a:xfrm>
            <a:off x="8138160" y="5486400"/>
            <a:ext cx="114300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Local AI</a:t>
            </a:r>
            <a:endParaRPr lang="en-US" sz="900" dirty="0"/>
          </a:p>
        </p:txBody>
      </p:sp>
      <p:sp>
        <p:nvSpPr>
          <p:cNvPr id="30" name="Shape 28"/>
          <p:cNvSpPr/>
          <p:nvPr/>
        </p:nvSpPr>
        <p:spPr>
          <a:xfrm>
            <a:off x="9464040" y="5468112"/>
            <a:ext cx="1143000" cy="310896"/>
          </a:xfrm>
          <a:prstGeom prst="roundRect">
            <a:avLst>
              <a:gd name="adj" fmla="val 44118"/>
            </a:avLst>
          </a:prstGeom>
          <a:solidFill>
            <a:srgbClr val="CCFBF1"/>
          </a:solidFill>
          <a:ln w="12700">
            <a:solidFill>
              <a:srgbClr val="CCFBF1"/>
            </a:solidFill>
            <a:prstDash val="solid"/>
          </a:ln>
        </p:spPr>
      </p:sp>
      <p:sp>
        <p:nvSpPr>
          <p:cNvPr id="31" name="Text 29"/>
          <p:cNvSpPr/>
          <p:nvPr/>
        </p:nvSpPr>
        <p:spPr>
          <a:xfrm>
            <a:off x="9464040" y="5486400"/>
            <a:ext cx="114300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Semantic Search</a:t>
            </a:r>
            <a:endParaRPr lang="en-US" sz="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ROADMAP</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Six sections, one continuous story</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The live application appears early; the architecture and lessons explain what the audience just saw.</a:t>
            </a:r>
            <a:endParaRPr lang="en-US" sz="1200" dirty="0"/>
          </a:p>
        </p:txBody>
      </p:sp>
      <p:sp>
        <p:nvSpPr>
          <p:cNvPr id="5" name="Shape 3"/>
          <p:cNvSpPr/>
          <p:nvPr/>
        </p:nvSpPr>
        <p:spPr>
          <a:xfrm>
            <a:off x="713232" y="2130552"/>
            <a:ext cx="10835640" cy="0"/>
          </a:xfrm>
          <a:prstGeom prst="line">
            <a:avLst/>
          </a:prstGeom>
          <a:noFill/>
          <a:ln w="12700">
            <a:solidFill>
              <a:srgbClr val="CBD5E1"/>
            </a:solidFill>
            <a:prstDash val="solid"/>
          </a:ln>
        </p:spPr>
      </p:sp>
      <p:sp>
        <p:nvSpPr>
          <p:cNvPr id="6" name="Text 4"/>
          <p:cNvSpPr/>
          <p:nvPr/>
        </p:nvSpPr>
        <p:spPr>
          <a:xfrm>
            <a:off x="713232" y="1691640"/>
            <a:ext cx="411480" cy="365760"/>
          </a:xfrm>
          <a:prstGeom prst="rect">
            <a:avLst/>
          </a:prstGeom>
          <a:noFill/>
          <a:ln/>
        </p:spPr>
        <p:txBody>
          <a:bodyPr wrap="square" lIns="0" tIns="0" rIns="0" bIns="0" rtlCol="0" anchor="ctr">
            <a:normAutofit/>
          </a:bodyPr>
          <a:lstStyle/>
          <a:p>
            <a:pPr algn="ctr" indent="0" marL="0">
              <a:buNone/>
            </a:pPr>
            <a:r>
              <a:rPr lang="en-US" sz="2000" b="1" dirty="0">
                <a:solidFill>
                  <a:srgbClr val="0F766E"/>
                </a:solidFill>
                <a:latin typeface="Aptos" pitchFamily="34" charset="0"/>
                <a:ea typeface="Aptos" pitchFamily="34" charset="-122"/>
                <a:cs typeface="Aptos" pitchFamily="34" charset="-120"/>
              </a:rPr>
              <a:t>1</a:t>
            </a:r>
            <a:endParaRPr lang="en-US" sz="2000" dirty="0"/>
          </a:p>
        </p:txBody>
      </p:sp>
      <p:sp>
        <p:nvSpPr>
          <p:cNvPr id="7" name="Text 5"/>
          <p:cNvSpPr/>
          <p:nvPr/>
        </p:nvSpPr>
        <p:spPr>
          <a:xfrm>
            <a:off x="1371600" y="1691640"/>
            <a:ext cx="2743200" cy="292608"/>
          </a:xfrm>
          <a:prstGeom prst="rect">
            <a:avLst/>
          </a:prstGeom>
          <a:noFill/>
          <a:ln/>
        </p:spPr>
        <p:txBody>
          <a:bodyPr wrap="square" lIns="0" tIns="0" rIns="0" bIns="0"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Live demo</a:t>
            </a:r>
            <a:endParaRPr lang="en-US" sz="1700" dirty="0"/>
          </a:p>
        </p:txBody>
      </p:sp>
      <p:sp>
        <p:nvSpPr>
          <p:cNvPr id="8" name="Text 6"/>
          <p:cNvSpPr/>
          <p:nvPr/>
        </p:nvSpPr>
        <p:spPr>
          <a:xfrm>
            <a:off x="4572000" y="1691640"/>
            <a:ext cx="6766560" cy="292608"/>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See upload, summaries, RAG chat, citations, and system consoles.</a:t>
            </a:r>
            <a:endParaRPr lang="en-US" sz="1400" dirty="0"/>
          </a:p>
        </p:txBody>
      </p:sp>
      <p:sp>
        <p:nvSpPr>
          <p:cNvPr id="9" name="Shape 7"/>
          <p:cNvSpPr/>
          <p:nvPr/>
        </p:nvSpPr>
        <p:spPr>
          <a:xfrm>
            <a:off x="713232" y="2843784"/>
            <a:ext cx="10835640" cy="0"/>
          </a:xfrm>
          <a:prstGeom prst="line">
            <a:avLst/>
          </a:prstGeom>
          <a:noFill/>
          <a:ln w="12700">
            <a:solidFill>
              <a:srgbClr val="CBD5E1"/>
            </a:solidFill>
            <a:prstDash val="solid"/>
          </a:ln>
        </p:spPr>
      </p:sp>
      <p:sp>
        <p:nvSpPr>
          <p:cNvPr id="10" name="Text 8"/>
          <p:cNvSpPr/>
          <p:nvPr/>
        </p:nvSpPr>
        <p:spPr>
          <a:xfrm>
            <a:off x="713232" y="2404872"/>
            <a:ext cx="411480" cy="365760"/>
          </a:xfrm>
          <a:prstGeom prst="rect">
            <a:avLst/>
          </a:prstGeom>
          <a:noFill/>
          <a:ln/>
        </p:spPr>
        <p:txBody>
          <a:bodyPr wrap="square" lIns="0" tIns="0" rIns="0" bIns="0" rtlCol="0" anchor="ctr">
            <a:normAutofit/>
          </a:bodyPr>
          <a:lstStyle/>
          <a:p>
            <a:pPr algn="ctr" indent="0" marL="0">
              <a:buNone/>
            </a:pPr>
            <a:r>
              <a:rPr lang="en-US" sz="2000" b="1" dirty="0">
                <a:solidFill>
                  <a:srgbClr val="0F766E"/>
                </a:solidFill>
                <a:latin typeface="Aptos" pitchFamily="34" charset="0"/>
                <a:ea typeface="Aptos" pitchFamily="34" charset="-122"/>
                <a:cs typeface="Aptos" pitchFamily="34" charset="-120"/>
              </a:rPr>
              <a:t>2</a:t>
            </a:r>
            <a:endParaRPr lang="en-US" sz="2000" dirty="0"/>
          </a:p>
        </p:txBody>
      </p:sp>
      <p:sp>
        <p:nvSpPr>
          <p:cNvPr id="11" name="Text 9"/>
          <p:cNvSpPr/>
          <p:nvPr/>
        </p:nvSpPr>
        <p:spPr>
          <a:xfrm>
            <a:off x="1371600" y="2404872"/>
            <a:ext cx="2743200" cy="292608"/>
          </a:xfrm>
          <a:prstGeom prst="rect">
            <a:avLst/>
          </a:prstGeom>
          <a:noFill/>
          <a:ln/>
        </p:spPr>
        <p:txBody>
          <a:bodyPr wrap="square" lIns="0" tIns="0" rIns="0" bIns="0"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Why / how</a:t>
            </a:r>
            <a:endParaRPr lang="en-US" sz="1700" dirty="0"/>
          </a:p>
        </p:txBody>
      </p:sp>
      <p:sp>
        <p:nvSpPr>
          <p:cNvPr id="12" name="Text 10"/>
          <p:cNvSpPr/>
          <p:nvPr/>
        </p:nvSpPr>
        <p:spPr>
          <a:xfrm>
            <a:off x="4572000" y="2404872"/>
            <a:ext cx="6766560" cy="292608"/>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Hallucination, training priors, machine-checkable architecture, human judgment.</a:t>
            </a:r>
            <a:endParaRPr lang="en-US" sz="1400" dirty="0"/>
          </a:p>
        </p:txBody>
      </p:sp>
      <p:sp>
        <p:nvSpPr>
          <p:cNvPr id="13" name="Shape 11"/>
          <p:cNvSpPr/>
          <p:nvPr/>
        </p:nvSpPr>
        <p:spPr>
          <a:xfrm>
            <a:off x="713232" y="3557016"/>
            <a:ext cx="10835640" cy="0"/>
          </a:xfrm>
          <a:prstGeom prst="line">
            <a:avLst/>
          </a:prstGeom>
          <a:noFill/>
          <a:ln w="12700">
            <a:solidFill>
              <a:srgbClr val="CBD5E1"/>
            </a:solidFill>
            <a:prstDash val="solid"/>
          </a:ln>
        </p:spPr>
      </p:sp>
      <p:sp>
        <p:nvSpPr>
          <p:cNvPr id="14" name="Text 12"/>
          <p:cNvSpPr/>
          <p:nvPr/>
        </p:nvSpPr>
        <p:spPr>
          <a:xfrm>
            <a:off x="713232" y="3118104"/>
            <a:ext cx="411480" cy="365760"/>
          </a:xfrm>
          <a:prstGeom prst="rect">
            <a:avLst/>
          </a:prstGeom>
          <a:noFill/>
          <a:ln/>
        </p:spPr>
        <p:txBody>
          <a:bodyPr wrap="square" lIns="0" tIns="0" rIns="0" bIns="0" rtlCol="0" anchor="ctr">
            <a:normAutofit/>
          </a:bodyPr>
          <a:lstStyle/>
          <a:p>
            <a:pPr algn="ctr" indent="0" marL="0">
              <a:buNone/>
            </a:pPr>
            <a:r>
              <a:rPr lang="en-US" sz="2000" b="1" dirty="0">
                <a:solidFill>
                  <a:srgbClr val="0F766E"/>
                </a:solidFill>
                <a:latin typeface="Aptos" pitchFamily="34" charset="0"/>
                <a:ea typeface="Aptos" pitchFamily="34" charset="-122"/>
                <a:cs typeface="Aptos" pitchFamily="34" charset="-120"/>
              </a:rPr>
              <a:t>3</a:t>
            </a:r>
            <a:endParaRPr lang="en-US" sz="2000" dirty="0"/>
          </a:p>
        </p:txBody>
      </p:sp>
      <p:sp>
        <p:nvSpPr>
          <p:cNvPr id="15" name="Text 13"/>
          <p:cNvSpPr/>
          <p:nvPr/>
        </p:nvSpPr>
        <p:spPr>
          <a:xfrm>
            <a:off x="1371600" y="3118104"/>
            <a:ext cx="2743200" cy="292608"/>
          </a:xfrm>
          <a:prstGeom prst="rect">
            <a:avLst/>
          </a:prstGeom>
          <a:noFill/>
          <a:ln/>
        </p:spPr>
        <p:txBody>
          <a:bodyPr wrap="square" lIns="0" tIns="0" rIns="0" bIns="0"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Architecture</a:t>
            </a:r>
            <a:endParaRPr lang="en-US" sz="1700" dirty="0"/>
          </a:p>
        </p:txBody>
      </p:sp>
      <p:sp>
        <p:nvSpPr>
          <p:cNvPr id="16" name="Text 14"/>
          <p:cNvSpPr/>
          <p:nvPr/>
        </p:nvSpPr>
        <p:spPr>
          <a:xfrm>
            <a:off x="4572000" y="3118104"/>
            <a:ext cx="6766560" cy="292608"/>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Mind map, BPMN, services, persistence, and contracts.</a:t>
            </a:r>
            <a:endParaRPr lang="en-US" sz="1400" dirty="0"/>
          </a:p>
        </p:txBody>
      </p:sp>
      <p:sp>
        <p:nvSpPr>
          <p:cNvPr id="17" name="Shape 15"/>
          <p:cNvSpPr/>
          <p:nvPr/>
        </p:nvSpPr>
        <p:spPr>
          <a:xfrm>
            <a:off x="713232" y="4270248"/>
            <a:ext cx="10835640" cy="0"/>
          </a:xfrm>
          <a:prstGeom prst="line">
            <a:avLst/>
          </a:prstGeom>
          <a:noFill/>
          <a:ln w="12700">
            <a:solidFill>
              <a:srgbClr val="CBD5E1"/>
            </a:solidFill>
            <a:prstDash val="solid"/>
          </a:ln>
        </p:spPr>
      </p:sp>
      <p:sp>
        <p:nvSpPr>
          <p:cNvPr id="18" name="Text 16"/>
          <p:cNvSpPr/>
          <p:nvPr/>
        </p:nvSpPr>
        <p:spPr>
          <a:xfrm>
            <a:off x="713232" y="3831336"/>
            <a:ext cx="411480" cy="365760"/>
          </a:xfrm>
          <a:prstGeom prst="rect">
            <a:avLst/>
          </a:prstGeom>
          <a:noFill/>
          <a:ln/>
        </p:spPr>
        <p:txBody>
          <a:bodyPr wrap="square" lIns="0" tIns="0" rIns="0" bIns="0" rtlCol="0" anchor="ctr">
            <a:normAutofit/>
          </a:bodyPr>
          <a:lstStyle/>
          <a:p>
            <a:pPr algn="ctr" indent="0" marL="0">
              <a:buNone/>
            </a:pPr>
            <a:r>
              <a:rPr lang="en-US" sz="2000" b="1" dirty="0">
                <a:solidFill>
                  <a:srgbClr val="0F766E"/>
                </a:solidFill>
                <a:latin typeface="Aptos" pitchFamily="34" charset="0"/>
                <a:ea typeface="Aptos" pitchFamily="34" charset="-122"/>
                <a:cs typeface="Aptos" pitchFamily="34" charset="-120"/>
              </a:rPr>
              <a:t>4</a:t>
            </a:r>
            <a:endParaRPr lang="en-US" sz="2000" dirty="0"/>
          </a:p>
        </p:txBody>
      </p:sp>
      <p:sp>
        <p:nvSpPr>
          <p:cNvPr id="19" name="Text 17"/>
          <p:cNvSpPr/>
          <p:nvPr/>
        </p:nvSpPr>
        <p:spPr>
          <a:xfrm>
            <a:off x="1371600" y="3831336"/>
            <a:ext cx="2743200" cy="292608"/>
          </a:xfrm>
          <a:prstGeom prst="rect">
            <a:avLst/>
          </a:prstGeom>
          <a:noFill/>
          <a:ln/>
        </p:spPr>
        <p:txBody>
          <a:bodyPr wrap="square" lIns="0" tIns="0" rIns="0" bIns="0"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RAG from Kansas</a:t>
            </a:r>
            <a:endParaRPr lang="en-US" sz="1700" dirty="0"/>
          </a:p>
        </p:txBody>
      </p:sp>
      <p:sp>
        <p:nvSpPr>
          <p:cNvPr id="20" name="Text 18"/>
          <p:cNvSpPr/>
          <p:nvPr/>
        </p:nvSpPr>
        <p:spPr>
          <a:xfrm>
            <a:off x="4572000" y="3831336"/>
            <a:ext cx="6766560" cy="292608"/>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Beginner analogy, then a condensed advanced pipeline with code.</a:t>
            </a:r>
            <a:endParaRPr lang="en-US" sz="1400" dirty="0"/>
          </a:p>
        </p:txBody>
      </p:sp>
      <p:sp>
        <p:nvSpPr>
          <p:cNvPr id="21" name="Shape 19"/>
          <p:cNvSpPr/>
          <p:nvPr/>
        </p:nvSpPr>
        <p:spPr>
          <a:xfrm>
            <a:off x="713232" y="4983480"/>
            <a:ext cx="10835640" cy="0"/>
          </a:xfrm>
          <a:prstGeom prst="line">
            <a:avLst/>
          </a:prstGeom>
          <a:noFill/>
          <a:ln w="12700">
            <a:solidFill>
              <a:srgbClr val="CBD5E1"/>
            </a:solidFill>
            <a:prstDash val="solid"/>
          </a:ln>
        </p:spPr>
      </p:sp>
      <p:sp>
        <p:nvSpPr>
          <p:cNvPr id="22" name="Text 20"/>
          <p:cNvSpPr/>
          <p:nvPr/>
        </p:nvSpPr>
        <p:spPr>
          <a:xfrm>
            <a:off x="713232" y="4544568"/>
            <a:ext cx="411480" cy="365760"/>
          </a:xfrm>
          <a:prstGeom prst="rect">
            <a:avLst/>
          </a:prstGeom>
          <a:noFill/>
          <a:ln/>
        </p:spPr>
        <p:txBody>
          <a:bodyPr wrap="square" lIns="0" tIns="0" rIns="0" bIns="0" rtlCol="0" anchor="ctr">
            <a:normAutofit/>
          </a:bodyPr>
          <a:lstStyle/>
          <a:p>
            <a:pPr algn="ctr" indent="0" marL="0">
              <a:buNone/>
            </a:pPr>
            <a:r>
              <a:rPr lang="en-US" sz="2000" b="1" dirty="0">
                <a:solidFill>
                  <a:srgbClr val="0F766E"/>
                </a:solidFill>
                <a:latin typeface="Aptos" pitchFamily="34" charset="0"/>
                <a:ea typeface="Aptos" pitchFamily="34" charset="-122"/>
                <a:cs typeface="Aptos" pitchFamily="34" charset="-120"/>
              </a:rPr>
              <a:t>5</a:t>
            </a:r>
            <a:endParaRPr lang="en-US" sz="2000" dirty="0"/>
          </a:p>
        </p:txBody>
      </p:sp>
      <p:sp>
        <p:nvSpPr>
          <p:cNvPr id="23" name="Text 21"/>
          <p:cNvSpPr/>
          <p:nvPr/>
        </p:nvSpPr>
        <p:spPr>
          <a:xfrm>
            <a:off x="1371600" y="4544568"/>
            <a:ext cx="2743200" cy="292608"/>
          </a:xfrm>
          <a:prstGeom prst="rect">
            <a:avLst/>
          </a:prstGeom>
          <a:noFill/>
          <a:ln/>
        </p:spPr>
        <p:txBody>
          <a:bodyPr wrap="square" lIns="0" tIns="0" rIns="0" bIns="0"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Evidence &amp; lessons</a:t>
            </a:r>
            <a:endParaRPr lang="en-US" sz="1700" dirty="0"/>
          </a:p>
        </p:txBody>
      </p:sp>
      <p:sp>
        <p:nvSpPr>
          <p:cNvPr id="24" name="Text 22"/>
          <p:cNvSpPr/>
          <p:nvPr/>
        </p:nvSpPr>
        <p:spPr>
          <a:xfrm>
            <a:off x="4572000" y="4544568"/>
            <a:ext cx="6766560" cy="292608"/>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Comparison tables, estimates, limits, and the closing motto.</a:t>
            </a:r>
            <a:endParaRPr lang="en-US" sz="1400" dirty="0"/>
          </a:p>
        </p:txBody>
      </p:sp>
      <p:sp>
        <p:nvSpPr>
          <p:cNvPr id="25" name="Shape 23"/>
          <p:cNvSpPr/>
          <p:nvPr/>
        </p:nvSpPr>
        <p:spPr>
          <a:xfrm>
            <a:off x="713232" y="5696712"/>
            <a:ext cx="10835640" cy="0"/>
          </a:xfrm>
          <a:prstGeom prst="line">
            <a:avLst/>
          </a:prstGeom>
          <a:noFill/>
          <a:ln w="12700">
            <a:solidFill>
              <a:srgbClr val="CBD5E1"/>
            </a:solidFill>
            <a:prstDash val="solid"/>
          </a:ln>
        </p:spPr>
      </p:sp>
      <p:sp>
        <p:nvSpPr>
          <p:cNvPr id="26" name="Text 24"/>
          <p:cNvSpPr/>
          <p:nvPr/>
        </p:nvSpPr>
        <p:spPr>
          <a:xfrm>
            <a:off x="713232" y="5257800"/>
            <a:ext cx="411480" cy="365760"/>
          </a:xfrm>
          <a:prstGeom prst="rect">
            <a:avLst/>
          </a:prstGeom>
          <a:noFill/>
          <a:ln/>
        </p:spPr>
        <p:txBody>
          <a:bodyPr wrap="square" lIns="0" tIns="0" rIns="0" bIns="0" rtlCol="0" anchor="ctr">
            <a:normAutofit/>
          </a:bodyPr>
          <a:lstStyle/>
          <a:p>
            <a:pPr algn="ctr" indent="0" marL="0">
              <a:buNone/>
            </a:pPr>
            <a:r>
              <a:rPr lang="en-US" sz="2000" b="1" dirty="0">
                <a:solidFill>
                  <a:srgbClr val="0F766E"/>
                </a:solidFill>
                <a:latin typeface="Aptos" pitchFamily="34" charset="0"/>
                <a:ea typeface="Aptos" pitchFamily="34" charset="-122"/>
                <a:cs typeface="Aptos" pitchFamily="34" charset="-120"/>
              </a:rPr>
              <a:t>6</a:t>
            </a:r>
            <a:endParaRPr lang="en-US" sz="2000" dirty="0"/>
          </a:p>
        </p:txBody>
      </p:sp>
      <p:sp>
        <p:nvSpPr>
          <p:cNvPr id="27" name="Text 25"/>
          <p:cNvSpPr/>
          <p:nvPr/>
        </p:nvSpPr>
        <p:spPr>
          <a:xfrm>
            <a:off x="1371600" y="5257800"/>
            <a:ext cx="2743200" cy="292608"/>
          </a:xfrm>
          <a:prstGeom prst="rect">
            <a:avLst/>
          </a:prstGeom>
          <a:noFill/>
          <a:ln/>
        </p:spPr>
        <p:txBody>
          <a:bodyPr wrap="square" lIns="0" tIns="0" rIns="0" bIns="0" rtlCol="0" anchor="ctr">
            <a:normAutofit/>
          </a:bodyPr>
          <a:lstStyle/>
          <a:p>
            <a:pPr indent="0" marL="0">
              <a:buNone/>
            </a:pPr>
            <a:r>
              <a:rPr lang="en-US" sz="1700" b="1" dirty="0">
                <a:solidFill>
                  <a:srgbClr val="0F172A"/>
                </a:solidFill>
                <a:latin typeface="Aptos" pitchFamily="34" charset="0"/>
                <a:ea typeface="Aptos" pitchFamily="34" charset="-122"/>
                <a:cs typeface="Aptos" pitchFamily="34" charset="-120"/>
              </a:rPr>
              <a:t>Open questions</a:t>
            </a:r>
            <a:endParaRPr lang="en-US" sz="1700" dirty="0"/>
          </a:p>
        </p:txBody>
      </p:sp>
      <p:sp>
        <p:nvSpPr>
          <p:cNvPr id="28" name="Text 26"/>
          <p:cNvSpPr/>
          <p:nvPr/>
        </p:nvSpPr>
        <p:spPr>
          <a:xfrm>
            <a:off x="4572000" y="5257800"/>
            <a:ext cx="6766560" cy="292608"/>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Discussion, objections, implementation details, and next steps.</a:t>
            </a:r>
            <a:endParaRPr lang="en-US" sz="14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640080" y="960120"/>
            <a:ext cx="109728" cy="4480560"/>
          </a:xfrm>
          <a:prstGeom prst="rect">
            <a:avLst/>
          </a:prstGeom>
          <a:solidFill>
            <a:srgbClr val="0F766E"/>
          </a:solidFill>
          <a:ln w="12700">
            <a:solidFill>
              <a:srgbClr val="0F766E"/>
            </a:solidFill>
            <a:prstDash val="solid"/>
          </a:ln>
        </p:spPr>
      </p:sp>
      <p:sp>
        <p:nvSpPr>
          <p:cNvPr id="4" name="Text 2"/>
          <p:cNvSpPr/>
          <p:nvPr/>
        </p:nvSpPr>
        <p:spPr>
          <a:xfrm>
            <a:off x="1024128" y="960120"/>
            <a:ext cx="2011680" cy="1097280"/>
          </a:xfrm>
          <a:prstGeom prst="rect">
            <a:avLst/>
          </a:prstGeom>
          <a:noFill/>
          <a:ln/>
        </p:spPr>
        <p:txBody>
          <a:bodyPr wrap="square" lIns="0" tIns="0" rIns="0" bIns="0" rtlCol="0" anchor="ctr">
            <a:normAutofit/>
          </a:bodyPr>
          <a:lstStyle/>
          <a:p>
            <a:pPr indent="0" marL="0">
              <a:buNone/>
            </a:pPr>
            <a:r>
              <a:rPr lang="en-US" sz="5800" b="1" dirty="0">
                <a:solidFill>
                  <a:srgbClr val="0F766E"/>
                </a:solidFill>
                <a:latin typeface="Aptos" pitchFamily="34" charset="0"/>
                <a:ea typeface="Aptos" pitchFamily="34" charset="-122"/>
                <a:cs typeface="Aptos" pitchFamily="34" charset="-120"/>
              </a:rPr>
              <a:t>01</a:t>
            </a:r>
            <a:endParaRPr lang="en-US" sz="5800" dirty="0"/>
          </a:p>
        </p:txBody>
      </p:sp>
      <p:sp>
        <p:nvSpPr>
          <p:cNvPr id="5" name="Text 3"/>
          <p:cNvSpPr/>
          <p:nvPr/>
        </p:nvSpPr>
        <p:spPr>
          <a:xfrm>
            <a:off x="1024128" y="2148840"/>
            <a:ext cx="9784080" cy="100584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pitchFamily="34" charset="0"/>
                <a:ea typeface="Aptos" pitchFamily="34" charset="-122"/>
                <a:cs typeface="Aptos" pitchFamily="34" charset="-120"/>
              </a:rPr>
              <a:t>Live demo: from library item to grounded answer</a:t>
            </a:r>
            <a:endParaRPr lang="en-US" sz="3200" dirty="0"/>
          </a:p>
        </p:txBody>
      </p:sp>
      <p:sp>
        <p:nvSpPr>
          <p:cNvPr id="6" name="Text 4"/>
          <p:cNvSpPr/>
          <p:nvPr/>
        </p:nvSpPr>
        <p:spPr>
          <a:xfrm>
            <a:off x="1060704" y="4645152"/>
            <a:ext cx="8595360" cy="658368"/>
          </a:xfrm>
          <a:prstGeom prst="rect">
            <a:avLst/>
          </a:prstGeom>
          <a:noFill/>
          <a:ln/>
        </p:spPr>
        <p:txBody>
          <a:bodyPr wrap="square" lIns="0" tIns="0" rIns="0" bIns="0" rtlCol="0" anchor="ctr">
            <a:normAutofit/>
          </a:bodyPr>
          <a:lstStyle/>
          <a:p>
            <a:pPr indent="0" marL="0">
              <a:buNone/>
            </a:pPr>
            <a:r>
              <a:rPr lang="en-US" sz="1900" i="1" dirty="0">
                <a:solidFill>
                  <a:srgbClr val="E2E8F0"/>
                </a:solidFill>
                <a:latin typeface="Aptos" pitchFamily="34" charset="0"/>
                <a:ea typeface="Aptos" pitchFamily="34" charset="-122"/>
                <a:cs typeface="Aptos" pitchFamily="34" charset="-120"/>
              </a:rPr>
              <a:t>The goal is not to make the model sound confident.</a:t>
            </a:r>
            <a:endParaRPr lang="en-US" sz="1900" dirty="0"/>
          </a:p>
          <a:p>
            <a:pPr indent="0" marL="0">
              <a:buNone/>
            </a:pPr>
            <a:r>
              <a:rPr lang="en-US" sz="1900" i="1" dirty="0">
                <a:solidFill>
                  <a:srgbClr val="E2E8F0"/>
                </a:solidFill>
                <a:latin typeface="Aptos" pitchFamily="34" charset="0"/>
                <a:ea typeface="Aptos" pitchFamily="34" charset="-122"/>
                <a:cs typeface="Aptos" pitchFamily="34" charset="-120"/>
              </a:rPr>
              <a:t>The goal is to make the system useful, inspectable, and honest.</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LIVE DEMO</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One document, several inspectable surfaces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Use the application, then open the linked consoles to make the system visible beyond the UI.</a:t>
            </a:r>
            <a:endParaRPr lang="en-US" sz="1200" dirty="0"/>
          </a:p>
        </p:txBody>
      </p:sp>
      <p:sp>
        <p:nvSpPr>
          <p:cNvPr id="5" name="Shape 3"/>
          <p:cNvSpPr/>
          <p:nvPr/>
        </p:nvSpPr>
        <p:spPr>
          <a:xfrm>
            <a:off x="594360" y="1783080"/>
            <a:ext cx="3337560" cy="1298448"/>
          </a:xfrm>
          <a:prstGeom prst="roundRect">
            <a:avLst>
              <a:gd name="adj" fmla="val 5634"/>
            </a:avLst>
          </a:prstGeom>
          <a:solidFill>
            <a:srgbClr val="FFFFFF"/>
          </a:solidFill>
          <a:ln w="12700">
            <a:solidFill>
              <a:srgbClr val="CBD5E1"/>
            </a:solidFill>
            <a:prstDash val="solid"/>
          </a:ln>
        </p:spPr>
      </p:sp>
      <p:sp>
        <p:nvSpPr>
          <p:cNvPr id="6" name="Text 4"/>
          <p:cNvSpPr/>
          <p:nvPr/>
        </p:nvSpPr>
        <p:spPr>
          <a:xfrm>
            <a:off x="795528" y="1947672"/>
            <a:ext cx="36576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1</a:t>
            </a:r>
            <a:endParaRPr lang="en-US" sz="2200" dirty="0"/>
          </a:p>
        </p:txBody>
      </p:sp>
      <p:sp>
        <p:nvSpPr>
          <p:cNvPr id="7" name="Text 5"/>
          <p:cNvSpPr/>
          <p:nvPr/>
        </p:nvSpPr>
        <p:spPr>
          <a:xfrm>
            <a:off x="1325880" y="1947672"/>
            <a:ext cx="2377440" cy="22860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Upload / select</a:t>
            </a:r>
            <a:endParaRPr lang="en-US" sz="1600" dirty="0"/>
          </a:p>
        </p:txBody>
      </p:sp>
      <p:sp>
        <p:nvSpPr>
          <p:cNvPr id="8" name="Text 6"/>
          <p:cNvSpPr/>
          <p:nvPr/>
        </p:nvSpPr>
        <p:spPr>
          <a:xfrm>
            <a:off x="1325880" y="2313432"/>
            <a:ext cx="2331720" cy="502920"/>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PDF → extracted metadata, versioned file, summaries</a:t>
            </a:r>
            <a:endParaRPr lang="en-US" sz="1200" dirty="0"/>
          </a:p>
        </p:txBody>
      </p:sp>
      <p:sp>
        <p:nvSpPr>
          <p:cNvPr id="9" name="Shape 7"/>
          <p:cNvSpPr/>
          <p:nvPr/>
        </p:nvSpPr>
        <p:spPr>
          <a:xfrm>
            <a:off x="4389120" y="1783080"/>
            <a:ext cx="3337560" cy="1298448"/>
          </a:xfrm>
          <a:prstGeom prst="roundRect">
            <a:avLst>
              <a:gd name="adj" fmla="val 5634"/>
            </a:avLst>
          </a:prstGeom>
          <a:solidFill>
            <a:srgbClr val="FFFFFF"/>
          </a:solidFill>
          <a:ln w="12700">
            <a:solidFill>
              <a:srgbClr val="CBD5E1"/>
            </a:solidFill>
            <a:prstDash val="solid"/>
          </a:ln>
        </p:spPr>
      </p:sp>
      <p:sp>
        <p:nvSpPr>
          <p:cNvPr id="10" name="Text 8"/>
          <p:cNvSpPr/>
          <p:nvPr/>
        </p:nvSpPr>
        <p:spPr>
          <a:xfrm>
            <a:off x="4590288" y="1947672"/>
            <a:ext cx="36576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2</a:t>
            </a:r>
            <a:endParaRPr lang="en-US" sz="2200" dirty="0"/>
          </a:p>
        </p:txBody>
      </p:sp>
      <p:sp>
        <p:nvSpPr>
          <p:cNvPr id="11" name="Text 9"/>
          <p:cNvSpPr/>
          <p:nvPr/>
        </p:nvSpPr>
        <p:spPr>
          <a:xfrm>
            <a:off x="5120640" y="1947672"/>
            <a:ext cx="2377440" cy="22860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Ask a question</a:t>
            </a:r>
            <a:endParaRPr lang="en-US" sz="1600" dirty="0"/>
          </a:p>
        </p:txBody>
      </p:sp>
      <p:sp>
        <p:nvSpPr>
          <p:cNvPr id="12" name="Text 10"/>
          <p:cNvSpPr/>
          <p:nvPr/>
        </p:nvSpPr>
        <p:spPr>
          <a:xfrm>
            <a:off x="5120640" y="2313432"/>
            <a:ext cx="2331720" cy="502920"/>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RAG chat → answer plus source excerpts</a:t>
            </a:r>
            <a:endParaRPr lang="en-US" sz="1200" dirty="0"/>
          </a:p>
        </p:txBody>
      </p:sp>
      <p:sp>
        <p:nvSpPr>
          <p:cNvPr id="13" name="Shape 11"/>
          <p:cNvSpPr/>
          <p:nvPr/>
        </p:nvSpPr>
        <p:spPr>
          <a:xfrm>
            <a:off x="8183880" y="1783080"/>
            <a:ext cx="3337560" cy="1298448"/>
          </a:xfrm>
          <a:prstGeom prst="roundRect">
            <a:avLst>
              <a:gd name="adj" fmla="val 5634"/>
            </a:avLst>
          </a:prstGeom>
          <a:solidFill>
            <a:srgbClr val="FFFFFF"/>
          </a:solidFill>
          <a:ln w="12700">
            <a:solidFill>
              <a:srgbClr val="CBD5E1"/>
            </a:solidFill>
            <a:prstDash val="solid"/>
          </a:ln>
        </p:spPr>
      </p:sp>
      <p:sp>
        <p:nvSpPr>
          <p:cNvPr id="14" name="Text 12"/>
          <p:cNvSpPr/>
          <p:nvPr/>
        </p:nvSpPr>
        <p:spPr>
          <a:xfrm>
            <a:off x="8385048" y="1947672"/>
            <a:ext cx="36576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3</a:t>
            </a:r>
            <a:endParaRPr lang="en-US" sz="2200" dirty="0"/>
          </a:p>
        </p:txBody>
      </p:sp>
      <p:sp>
        <p:nvSpPr>
          <p:cNvPr id="15" name="Text 13"/>
          <p:cNvSpPr/>
          <p:nvPr/>
        </p:nvSpPr>
        <p:spPr>
          <a:xfrm>
            <a:off x="8915400" y="1947672"/>
            <a:ext cx="2377440" cy="22860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Inspect storage</a:t>
            </a:r>
            <a:endParaRPr lang="en-US" sz="1600" dirty="0"/>
          </a:p>
        </p:txBody>
      </p:sp>
      <p:sp>
        <p:nvSpPr>
          <p:cNvPr id="16" name="Text 14"/>
          <p:cNvSpPr/>
          <p:nvPr/>
        </p:nvSpPr>
        <p:spPr>
          <a:xfrm>
            <a:off x="8915400" y="2313432"/>
            <a:ext cx="2331720" cy="502920"/>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Mongo Express → document state and version history</a:t>
            </a:r>
            <a:endParaRPr lang="en-US" sz="1200" dirty="0"/>
          </a:p>
        </p:txBody>
      </p:sp>
      <p:sp>
        <p:nvSpPr>
          <p:cNvPr id="17" name="Shape 15"/>
          <p:cNvSpPr/>
          <p:nvPr/>
        </p:nvSpPr>
        <p:spPr>
          <a:xfrm>
            <a:off x="594360" y="3657600"/>
            <a:ext cx="3337560" cy="1298448"/>
          </a:xfrm>
          <a:prstGeom prst="roundRect">
            <a:avLst>
              <a:gd name="adj" fmla="val 5634"/>
            </a:avLst>
          </a:prstGeom>
          <a:solidFill>
            <a:srgbClr val="FFFFFF"/>
          </a:solidFill>
          <a:ln w="12700">
            <a:solidFill>
              <a:srgbClr val="CBD5E1"/>
            </a:solidFill>
            <a:prstDash val="solid"/>
          </a:ln>
        </p:spPr>
      </p:sp>
      <p:sp>
        <p:nvSpPr>
          <p:cNvPr id="18" name="Text 16"/>
          <p:cNvSpPr/>
          <p:nvPr/>
        </p:nvSpPr>
        <p:spPr>
          <a:xfrm>
            <a:off x="795528" y="3822192"/>
            <a:ext cx="36576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4</a:t>
            </a:r>
            <a:endParaRPr lang="en-US" sz="2200" dirty="0"/>
          </a:p>
        </p:txBody>
      </p:sp>
      <p:sp>
        <p:nvSpPr>
          <p:cNvPr id="19" name="Text 17"/>
          <p:cNvSpPr/>
          <p:nvPr/>
        </p:nvSpPr>
        <p:spPr>
          <a:xfrm>
            <a:off x="1325880" y="3822192"/>
            <a:ext cx="2377440" cy="22860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Inspect vectors</a:t>
            </a:r>
            <a:endParaRPr lang="en-US" sz="1600" dirty="0"/>
          </a:p>
        </p:txBody>
      </p:sp>
      <p:sp>
        <p:nvSpPr>
          <p:cNvPr id="20" name="Text 18"/>
          <p:cNvSpPr/>
          <p:nvPr/>
        </p:nvSpPr>
        <p:spPr>
          <a:xfrm>
            <a:off x="1325880" y="4187952"/>
            <a:ext cx="2331720" cy="502920"/>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Qdrant dashboard → collection and payload points</a:t>
            </a:r>
            <a:endParaRPr lang="en-US" sz="1200" dirty="0"/>
          </a:p>
        </p:txBody>
      </p:sp>
      <p:sp>
        <p:nvSpPr>
          <p:cNvPr id="21" name="Shape 19"/>
          <p:cNvSpPr/>
          <p:nvPr/>
        </p:nvSpPr>
        <p:spPr>
          <a:xfrm>
            <a:off x="4389120" y="3657600"/>
            <a:ext cx="3337560" cy="1298448"/>
          </a:xfrm>
          <a:prstGeom prst="roundRect">
            <a:avLst>
              <a:gd name="adj" fmla="val 5634"/>
            </a:avLst>
          </a:prstGeom>
          <a:solidFill>
            <a:srgbClr val="FFFFFF"/>
          </a:solidFill>
          <a:ln w="12700">
            <a:solidFill>
              <a:srgbClr val="CBD5E1"/>
            </a:solidFill>
            <a:prstDash val="solid"/>
          </a:ln>
        </p:spPr>
      </p:sp>
      <p:sp>
        <p:nvSpPr>
          <p:cNvPr id="22" name="Text 20"/>
          <p:cNvSpPr/>
          <p:nvPr/>
        </p:nvSpPr>
        <p:spPr>
          <a:xfrm>
            <a:off x="4590288" y="3822192"/>
            <a:ext cx="36576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5</a:t>
            </a:r>
            <a:endParaRPr lang="en-US" sz="2200" dirty="0"/>
          </a:p>
        </p:txBody>
      </p:sp>
      <p:sp>
        <p:nvSpPr>
          <p:cNvPr id="23" name="Text 21"/>
          <p:cNvSpPr/>
          <p:nvPr/>
        </p:nvSpPr>
        <p:spPr>
          <a:xfrm>
            <a:off x="5120640" y="3822192"/>
            <a:ext cx="2377440" cy="22860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Inspect contracts</a:t>
            </a:r>
            <a:endParaRPr lang="en-US" sz="1600" dirty="0"/>
          </a:p>
        </p:txBody>
      </p:sp>
      <p:sp>
        <p:nvSpPr>
          <p:cNvPr id="24" name="Text 22"/>
          <p:cNvSpPr/>
          <p:nvPr/>
        </p:nvSpPr>
        <p:spPr>
          <a:xfrm>
            <a:off x="5120640" y="4187952"/>
            <a:ext cx="2331720" cy="502920"/>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Swagger Editor → OpenAPI endpoints</a:t>
            </a:r>
            <a:endParaRPr lang="en-US" sz="1200" dirty="0"/>
          </a:p>
        </p:txBody>
      </p:sp>
      <p:sp>
        <p:nvSpPr>
          <p:cNvPr id="25" name="Shape 23"/>
          <p:cNvSpPr/>
          <p:nvPr/>
        </p:nvSpPr>
        <p:spPr>
          <a:xfrm>
            <a:off x="8183880" y="3657600"/>
            <a:ext cx="3337560" cy="1298448"/>
          </a:xfrm>
          <a:prstGeom prst="roundRect">
            <a:avLst>
              <a:gd name="adj" fmla="val 5634"/>
            </a:avLst>
          </a:prstGeom>
          <a:solidFill>
            <a:srgbClr val="FFFFFF"/>
          </a:solidFill>
          <a:ln w="12700">
            <a:solidFill>
              <a:srgbClr val="CBD5E1"/>
            </a:solidFill>
            <a:prstDash val="solid"/>
          </a:ln>
        </p:spPr>
      </p:sp>
      <p:sp>
        <p:nvSpPr>
          <p:cNvPr id="26" name="Text 24"/>
          <p:cNvSpPr/>
          <p:nvPr/>
        </p:nvSpPr>
        <p:spPr>
          <a:xfrm>
            <a:off x="8385048" y="3822192"/>
            <a:ext cx="36576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6</a:t>
            </a:r>
            <a:endParaRPr lang="en-US" sz="2200" dirty="0"/>
          </a:p>
        </p:txBody>
      </p:sp>
      <p:sp>
        <p:nvSpPr>
          <p:cNvPr id="27" name="Text 25"/>
          <p:cNvSpPr/>
          <p:nvPr/>
        </p:nvSpPr>
        <p:spPr>
          <a:xfrm>
            <a:off x="8915400" y="3822192"/>
            <a:ext cx="2377440" cy="22860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Inspect operations</a:t>
            </a:r>
            <a:endParaRPr lang="en-US" sz="1600" dirty="0"/>
          </a:p>
        </p:txBody>
      </p:sp>
      <p:sp>
        <p:nvSpPr>
          <p:cNvPr id="28" name="Text 26"/>
          <p:cNvSpPr/>
          <p:nvPr/>
        </p:nvSpPr>
        <p:spPr>
          <a:xfrm>
            <a:off x="8915400" y="4187952"/>
            <a:ext cx="2331720" cy="502920"/>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Keycloak, Ollama, storage browser, health</a:t>
            </a:r>
            <a:endParaRPr lang="en-US" sz="1200" dirty="0"/>
          </a:p>
        </p:txBody>
      </p:sp>
      <p:sp>
        <p:nvSpPr>
          <p:cNvPr id="29" name="Text 27"/>
          <p:cNvSpPr/>
          <p:nvPr/>
        </p:nvSpPr>
        <p:spPr>
          <a:xfrm>
            <a:off x="640080" y="5806440"/>
            <a:ext cx="10698480" cy="274320"/>
          </a:xfrm>
          <a:prstGeom prst="rect">
            <a:avLst/>
          </a:prstGeom>
          <a:noFill/>
          <a:ln/>
        </p:spPr>
        <p:txBody>
          <a:bodyPr wrap="square" lIns="0" tIns="0" rIns="0" bIns="0" rtlCol="0" anchor="ctr">
            <a:normAutofit/>
          </a:bodyPr>
          <a:lstStyle/>
          <a:p>
            <a:pPr indent="0" marL="0">
              <a:buNone/>
            </a:pPr>
            <a:r>
              <a:rPr lang="en-US" sz="1600" b="1" dirty="0">
                <a:solidFill>
                  <a:srgbClr val="B45309"/>
                </a:solidFill>
                <a:latin typeface="Aptos" pitchFamily="34" charset="0"/>
                <a:ea typeface="Aptos" pitchFamily="34" charset="-122"/>
                <a:cs typeface="Aptos" pitchFamily="34" charset="-120"/>
              </a:rPr>
              <a:t>Demo discipline: show what is real, what is simulated, and what is a documentation artifact.</a:t>
            </a:r>
            <a:endParaRPr lang="en-US" sz="16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DEMO DEBRIEF</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first engineering question is: what can I verify?</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A polished interface can hide very different levels of implementation underneath.</a:t>
            </a:r>
            <a:endParaRPr lang="en-US" sz="1200" dirty="0"/>
          </a:p>
        </p:txBody>
      </p:sp>
      <p:sp>
        <p:nvSpPr>
          <p:cNvPr id="5" name="Shape 3"/>
          <p:cNvSpPr/>
          <p:nvPr/>
        </p:nvSpPr>
        <p:spPr>
          <a:xfrm>
            <a:off x="566928" y="1874520"/>
            <a:ext cx="2514600" cy="2971800"/>
          </a:xfrm>
          <a:prstGeom prst="roundRect">
            <a:avLst>
              <a:gd name="adj" fmla="val 2909"/>
            </a:avLst>
          </a:prstGeom>
          <a:solidFill>
            <a:srgbClr val="FFFFFF"/>
          </a:solidFill>
          <a:ln w="12700">
            <a:solidFill>
              <a:srgbClr val="CBD5E1"/>
            </a:solidFill>
            <a:prstDash val="solid"/>
          </a:ln>
        </p:spPr>
      </p:sp>
      <p:sp>
        <p:nvSpPr>
          <p:cNvPr id="6" name="Text 4"/>
          <p:cNvSpPr/>
          <p:nvPr/>
        </p:nvSpPr>
        <p:spPr>
          <a:xfrm>
            <a:off x="749808" y="2139696"/>
            <a:ext cx="2103120" cy="228600"/>
          </a:xfrm>
          <a:prstGeom prst="rect">
            <a:avLst/>
          </a:prstGeom>
          <a:noFill/>
          <a:ln/>
        </p:spPr>
        <p:txBody>
          <a:bodyPr wrap="square" lIns="0" tIns="0" rIns="0" bIns="0" rtlCol="0" anchor="ctr">
            <a:normAutofit/>
          </a:bodyPr>
          <a:lstStyle/>
          <a:p>
            <a:pPr indent="0" marL="0">
              <a:buNone/>
            </a:pPr>
            <a:r>
              <a:rPr lang="en-US" sz="1100" b="1" spc="100" kern="0" dirty="0">
                <a:solidFill>
                  <a:srgbClr val="0F766E"/>
                </a:solidFill>
                <a:latin typeface="Aptos" pitchFamily="34" charset="0"/>
                <a:ea typeface="Aptos" pitchFamily="34" charset="-122"/>
                <a:cs typeface="Aptos" pitchFamily="34" charset="-120"/>
              </a:rPr>
              <a:t>VISIBLE</a:t>
            </a:r>
            <a:endParaRPr lang="en-US" sz="1100" dirty="0"/>
          </a:p>
        </p:txBody>
      </p:sp>
      <p:sp>
        <p:nvSpPr>
          <p:cNvPr id="7" name="Text 5"/>
          <p:cNvSpPr/>
          <p:nvPr/>
        </p:nvSpPr>
        <p:spPr>
          <a:xfrm>
            <a:off x="749808" y="2651760"/>
            <a:ext cx="2121408" cy="1463040"/>
          </a:xfrm>
          <a:prstGeom prst="rect">
            <a:avLst/>
          </a:prstGeom>
          <a:noFill/>
          <a:ln/>
        </p:spPr>
        <p:txBody>
          <a:bodyPr wrap="square" lIns="0" tIns="0" rIns="0" bIns="0" rtlCol="0" anchor="t">
            <a:normAutofit/>
          </a:bodyPr>
          <a:lstStyle/>
          <a:p>
            <a:pPr indent="0" marL="0">
              <a:buNone/>
            </a:pPr>
            <a:r>
              <a:rPr lang="en-US" sz="1600" dirty="0">
                <a:solidFill>
                  <a:srgbClr val="0F172A"/>
                </a:solidFill>
                <a:latin typeface="Aptos" pitchFamily="34" charset="0"/>
                <a:ea typeface="Aptos" pitchFamily="34" charset="-122"/>
                <a:cs typeface="Aptos" pitchFamily="34" charset="-120"/>
              </a:rPr>
              <a:t>UI5 floorplans, filters, summaries, chat, citations, links</a:t>
            </a:r>
            <a:endParaRPr lang="en-US" sz="1600" dirty="0"/>
          </a:p>
        </p:txBody>
      </p:sp>
      <p:sp>
        <p:nvSpPr>
          <p:cNvPr id="8" name="Shape 6"/>
          <p:cNvSpPr/>
          <p:nvPr/>
        </p:nvSpPr>
        <p:spPr>
          <a:xfrm>
            <a:off x="3419856" y="1874520"/>
            <a:ext cx="2514600" cy="2971800"/>
          </a:xfrm>
          <a:prstGeom prst="roundRect">
            <a:avLst>
              <a:gd name="adj" fmla="val 2909"/>
            </a:avLst>
          </a:prstGeom>
          <a:solidFill>
            <a:srgbClr val="CCFBF1"/>
          </a:solidFill>
          <a:ln w="12700">
            <a:solidFill>
              <a:srgbClr val="CBD5E1"/>
            </a:solidFill>
            <a:prstDash val="solid"/>
          </a:ln>
        </p:spPr>
      </p:sp>
      <p:sp>
        <p:nvSpPr>
          <p:cNvPr id="9" name="Text 7"/>
          <p:cNvSpPr/>
          <p:nvPr/>
        </p:nvSpPr>
        <p:spPr>
          <a:xfrm>
            <a:off x="3602736" y="2139696"/>
            <a:ext cx="2103120" cy="228600"/>
          </a:xfrm>
          <a:prstGeom prst="rect">
            <a:avLst/>
          </a:prstGeom>
          <a:noFill/>
          <a:ln/>
        </p:spPr>
        <p:txBody>
          <a:bodyPr wrap="square" lIns="0" tIns="0" rIns="0" bIns="0" rtlCol="0" anchor="ctr">
            <a:normAutofit/>
          </a:bodyPr>
          <a:lstStyle/>
          <a:p>
            <a:pPr indent="0" marL="0">
              <a:buNone/>
            </a:pPr>
            <a:r>
              <a:rPr lang="en-US" sz="1100" b="1" spc="100" kern="0" dirty="0">
                <a:solidFill>
                  <a:srgbClr val="0F766E"/>
                </a:solidFill>
                <a:latin typeface="Aptos" pitchFamily="34" charset="0"/>
                <a:ea typeface="Aptos" pitchFamily="34" charset="-122"/>
                <a:cs typeface="Aptos" pitchFamily="34" charset="-120"/>
              </a:rPr>
              <a:t>IMPLEMENTED</a:t>
            </a:r>
            <a:endParaRPr lang="en-US" sz="1100" dirty="0"/>
          </a:p>
        </p:txBody>
      </p:sp>
      <p:sp>
        <p:nvSpPr>
          <p:cNvPr id="10" name="Text 8"/>
          <p:cNvSpPr/>
          <p:nvPr/>
        </p:nvSpPr>
        <p:spPr>
          <a:xfrm>
            <a:off x="3602736" y="2651760"/>
            <a:ext cx="2121408" cy="1463040"/>
          </a:xfrm>
          <a:prstGeom prst="rect">
            <a:avLst/>
          </a:prstGeom>
          <a:noFill/>
          <a:ln/>
        </p:spPr>
        <p:txBody>
          <a:bodyPr wrap="square" lIns="0" tIns="0" rIns="0" bIns="0" rtlCol="0" anchor="t">
            <a:normAutofit/>
          </a:bodyPr>
          <a:lstStyle/>
          <a:p>
            <a:pPr indent="0" marL="0">
              <a:buNone/>
            </a:pPr>
            <a:r>
              <a:rPr lang="en-US" sz="1600" dirty="0">
                <a:solidFill>
                  <a:srgbClr val="0F172A"/>
                </a:solidFill>
                <a:latin typeface="Aptos" pitchFamily="34" charset="0"/>
                <a:ea typeface="Aptos" pitchFamily="34" charset="-122"/>
                <a:cs typeface="Aptos" pitchFamily="34" charset="-120"/>
              </a:rPr>
              <a:t>Spring services, MongoDB state, Qdrant search, Ollama calls</a:t>
            </a:r>
            <a:endParaRPr lang="en-US" sz="1600" dirty="0"/>
          </a:p>
        </p:txBody>
      </p:sp>
      <p:sp>
        <p:nvSpPr>
          <p:cNvPr id="11" name="Shape 9"/>
          <p:cNvSpPr/>
          <p:nvPr/>
        </p:nvSpPr>
        <p:spPr>
          <a:xfrm>
            <a:off x="6272784" y="1874520"/>
            <a:ext cx="2514600" cy="2971800"/>
          </a:xfrm>
          <a:prstGeom prst="roundRect">
            <a:avLst>
              <a:gd name="adj" fmla="val 2909"/>
            </a:avLst>
          </a:prstGeom>
          <a:solidFill>
            <a:srgbClr val="FEF3C7"/>
          </a:solidFill>
          <a:ln w="12700">
            <a:solidFill>
              <a:srgbClr val="CBD5E1"/>
            </a:solidFill>
            <a:prstDash val="solid"/>
          </a:ln>
        </p:spPr>
      </p:sp>
      <p:sp>
        <p:nvSpPr>
          <p:cNvPr id="12" name="Text 10"/>
          <p:cNvSpPr/>
          <p:nvPr/>
        </p:nvSpPr>
        <p:spPr>
          <a:xfrm>
            <a:off x="6455664" y="2139696"/>
            <a:ext cx="2103120" cy="228600"/>
          </a:xfrm>
          <a:prstGeom prst="rect">
            <a:avLst/>
          </a:prstGeom>
          <a:noFill/>
          <a:ln/>
        </p:spPr>
        <p:txBody>
          <a:bodyPr wrap="square" lIns="0" tIns="0" rIns="0" bIns="0" rtlCol="0" anchor="ctr">
            <a:normAutofit/>
          </a:bodyPr>
          <a:lstStyle/>
          <a:p>
            <a:pPr indent="0" marL="0">
              <a:buNone/>
            </a:pPr>
            <a:r>
              <a:rPr lang="en-US" sz="1100" b="1" spc="100" kern="0" dirty="0">
                <a:solidFill>
                  <a:srgbClr val="0F766E"/>
                </a:solidFill>
                <a:latin typeface="Aptos" pitchFamily="34" charset="0"/>
                <a:ea typeface="Aptos" pitchFamily="34" charset="-122"/>
                <a:cs typeface="Aptos" pitchFamily="34" charset="-120"/>
              </a:rPr>
              <a:t>DOCUMENTED</a:t>
            </a:r>
            <a:endParaRPr lang="en-US" sz="1100" dirty="0"/>
          </a:p>
        </p:txBody>
      </p:sp>
      <p:sp>
        <p:nvSpPr>
          <p:cNvPr id="13" name="Text 11"/>
          <p:cNvSpPr/>
          <p:nvPr/>
        </p:nvSpPr>
        <p:spPr>
          <a:xfrm>
            <a:off x="6455664" y="2651760"/>
            <a:ext cx="2121408" cy="1463040"/>
          </a:xfrm>
          <a:prstGeom prst="rect">
            <a:avLst/>
          </a:prstGeom>
          <a:noFill/>
          <a:ln/>
        </p:spPr>
        <p:txBody>
          <a:bodyPr wrap="square" lIns="0" tIns="0" rIns="0" bIns="0" rtlCol="0" anchor="t">
            <a:normAutofit/>
          </a:bodyPr>
          <a:lstStyle/>
          <a:p>
            <a:pPr indent="0" marL="0">
              <a:buNone/>
            </a:pPr>
            <a:r>
              <a:rPr lang="en-US" sz="1600" dirty="0">
                <a:solidFill>
                  <a:srgbClr val="0F172A"/>
                </a:solidFill>
                <a:latin typeface="Aptos" pitchFamily="34" charset="0"/>
                <a:ea typeface="Aptos" pitchFamily="34" charset="-122"/>
                <a:cs typeface="Aptos" pitchFamily="34" charset="-120"/>
              </a:rPr>
              <a:t>BPMN retry policy, human review gate, future modular RAG</a:t>
            </a:r>
            <a:endParaRPr lang="en-US" sz="1600" dirty="0"/>
          </a:p>
        </p:txBody>
      </p:sp>
      <p:sp>
        <p:nvSpPr>
          <p:cNvPr id="14" name="Shape 12"/>
          <p:cNvSpPr/>
          <p:nvPr/>
        </p:nvSpPr>
        <p:spPr>
          <a:xfrm>
            <a:off x="9125712" y="1874520"/>
            <a:ext cx="2514600" cy="2971800"/>
          </a:xfrm>
          <a:prstGeom prst="roundRect">
            <a:avLst>
              <a:gd name="adj" fmla="val 2909"/>
            </a:avLst>
          </a:prstGeom>
          <a:solidFill>
            <a:srgbClr val="FEE2E2"/>
          </a:solidFill>
          <a:ln w="12700">
            <a:solidFill>
              <a:srgbClr val="B91C1C"/>
            </a:solidFill>
            <a:prstDash val="solid"/>
          </a:ln>
        </p:spPr>
      </p:sp>
      <p:sp>
        <p:nvSpPr>
          <p:cNvPr id="15" name="Text 13"/>
          <p:cNvSpPr/>
          <p:nvPr/>
        </p:nvSpPr>
        <p:spPr>
          <a:xfrm>
            <a:off x="9308592" y="2139696"/>
            <a:ext cx="2103120" cy="228600"/>
          </a:xfrm>
          <a:prstGeom prst="rect">
            <a:avLst/>
          </a:prstGeom>
          <a:noFill/>
          <a:ln/>
        </p:spPr>
        <p:txBody>
          <a:bodyPr wrap="square" lIns="0" tIns="0" rIns="0" bIns="0" rtlCol="0" anchor="ctr">
            <a:normAutofit/>
          </a:bodyPr>
          <a:lstStyle/>
          <a:p>
            <a:pPr indent="0" marL="0">
              <a:buNone/>
            </a:pPr>
            <a:r>
              <a:rPr lang="en-US" sz="1100" b="1" spc="100" kern="0" dirty="0">
                <a:solidFill>
                  <a:srgbClr val="B91C1C"/>
                </a:solidFill>
                <a:latin typeface="Aptos" pitchFamily="34" charset="0"/>
                <a:ea typeface="Aptos" pitchFamily="34" charset="-122"/>
                <a:cs typeface="Aptos" pitchFamily="34" charset="-120"/>
              </a:rPr>
              <a:t>LIMITATION</a:t>
            </a:r>
            <a:endParaRPr lang="en-US" sz="1100" dirty="0"/>
          </a:p>
        </p:txBody>
      </p:sp>
      <p:sp>
        <p:nvSpPr>
          <p:cNvPr id="16" name="Text 14"/>
          <p:cNvSpPr/>
          <p:nvPr/>
        </p:nvSpPr>
        <p:spPr>
          <a:xfrm>
            <a:off x="9308592" y="2651760"/>
            <a:ext cx="2121408" cy="1463040"/>
          </a:xfrm>
          <a:prstGeom prst="rect">
            <a:avLst/>
          </a:prstGeom>
          <a:noFill/>
          <a:ln/>
        </p:spPr>
        <p:txBody>
          <a:bodyPr wrap="square" lIns="0" tIns="0" rIns="0" bIns="0" rtlCol="0" anchor="t">
            <a:normAutofit/>
          </a:bodyPr>
          <a:lstStyle/>
          <a:p>
            <a:pPr indent="0" marL="0">
              <a:buNone/>
            </a:pPr>
            <a:r>
              <a:rPr lang="en-US" sz="1600" b="1" dirty="0">
                <a:solidFill>
                  <a:srgbClr val="0F172A"/>
                </a:solidFill>
                <a:latin typeface="Aptos" pitchFamily="34" charset="0"/>
                <a:ea typeface="Aptos" pitchFamily="34" charset="-122"/>
                <a:cs typeface="Aptos" pitchFamily="34" charset="-120"/>
              </a:rPr>
              <a:t>Citation score is a placeholder; no automated RAG judge loop</a:t>
            </a:r>
            <a:endParaRPr lang="en-US" sz="1600" dirty="0"/>
          </a:p>
        </p:txBody>
      </p:sp>
      <p:sp>
        <p:nvSpPr>
          <p:cNvPr id="17" name="Text 15"/>
          <p:cNvSpPr/>
          <p:nvPr/>
        </p:nvSpPr>
        <p:spPr>
          <a:xfrm>
            <a:off x="685800" y="5349240"/>
            <a:ext cx="10789920" cy="411480"/>
          </a:xfrm>
          <a:prstGeom prst="rect">
            <a:avLst/>
          </a:prstGeom>
          <a:noFill/>
          <a:ln/>
        </p:spPr>
        <p:txBody>
          <a:bodyPr wrap="square" lIns="0" tIns="0" rIns="0" bIns="0" rtlCol="0" anchor="ctr">
            <a:normAutofit/>
          </a:bodyPr>
          <a:lstStyle/>
          <a:p>
            <a:pPr algn="ctr" indent="0" marL="0">
              <a:buNone/>
            </a:pPr>
            <a:r>
              <a:rPr lang="en-US" sz="2000" b="1" dirty="0">
                <a:solidFill>
                  <a:srgbClr val="0F172A"/>
                </a:solidFill>
                <a:latin typeface="Aptos" pitchFamily="34" charset="0"/>
                <a:ea typeface="Aptos" pitchFamily="34" charset="-122"/>
                <a:cs typeface="Aptos" pitchFamily="34" charset="-120"/>
              </a:rPr>
              <a:t>Trust grows when the system exposes its boundaries instead of presenting every value as a fact.</a:t>
            </a:r>
            <a:endParaRPr lang="en-US" sz="20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640080" y="960120"/>
            <a:ext cx="109728" cy="4480560"/>
          </a:xfrm>
          <a:prstGeom prst="rect">
            <a:avLst/>
          </a:prstGeom>
          <a:solidFill>
            <a:srgbClr val="1D4ED8"/>
          </a:solidFill>
          <a:ln w="12700">
            <a:solidFill>
              <a:srgbClr val="1D4ED8"/>
            </a:solidFill>
            <a:prstDash val="solid"/>
          </a:ln>
        </p:spPr>
      </p:sp>
      <p:sp>
        <p:nvSpPr>
          <p:cNvPr id="4" name="Text 2"/>
          <p:cNvSpPr/>
          <p:nvPr/>
        </p:nvSpPr>
        <p:spPr>
          <a:xfrm>
            <a:off x="1024128" y="960120"/>
            <a:ext cx="2011680" cy="1097280"/>
          </a:xfrm>
          <a:prstGeom prst="rect">
            <a:avLst/>
          </a:prstGeom>
          <a:noFill/>
          <a:ln/>
        </p:spPr>
        <p:txBody>
          <a:bodyPr wrap="square" lIns="0" tIns="0" rIns="0" bIns="0" rtlCol="0" anchor="ctr">
            <a:normAutofit/>
          </a:bodyPr>
          <a:lstStyle/>
          <a:p>
            <a:pPr indent="0" marL="0">
              <a:buNone/>
            </a:pPr>
            <a:r>
              <a:rPr lang="en-US" sz="5800" b="1" dirty="0">
                <a:solidFill>
                  <a:srgbClr val="1D4ED8"/>
                </a:solidFill>
                <a:latin typeface="Aptos" pitchFamily="34" charset="0"/>
                <a:ea typeface="Aptos" pitchFamily="34" charset="-122"/>
                <a:cs typeface="Aptos" pitchFamily="34" charset="-120"/>
              </a:rPr>
              <a:t>02</a:t>
            </a:r>
            <a:endParaRPr lang="en-US" sz="5800" dirty="0"/>
          </a:p>
        </p:txBody>
      </p:sp>
      <p:sp>
        <p:nvSpPr>
          <p:cNvPr id="5" name="Text 3"/>
          <p:cNvSpPr/>
          <p:nvPr/>
        </p:nvSpPr>
        <p:spPr>
          <a:xfrm>
            <a:off x="1024128" y="2148840"/>
            <a:ext cx="9784080" cy="100584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pitchFamily="34" charset="0"/>
                <a:ea typeface="Aptos" pitchFamily="34" charset="-122"/>
                <a:cs typeface="Aptos" pitchFamily="34" charset="-120"/>
              </a:rPr>
              <a:t>Why and how: what a model knows, what it invents, and what only you can decide</a:t>
            </a:r>
            <a:endParaRPr lang="en-US" sz="3200" dirty="0"/>
          </a:p>
        </p:txBody>
      </p:sp>
      <p:sp>
        <p:nvSpPr>
          <p:cNvPr id="6" name="Text 4"/>
          <p:cNvSpPr/>
          <p:nvPr/>
        </p:nvSpPr>
        <p:spPr>
          <a:xfrm>
            <a:off x="1060704" y="4645152"/>
            <a:ext cx="8595360" cy="658368"/>
          </a:xfrm>
          <a:prstGeom prst="rect">
            <a:avLst/>
          </a:prstGeom>
          <a:noFill/>
          <a:ln/>
        </p:spPr>
        <p:txBody>
          <a:bodyPr wrap="square" lIns="0" tIns="0" rIns="0" bIns="0" rtlCol="0" anchor="ctr">
            <a:normAutofit/>
          </a:bodyPr>
          <a:lstStyle/>
          <a:p>
            <a:pPr indent="0" marL="0">
              <a:buNone/>
            </a:pPr>
            <a:r>
              <a:rPr lang="en-US" sz="1900" i="1" dirty="0">
                <a:solidFill>
                  <a:srgbClr val="E2E8F0"/>
                </a:solidFill>
                <a:latin typeface="Aptos" pitchFamily="34" charset="0"/>
                <a:ea typeface="Aptos" pitchFamily="34" charset="-122"/>
                <a:cs typeface="Aptos" pitchFamily="34" charset="-120"/>
              </a:rPr>
              <a:t>The goal is not to make the model sound confident.</a:t>
            </a:r>
            <a:endParaRPr lang="en-US" sz="1900" dirty="0"/>
          </a:p>
          <a:p>
            <a:pPr indent="0" marL="0">
              <a:buNone/>
            </a:pPr>
            <a:r>
              <a:rPr lang="en-US" sz="1900" i="1" dirty="0">
                <a:solidFill>
                  <a:srgbClr val="E2E8F0"/>
                </a:solidFill>
                <a:latin typeface="Aptos" pitchFamily="34" charset="0"/>
                <a:ea typeface="Aptos" pitchFamily="34" charset="-122"/>
                <a:cs typeface="Aptos" pitchFamily="34" charset="-120"/>
              </a:rPr>
              <a:t>The goal is to make the system useful, inspectable, and honest.</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TRAINED, NOT THINKING</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A model knows what it learned, at the moment it learned it</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No imagination. No creativity. No awareness of anything that happened after the training cut-off.</a:t>
            </a:r>
            <a:endParaRPr lang="en-US" sz="1200" dirty="0"/>
          </a:p>
        </p:txBody>
      </p:sp>
      <p:sp>
        <p:nvSpPr>
          <p:cNvPr id="5" name="Shape 3"/>
          <p:cNvSpPr/>
          <p:nvPr/>
        </p:nvSpPr>
        <p:spPr>
          <a:xfrm>
            <a:off x="566928" y="1783080"/>
            <a:ext cx="2514600" cy="3108960"/>
          </a:xfrm>
          <a:prstGeom prst="roundRect">
            <a:avLst>
              <a:gd name="adj" fmla="val 2909"/>
            </a:avLst>
          </a:prstGeom>
          <a:solidFill>
            <a:srgbClr val="FFFFFF"/>
          </a:solidFill>
          <a:ln w="12700">
            <a:solidFill>
              <a:srgbClr val="CBD5E1"/>
            </a:solidFill>
            <a:prstDash val="solid"/>
          </a:ln>
        </p:spPr>
      </p:sp>
      <p:sp>
        <p:nvSpPr>
          <p:cNvPr id="6" name="Text 4"/>
          <p:cNvSpPr/>
          <p:nvPr/>
        </p:nvSpPr>
        <p:spPr>
          <a:xfrm>
            <a:off x="749808" y="2029968"/>
            <a:ext cx="2148840" cy="228600"/>
          </a:xfrm>
          <a:prstGeom prst="rect">
            <a:avLst/>
          </a:prstGeom>
          <a:noFill/>
          <a:ln/>
        </p:spPr>
        <p:txBody>
          <a:bodyPr wrap="square" lIns="0" tIns="0" rIns="0" bIns="0" rtlCol="0" anchor="ctr">
            <a:normAutofit/>
          </a:bodyPr>
          <a:lstStyle/>
          <a:p>
            <a:pPr indent="0" marL="0">
              <a:buNone/>
            </a:pPr>
            <a:r>
              <a:rPr lang="en-US" sz="1100" b="1" spc="100" kern="0" dirty="0">
                <a:solidFill>
                  <a:srgbClr val="1D4ED8"/>
                </a:solidFill>
                <a:latin typeface="Aptos" pitchFamily="34" charset="0"/>
                <a:ea typeface="Aptos" pitchFamily="34" charset="-122"/>
                <a:cs typeface="Aptos" pitchFamily="34" charset="-120"/>
              </a:rPr>
              <a:t>FROZEN IN TIME</a:t>
            </a:r>
            <a:endParaRPr lang="en-US" sz="1100" dirty="0"/>
          </a:p>
        </p:txBody>
      </p:sp>
      <p:sp>
        <p:nvSpPr>
          <p:cNvPr id="7" name="Text 5"/>
          <p:cNvSpPr/>
          <p:nvPr/>
        </p:nvSpPr>
        <p:spPr>
          <a:xfrm>
            <a:off x="749808" y="2487168"/>
            <a:ext cx="2148840" cy="219456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Knowledge stops at the training cut-off. Anything released afterwards is, to the model, simply absent — not “new”, not “unknown”, absent.</a:t>
            </a:r>
            <a:endParaRPr lang="en-US" sz="1400" dirty="0"/>
          </a:p>
        </p:txBody>
      </p:sp>
      <p:sp>
        <p:nvSpPr>
          <p:cNvPr id="8" name="Shape 6"/>
          <p:cNvSpPr/>
          <p:nvPr/>
        </p:nvSpPr>
        <p:spPr>
          <a:xfrm>
            <a:off x="3419856" y="1783080"/>
            <a:ext cx="2514600" cy="3108960"/>
          </a:xfrm>
          <a:prstGeom prst="roundRect">
            <a:avLst>
              <a:gd name="adj" fmla="val 2909"/>
            </a:avLst>
          </a:prstGeom>
          <a:solidFill>
            <a:srgbClr val="FFFFFF"/>
          </a:solidFill>
          <a:ln w="12700">
            <a:solidFill>
              <a:srgbClr val="CBD5E1"/>
            </a:solidFill>
            <a:prstDash val="solid"/>
          </a:ln>
        </p:spPr>
      </p:sp>
      <p:sp>
        <p:nvSpPr>
          <p:cNvPr id="9" name="Text 7"/>
          <p:cNvSpPr/>
          <p:nvPr/>
        </p:nvSpPr>
        <p:spPr>
          <a:xfrm>
            <a:off x="3602736" y="2029968"/>
            <a:ext cx="2148840" cy="228600"/>
          </a:xfrm>
          <a:prstGeom prst="rect">
            <a:avLst/>
          </a:prstGeom>
          <a:noFill/>
          <a:ln/>
        </p:spPr>
        <p:txBody>
          <a:bodyPr wrap="square" lIns="0" tIns="0" rIns="0" bIns="0" rtlCol="0" anchor="ctr">
            <a:normAutofit/>
          </a:bodyPr>
          <a:lstStyle/>
          <a:p>
            <a:pPr indent="0" marL="0">
              <a:buNone/>
            </a:pPr>
            <a:r>
              <a:rPr lang="en-US" sz="1100" b="1" spc="100" kern="0" dirty="0">
                <a:solidFill>
                  <a:srgbClr val="1D4ED8"/>
                </a:solidFill>
                <a:latin typeface="Aptos" pitchFamily="34" charset="0"/>
                <a:ea typeface="Aptos" pitchFamily="34" charset="-122"/>
                <a:cs typeface="Aptos" pitchFamily="34" charset="-120"/>
              </a:rPr>
              <a:t>NO IMAGINATION</a:t>
            </a:r>
            <a:endParaRPr lang="en-US" sz="1100" dirty="0"/>
          </a:p>
        </p:txBody>
      </p:sp>
      <p:sp>
        <p:nvSpPr>
          <p:cNvPr id="10" name="Text 8"/>
          <p:cNvSpPr/>
          <p:nvPr/>
        </p:nvSpPr>
        <p:spPr>
          <a:xfrm>
            <a:off x="3602736" y="2487168"/>
            <a:ext cx="2148840" cy="219456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It does not invent a design. It reproduces the most probable continuation of the patterns it has already seen many times.</a:t>
            </a:r>
            <a:endParaRPr lang="en-US" sz="1400" dirty="0"/>
          </a:p>
        </p:txBody>
      </p:sp>
      <p:sp>
        <p:nvSpPr>
          <p:cNvPr id="11" name="Shape 9"/>
          <p:cNvSpPr/>
          <p:nvPr/>
        </p:nvSpPr>
        <p:spPr>
          <a:xfrm>
            <a:off x="6272784" y="1783080"/>
            <a:ext cx="2514600" cy="3108960"/>
          </a:xfrm>
          <a:prstGeom prst="roundRect">
            <a:avLst>
              <a:gd name="adj" fmla="val 2909"/>
            </a:avLst>
          </a:prstGeom>
          <a:solidFill>
            <a:srgbClr val="FEF3C7"/>
          </a:solidFill>
          <a:ln w="12700">
            <a:solidFill>
              <a:srgbClr val="B45309"/>
            </a:solidFill>
            <a:prstDash val="solid"/>
          </a:ln>
        </p:spPr>
      </p:sp>
      <p:sp>
        <p:nvSpPr>
          <p:cNvPr id="12" name="Text 10"/>
          <p:cNvSpPr/>
          <p:nvPr/>
        </p:nvSpPr>
        <p:spPr>
          <a:xfrm>
            <a:off x="6455664" y="2029968"/>
            <a:ext cx="2148840" cy="228600"/>
          </a:xfrm>
          <a:prstGeom prst="rect">
            <a:avLst/>
          </a:prstGeom>
          <a:noFill/>
          <a:ln/>
        </p:spPr>
        <p:txBody>
          <a:bodyPr wrap="square" lIns="0" tIns="0" rIns="0" bIns="0" rtlCol="0" anchor="ctr">
            <a:normAutofit/>
          </a:bodyPr>
          <a:lstStyle/>
          <a:p>
            <a:pPr indent="0" marL="0">
              <a:buNone/>
            </a:pPr>
            <a:r>
              <a:rPr lang="en-US" sz="1100" b="1" spc="100" kern="0" dirty="0">
                <a:solidFill>
                  <a:srgbClr val="B45309"/>
                </a:solidFill>
                <a:latin typeface="Aptos" pitchFamily="34" charset="0"/>
                <a:ea typeface="Aptos" pitchFamily="34" charset="-122"/>
                <a:cs typeface="Aptos" pitchFamily="34" charset="-120"/>
              </a:rPr>
              <a:t>NO SELF-DOUBT</a:t>
            </a:r>
            <a:endParaRPr lang="en-US" sz="1100" dirty="0"/>
          </a:p>
        </p:txBody>
      </p:sp>
      <p:sp>
        <p:nvSpPr>
          <p:cNvPr id="13" name="Text 11"/>
          <p:cNvSpPr/>
          <p:nvPr/>
        </p:nvSpPr>
        <p:spPr>
          <a:xfrm>
            <a:off x="6455664" y="2487168"/>
            <a:ext cx="2148840" cy="219456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Recalling and fabricating are the same operation internally. Confidence is a writing style, not a measure of evidence.</a:t>
            </a:r>
            <a:endParaRPr lang="en-US" sz="1400" dirty="0"/>
          </a:p>
        </p:txBody>
      </p:sp>
      <p:sp>
        <p:nvSpPr>
          <p:cNvPr id="14" name="Shape 12"/>
          <p:cNvSpPr/>
          <p:nvPr/>
        </p:nvSpPr>
        <p:spPr>
          <a:xfrm>
            <a:off x="9125712" y="1783080"/>
            <a:ext cx="2514600" cy="3108960"/>
          </a:xfrm>
          <a:prstGeom prst="roundRect">
            <a:avLst>
              <a:gd name="adj" fmla="val 2909"/>
            </a:avLst>
          </a:prstGeom>
          <a:solidFill>
            <a:srgbClr val="FEE2E2"/>
          </a:solidFill>
          <a:ln w="12700">
            <a:solidFill>
              <a:srgbClr val="B91C1C"/>
            </a:solidFill>
            <a:prstDash val="solid"/>
          </a:ln>
        </p:spPr>
      </p:sp>
      <p:sp>
        <p:nvSpPr>
          <p:cNvPr id="15" name="Text 13"/>
          <p:cNvSpPr/>
          <p:nvPr/>
        </p:nvSpPr>
        <p:spPr>
          <a:xfrm>
            <a:off x="9308592" y="2029968"/>
            <a:ext cx="2148840" cy="228600"/>
          </a:xfrm>
          <a:prstGeom prst="rect">
            <a:avLst/>
          </a:prstGeom>
          <a:noFill/>
          <a:ln/>
        </p:spPr>
        <p:txBody>
          <a:bodyPr wrap="square" lIns="0" tIns="0" rIns="0" bIns="0" rtlCol="0" anchor="ctr">
            <a:normAutofit/>
          </a:bodyPr>
          <a:lstStyle/>
          <a:p>
            <a:pPr indent="0" marL="0">
              <a:buNone/>
            </a:pPr>
            <a:r>
              <a:rPr lang="en-US" sz="1100" b="1" spc="100" kern="0" dirty="0">
                <a:solidFill>
                  <a:srgbClr val="B91C1C"/>
                </a:solidFill>
                <a:latin typeface="Aptos" pitchFamily="34" charset="0"/>
                <a:ea typeface="Aptos" pitchFamily="34" charset="-122"/>
                <a:cs typeface="Aptos" pitchFamily="34" charset="-120"/>
              </a:rPr>
              <a:t>THE PRIOR WINS</a:t>
            </a:r>
            <a:endParaRPr lang="en-US" sz="1100" dirty="0"/>
          </a:p>
        </p:txBody>
      </p:sp>
      <p:sp>
        <p:nvSpPr>
          <p:cNvPr id="16" name="Text 14"/>
          <p:cNvSpPr/>
          <p:nvPr/>
        </p:nvSpPr>
        <p:spPr>
          <a:xfrm>
            <a:off x="9308592" y="2487168"/>
            <a:ext cx="2148840" cy="219456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Tell it not to use a familiar pattern and it still drifts back whenever the alternative is thin in its training data.</a:t>
            </a:r>
            <a:endParaRPr lang="en-US" sz="1400" dirty="0"/>
          </a:p>
        </p:txBody>
      </p:sp>
      <p:sp>
        <p:nvSpPr>
          <p:cNvPr id="17" name="Text 15"/>
          <p:cNvSpPr/>
          <p:nvPr/>
        </p:nvSpPr>
        <p:spPr>
          <a:xfrm>
            <a:off x="731520" y="5230368"/>
            <a:ext cx="10698480" cy="411480"/>
          </a:xfrm>
          <a:prstGeom prst="rect">
            <a:avLst/>
          </a:prstGeom>
          <a:noFill/>
          <a:ln/>
        </p:spPr>
        <p:txBody>
          <a:bodyPr wrap="square" lIns="0" tIns="0" rIns="0" bIns="0" rtlCol="0" anchor="ctr">
            <a:normAutofit/>
          </a:bodyPr>
          <a:lstStyle/>
          <a:p>
            <a:pPr algn="ctr" indent="0" marL="0">
              <a:buNone/>
            </a:pPr>
            <a:r>
              <a:rPr lang="en-US" sz="2000" b="1" dirty="0">
                <a:solidFill>
                  <a:srgbClr val="0F172A"/>
                </a:solidFill>
                <a:latin typeface="Aptos" pitchFamily="34" charset="0"/>
                <a:ea typeface="Aptos" pitchFamily="34" charset="-122"/>
                <a:cs typeface="Aptos" pitchFamily="34" charset="-120"/>
              </a:rPr>
              <a:t>Hallucination is not a malfunction. It is the very same mechanism that produces all the correct answers.</a:t>
            </a:r>
            <a:endParaRPr lang="en-US" sz="2000" dirty="0"/>
          </a:p>
        </p:txBody>
      </p:sp>
      <p:sp>
        <p:nvSpPr>
          <p:cNvPr id="18" name="Text 16"/>
          <p:cNvSpPr/>
          <p:nvPr/>
        </p:nvSpPr>
        <p:spPr>
          <a:xfrm>
            <a:off x="731520" y="5760720"/>
            <a:ext cx="10698480" cy="365760"/>
          </a:xfrm>
          <a:prstGeom prst="rect">
            <a:avLst/>
          </a:prstGeom>
          <a:noFill/>
          <a:ln/>
        </p:spPr>
        <p:txBody>
          <a:bodyPr wrap="square" lIns="0" tIns="0" rIns="0" bIns="0" rtlCol="0" anchor="ctr">
            <a:normAutofit/>
          </a:bodyPr>
          <a:lstStyle/>
          <a:p>
            <a:pPr algn="ctr" indent="0" marL="0">
              <a:buNone/>
            </a:pPr>
            <a:r>
              <a:rPr lang="en-US" sz="1400" dirty="0">
                <a:solidFill>
                  <a:srgbClr val="64748B"/>
                </a:solidFill>
                <a:latin typeface="Aptos" pitchFamily="34" charset="0"/>
                <a:ea typeface="Aptos" pitchFamily="34" charset="-122"/>
                <a:cs typeface="Aptos" pitchFamily="34" charset="-120"/>
              </a:rPr>
              <a:t>So the engineering question is never “how do I stop it inventing?” — it is “what evidence did I put in front of it, and can I check the answer against that evidence?”</a:t>
            </a:r>
            <a:endParaRPr lang="en-US" sz="14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MODEL BOUNDARY</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A model predicts plausible continuations; it does not “know” your document</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This is why “please do not use your prior knowledge” is not a reliable control boundary.</a:t>
            </a:r>
            <a:endParaRPr lang="en-US" sz="1200" dirty="0"/>
          </a:p>
        </p:txBody>
      </p:sp>
      <p:sp>
        <p:nvSpPr>
          <p:cNvPr id="5" name="Shape 3"/>
          <p:cNvSpPr/>
          <p:nvPr/>
        </p:nvSpPr>
        <p:spPr>
          <a:xfrm>
            <a:off x="640080" y="1783080"/>
            <a:ext cx="4983480" cy="3337560"/>
          </a:xfrm>
          <a:prstGeom prst="roundRect">
            <a:avLst>
              <a:gd name="adj" fmla="val 2192"/>
            </a:avLst>
          </a:prstGeom>
          <a:solidFill>
            <a:srgbClr val="FFFFFF"/>
          </a:solidFill>
          <a:ln w="12700">
            <a:solidFill>
              <a:srgbClr val="CBD5E1"/>
            </a:solidFill>
            <a:prstDash val="solid"/>
          </a:ln>
        </p:spPr>
      </p:sp>
      <p:sp>
        <p:nvSpPr>
          <p:cNvPr id="6" name="Text 4"/>
          <p:cNvSpPr/>
          <p:nvPr/>
        </p:nvSpPr>
        <p:spPr>
          <a:xfrm>
            <a:off x="914400" y="2057400"/>
            <a:ext cx="4389120" cy="320040"/>
          </a:xfrm>
          <a:prstGeom prst="rect">
            <a:avLst/>
          </a:prstGeom>
          <a:noFill/>
          <a:ln/>
        </p:spPr>
        <p:txBody>
          <a:bodyPr wrap="square" lIns="0" tIns="0" rIns="0" bIns="0" rtlCol="0" anchor="ctr">
            <a:normAutofit/>
          </a:bodyPr>
          <a:lstStyle/>
          <a:p>
            <a:pPr indent="0" marL="0">
              <a:buNone/>
            </a:pPr>
            <a:r>
              <a:rPr lang="en-US" sz="2000" b="1" dirty="0">
                <a:solidFill>
                  <a:srgbClr val="B91C1C"/>
                </a:solidFill>
                <a:latin typeface="Aptos" pitchFamily="34" charset="0"/>
                <a:ea typeface="Aptos" pitchFamily="34" charset="-122"/>
                <a:cs typeface="Aptos" pitchFamily="34" charset="-120"/>
              </a:rPr>
              <a:t>Without retrieval</a:t>
            </a:r>
            <a:endParaRPr lang="en-US" sz="2000" dirty="0"/>
          </a:p>
        </p:txBody>
      </p:sp>
      <p:sp>
        <p:nvSpPr>
          <p:cNvPr id="7" name="Text 5"/>
          <p:cNvSpPr/>
          <p:nvPr/>
        </p:nvSpPr>
        <p:spPr>
          <a:xfrm>
            <a:off x="914400" y="2697480"/>
            <a:ext cx="4343400" cy="1645920"/>
          </a:xfrm>
          <a:prstGeom prst="rect">
            <a:avLst/>
          </a:prstGeom>
          <a:noFill/>
          <a:ln/>
        </p:spPr>
        <p:txBody>
          <a:bodyPr wrap="square" lIns="0" tIns="0" rIns="0" bIns="0" rtlCol="0" anchor="ctr">
            <a:normAutofit/>
          </a:bodyPr>
          <a:lstStyle/>
          <a:p>
            <a:pPr algn="ctr" indent="0" marL="0">
              <a:buNone/>
            </a:pPr>
            <a:r>
              <a:rPr lang="en-US" sz="2000" dirty="0">
                <a:solidFill>
                  <a:srgbClr val="0F172A"/>
                </a:solidFill>
                <a:latin typeface="Aptos" pitchFamily="34" charset="0"/>
                <a:ea typeface="Aptos" pitchFamily="34" charset="-122"/>
                <a:cs typeface="Aptos" pitchFamily="34" charset="-120"/>
              </a:rPr>
              <a:t>Question about a private PDF</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        ↓</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model’s learned patterns + prompt</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        ↓</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plausible answer, possibly invented</a:t>
            </a:r>
            <a:endParaRPr lang="en-US" sz="2000" dirty="0"/>
          </a:p>
        </p:txBody>
      </p:sp>
      <p:sp>
        <p:nvSpPr>
          <p:cNvPr id="8" name="Shape 6"/>
          <p:cNvSpPr/>
          <p:nvPr/>
        </p:nvSpPr>
        <p:spPr>
          <a:xfrm>
            <a:off x="6537960" y="1783080"/>
            <a:ext cx="4983480" cy="3337560"/>
          </a:xfrm>
          <a:prstGeom prst="roundRect">
            <a:avLst>
              <a:gd name="adj" fmla="val 2192"/>
            </a:avLst>
          </a:prstGeom>
          <a:solidFill>
            <a:srgbClr val="CCFBF1"/>
          </a:solidFill>
          <a:ln w="12700">
            <a:solidFill>
              <a:srgbClr val="0F766E"/>
            </a:solidFill>
            <a:prstDash val="solid"/>
          </a:ln>
        </p:spPr>
      </p:sp>
      <p:sp>
        <p:nvSpPr>
          <p:cNvPr id="9" name="Text 7"/>
          <p:cNvSpPr/>
          <p:nvPr/>
        </p:nvSpPr>
        <p:spPr>
          <a:xfrm>
            <a:off x="6812280" y="2057400"/>
            <a:ext cx="4389120" cy="320040"/>
          </a:xfrm>
          <a:prstGeom prst="rect">
            <a:avLst/>
          </a:prstGeom>
          <a:noFill/>
          <a:ln/>
        </p:spPr>
        <p:txBody>
          <a:bodyPr wrap="square" lIns="0" tIns="0" rIns="0" bIns="0" rtlCol="0" anchor="ctr">
            <a:normAutofit/>
          </a:bodyPr>
          <a:lstStyle/>
          <a:p>
            <a:pPr indent="0" marL="0">
              <a:buNone/>
            </a:pPr>
            <a:r>
              <a:rPr lang="en-US" sz="2000" b="1" dirty="0">
                <a:solidFill>
                  <a:srgbClr val="0F766E"/>
                </a:solidFill>
                <a:latin typeface="Aptos" pitchFamily="34" charset="0"/>
                <a:ea typeface="Aptos" pitchFamily="34" charset="-122"/>
                <a:cs typeface="Aptos" pitchFamily="34" charset="-120"/>
              </a:rPr>
              <a:t>With retrieval</a:t>
            </a:r>
            <a:endParaRPr lang="en-US" sz="2000" dirty="0"/>
          </a:p>
        </p:txBody>
      </p:sp>
      <p:sp>
        <p:nvSpPr>
          <p:cNvPr id="10" name="Text 8"/>
          <p:cNvSpPr/>
          <p:nvPr/>
        </p:nvSpPr>
        <p:spPr>
          <a:xfrm>
            <a:off x="6812280" y="2697480"/>
            <a:ext cx="4343400" cy="1645920"/>
          </a:xfrm>
          <a:prstGeom prst="rect">
            <a:avLst/>
          </a:prstGeom>
          <a:noFill/>
          <a:ln/>
        </p:spPr>
        <p:txBody>
          <a:bodyPr wrap="square" lIns="0" tIns="0" rIns="0" bIns="0" rtlCol="0" anchor="ctr">
            <a:normAutofit/>
          </a:bodyPr>
          <a:lstStyle/>
          <a:p>
            <a:pPr algn="ctr" indent="0" marL="0">
              <a:buNone/>
            </a:pPr>
            <a:r>
              <a:rPr lang="en-US" sz="2000" dirty="0">
                <a:solidFill>
                  <a:srgbClr val="0F172A"/>
                </a:solidFill>
                <a:latin typeface="Aptos" pitchFamily="34" charset="0"/>
                <a:ea typeface="Aptos" pitchFamily="34" charset="-122"/>
                <a:cs typeface="Aptos" pitchFamily="34" charset="-120"/>
              </a:rPr>
              <a:t>Question about a private PDF</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        ↓</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retrieve relevant source passages</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        ↓</a:t>
            </a:r>
            <a:endParaRPr lang="en-US" sz="2000" dirty="0"/>
          </a:p>
          <a:p>
            <a:pPr algn="ctr" indent="0" marL="0">
              <a:buNone/>
            </a:pPr>
            <a:r>
              <a:rPr lang="en-US" sz="2000" dirty="0">
                <a:solidFill>
                  <a:srgbClr val="0F172A"/>
                </a:solidFill>
                <a:latin typeface="Aptos" pitchFamily="34" charset="0"/>
                <a:ea typeface="Aptos" pitchFamily="34" charset="-122"/>
                <a:cs typeface="Aptos" pitchFamily="34" charset="-120"/>
              </a:rPr>
              <a:t>answer constrained by evidence</a:t>
            </a:r>
            <a:endParaRPr lang="en-US" sz="2000" dirty="0"/>
          </a:p>
        </p:txBody>
      </p:sp>
      <p:sp>
        <p:nvSpPr>
          <p:cNvPr id="11" name="Text 9"/>
          <p:cNvSpPr/>
          <p:nvPr/>
        </p:nvSpPr>
        <p:spPr>
          <a:xfrm>
            <a:off x="868680" y="5596128"/>
            <a:ext cx="10515600" cy="411480"/>
          </a:xfrm>
          <a:prstGeom prst="rect">
            <a:avLst/>
          </a:prstGeom>
          <a:noFill/>
          <a:ln/>
        </p:spPr>
        <p:txBody>
          <a:bodyPr wrap="square" lIns="0" tIns="0" rIns="0" bIns="0" rtlCol="0" anchor="ctr">
            <a:normAutofit/>
          </a:bodyPr>
          <a:lstStyle/>
          <a:p>
            <a:pPr algn="ctr" indent="0" marL="0">
              <a:buNone/>
            </a:pPr>
            <a:r>
              <a:rPr lang="en-US" sz="1600" b="1" dirty="0">
                <a:solidFill>
                  <a:srgbClr val="334155"/>
                </a:solidFill>
                <a:latin typeface="Aptos" pitchFamily="34" charset="0"/>
                <a:ea typeface="Aptos" pitchFamily="34" charset="-122"/>
                <a:cs typeface="Aptos" pitchFamily="34" charset="-120"/>
              </a:rPr>
              <a:t>Grounding does not make hallucination impossible. It makes unsupported answers easier to detect, limit, and investigate.</a:t>
            </a:r>
            <a:endParaRPr lang="en-US" sz="16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THE BRIEF</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Five non-negotiable assumptions, stated before a single line of code</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None of these were preferences. They were the premise of the project — and they were written down first.</a:t>
            </a:r>
            <a:endParaRPr lang="en-US" sz="1200" dirty="0"/>
          </a:p>
        </p:txBody>
      </p:sp>
      <p:sp>
        <p:nvSpPr>
          <p:cNvPr id="5" name="Shape 3"/>
          <p:cNvSpPr/>
          <p:nvPr/>
        </p:nvSpPr>
        <p:spPr>
          <a:xfrm>
            <a:off x="658368" y="1682496"/>
            <a:ext cx="10881360" cy="731520"/>
          </a:xfrm>
          <a:prstGeom prst="roundRect">
            <a:avLst>
              <a:gd name="adj" fmla="val 10000"/>
            </a:avLst>
          </a:prstGeom>
          <a:solidFill>
            <a:srgbClr val="FFFFFF"/>
          </a:solidFill>
          <a:ln w="12700">
            <a:solidFill>
              <a:srgbClr val="CBD5E1"/>
            </a:solidFill>
            <a:prstDash val="solid"/>
          </a:ln>
        </p:spPr>
      </p:sp>
      <p:sp>
        <p:nvSpPr>
          <p:cNvPr id="6" name="Text 4"/>
          <p:cNvSpPr/>
          <p:nvPr/>
        </p:nvSpPr>
        <p:spPr>
          <a:xfrm>
            <a:off x="877824" y="1865376"/>
            <a:ext cx="457200" cy="365760"/>
          </a:xfrm>
          <a:prstGeom prst="rect">
            <a:avLst/>
          </a:prstGeom>
          <a:noFill/>
          <a:ln/>
        </p:spPr>
        <p:txBody>
          <a:bodyPr wrap="square" lIns="0" tIns="0" rIns="0" bIns="0" rtlCol="0" anchor="ctr">
            <a:normAutofit/>
          </a:bodyPr>
          <a:lstStyle/>
          <a:p>
            <a:pPr indent="0" marL="0">
              <a:buNone/>
            </a:pPr>
            <a:r>
              <a:rPr lang="en-US" sz="1800" b="1" dirty="0">
                <a:solidFill>
                  <a:srgbClr val="1D4ED8"/>
                </a:solidFill>
                <a:latin typeface="Aptos" pitchFamily="34" charset="0"/>
                <a:ea typeface="Aptos" pitchFamily="34" charset="-122"/>
                <a:cs typeface="Aptos" pitchFamily="34" charset="-120"/>
              </a:rPr>
              <a:t>01</a:t>
            </a:r>
            <a:endParaRPr lang="en-US" sz="1800" dirty="0"/>
          </a:p>
        </p:txBody>
      </p:sp>
      <p:sp>
        <p:nvSpPr>
          <p:cNvPr id="7" name="Text 5"/>
          <p:cNvSpPr/>
          <p:nvPr/>
        </p:nvSpPr>
        <p:spPr>
          <a:xfrm>
            <a:off x="1481328" y="1865376"/>
            <a:ext cx="3017520" cy="36576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Enterprise-grade</a:t>
            </a:r>
            <a:endParaRPr lang="en-US" sz="1600" dirty="0"/>
          </a:p>
        </p:txBody>
      </p:sp>
      <p:sp>
        <p:nvSpPr>
          <p:cNvPr id="8" name="Text 6"/>
          <p:cNvSpPr/>
          <p:nvPr/>
        </p:nvSpPr>
        <p:spPr>
          <a:xfrm>
            <a:off x="4663440" y="1792224"/>
            <a:ext cx="6675120" cy="512064"/>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Not a demo script. Layered services, real identity, persistence with history, documented contracts, operable containers.</a:t>
            </a:r>
            <a:endParaRPr lang="en-US" sz="1300" dirty="0"/>
          </a:p>
        </p:txBody>
      </p:sp>
      <p:sp>
        <p:nvSpPr>
          <p:cNvPr id="9" name="Shape 7"/>
          <p:cNvSpPr/>
          <p:nvPr/>
        </p:nvSpPr>
        <p:spPr>
          <a:xfrm>
            <a:off x="658368" y="2532888"/>
            <a:ext cx="10881360" cy="731520"/>
          </a:xfrm>
          <a:prstGeom prst="roundRect">
            <a:avLst>
              <a:gd name="adj" fmla="val 10000"/>
            </a:avLst>
          </a:prstGeom>
          <a:solidFill>
            <a:srgbClr val="FFFFFF"/>
          </a:solidFill>
          <a:ln w="12700">
            <a:solidFill>
              <a:srgbClr val="CBD5E1"/>
            </a:solidFill>
            <a:prstDash val="solid"/>
          </a:ln>
        </p:spPr>
      </p:sp>
      <p:sp>
        <p:nvSpPr>
          <p:cNvPr id="10" name="Text 8"/>
          <p:cNvSpPr/>
          <p:nvPr/>
        </p:nvSpPr>
        <p:spPr>
          <a:xfrm>
            <a:off x="877824" y="2715768"/>
            <a:ext cx="457200" cy="365760"/>
          </a:xfrm>
          <a:prstGeom prst="rect">
            <a:avLst/>
          </a:prstGeom>
          <a:noFill/>
          <a:ln/>
        </p:spPr>
        <p:txBody>
          <a:bodyPr wrap="square" lIns="0" tIns="0" rIns="0" bIns="0" rtlCol="0" anchor="ctr">
            <a:normAutofit/>
          </a:bodyPr>
          <a:lstStyle/>
          <a:p>
            <a:pPr indent="0" marL="0">
              <a:buNone/>
            </a:pPr>
            <a:r>
              <a:rPr lang="en-US" sz="1800" b="1" dirty="0">
                <a:solidFill>
                  <a:srgbClr val="1D4ED8"/>
                </a:solidFill>
                <a:latin typeface="Aptos" pitchFamily="34" charset="0"/>
                <a:ea typeface="Aptos" pitchFamily="34" charset="-122"/>
                <a:cs typeface="Aptos" pitchFamily="34" charset="-120"/>
              </a:rPr>
              <a:t>02</a:t>
            </a:r>
            <a:endParaRPr lang="en-US" sz="1800" dirty="0"/>
          </a:p>
        </p:txBody>
      </p:sp>
      <p:sp>
        <p:nvSpPr>
          <p:cNvPr id="11" name="Text 9"/>
          <p:cNvSpPr/>
          <p:nvPr/>
        </p:nvSpPr>
        <p:spPr>
          <a:xfrm>
            <a:off x="1481328" y="2715768"/>
            <a:ext cx="3017520" cy="36576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No coding by the end user</a:t>
            </a:r>
            <a:endParaRPr lang="en-US" sz="1600" dirty="0"/>
          </a:p>
        </p:txBody>
      </p:sp>
      <p:sp>
        <p:nvSpPr>
          <p:cNvPr id="12" name="Text 10"/>
          <p:cNvSpPr/>
          <p:nvPr/>
        </p:nvSpPr>
        <p:spPr>
          <a:xfrm>
            <a:off x="4663440" y="2642616"/>
            <a:ext cx="6675120" cy="512064"/>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The librarian uploads a PDF and asks a question. No notebooks, no YAML, no prompt engineering demanded of the user.</a:t>
            </a:r>
            <a:endParaRPr lang="en-US" sz="1300" dirty="0"/>
          </a:p>
        </p:txBody>
      </p:sp>
      <p:sp>
        <p:nvSpPr>
          <p:cNvPr id="13" name="Shape 11"/>
          <p:cNvSpPr/>
          <p:nvPr/>
        </p:nvSpPr>
        <p:spPr>
          <a:xfrm>
            <a:off x="658368" y="3383280"/>
            <a:ext cx="10881360" cy="731520"/>
          </a:xfrm>
          <a:prstGeom prst="roundRect">
            <a:avLst>
              <a:gd name="adj" fmla="val 10000"/>
            </a:avLst>
          </a:prstGeom>
          <a:solidFill>
            <a:srgbClr val="FFFFFF"/>
          </a:solidFill>
          <a:ln w="12700">
            <a:solidFill>
              <a:srgbClr val="CBD5E1"/>
            </a:solidFill>
            <a:prstDash val="solid"/>
          </a:ln>
        </p:spPr>
      </p:sp>
      <p:sp>
        <p:nvSpPr>
          <p:cNvPr id="14" name="Text 12"/>
          <p:cNvSpPr/>
          <p:nvPr/>
        </p:nvSpPr>
        <p:spPr>
          <a:xfrm>
            <a:off x="877824" y="3566160"/>
            <a:ext cx="457200" cy="365760"/>
          </a:xfrm>
          <a:prstGeom prst="rect">
            <a:avLst/>
          </a:prstGeom>
          <a:noFill/>
          <a:ln/>
        </p:spPr>
        <p:txBody>
          <a:bodyPr wrap="square" lIns="0" tIns="0" rIns="0" bIns="0" rtlCol="0" anchor="ctr">
            <a:normAutofit/>
          </a:bodyPr>
          <a:lstStyle/>
          <a:p>
            <a:pPr indent="0" marL="0">
              <a:buNone/>
            </a:pPr>
            <a:r>
              <a:rPr lang="en-US" sz="1800" b="1" dirty="0">
                <a:solidFill>
                  <a:srgbClr val="6D28D9"/>
                </a:solidFill>
                <a:latin typeface="Aptos" pitchFamily="34" charset="0"/>
                <a:ea typeface="Aptos" pitchFamily="34" charset="-122"/>
                <a:cs typeface="Aptos" pitchFamily="34" charset="-120"/>
              </a:rPr>
              <a:t>03</a:t>
            </a:r>
            <a:endParaRPr lang="en-US" sz="1800" dirty="0"/>
          </a:p>
        </p:txBody>
      </p:sp>
      <p:sp>
        <p:nvSpPr>
          <p:cNvPr id="15" name="Text 13"/>
          <p:cNvSpPr/>
          <p:nvPr/>
        </p:nvSpPr>
        <p:spPr>
          <a:xfrm>
            <a:off x="1481328" y="3566160"/>
            <a:ext cx="3017520" cy="36576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Named technologies only</a:t>
            </a:r>
            <a:endParaRPr lang="en-US" sz="1600" dirty="0"/>
          </a:p>
        </p:txBody>
      </p:sp>
      <p:sp>
        <p:nvSpPr>
          <p:cNvPr id="16" name="Text 14"/>
          <p:cNvSpPr/>
          <p:nvPr/>
        </p:nvSpPr>
        <p:spPr>
          <a:xfrm>
            <a:off x="4663440" y="3493008"/>
            <a:ext cx="6675120" cy="512064"/>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SAP UI5 Web Components · Spring Boot · Ollama · Qdrant · Docker. Chosen deliberately, not left to the model to pick.</a:t>
            </a:r>
            <a:endParaRPr lang="en-US" sz="1300" dirty="0"/>
          </a:p>
        </p:txBody>
      </p:sp>
      <p:sp>
        <p:nvSpPr>
          <p:cNvPr id="17" name="Shape 15"/>
          <p:cNvSpPr/>
          <p:nvPr/>
        </p:nvSpPr>
        <p:spPr>
          <a:xfrm>
            <a:off x="658368" y="4233672"/>
            <a:ext cx="10881360" cy="731520"/>
          </a:xfrm>
          <a:prstGeom prst="roundRect">
            <a:avLst>
              <a:gd name="adj" fmla="val 10000"/>
            </a:avLst>
          </a:prstGeom>
          <a:solidFill>
            <a:srgbClr val="FEE2E2"/>
          </a:solidFill>
          <a:ln w="12700">
            <a:solidFill>
              <a:srgbClr val="B91C1C"/>
            </a:solidFill>
            <a:prstDash val="solid"/>
          </a:ln>
        </p:spPr>
      </p:sp>
      <p:sp>
        <p:nvSpPr>
          <p:cNvPr id="18" name="Text 16"/>
          <p:cNvSpPr/>
          <p:nvPr/>
        </p:nvSpPr>
        <p:spPr>
          <a:xfrm>
            <a:off x="877824" y="4416552"/>
            <a:ext cx="457200" cy="365760"/>
          </a:xfrm>
          <a:prstGeom prst="rect">
            <a:avLst/>
          </a:prstGeom>
          <a:noFill/>
          <a:ln/>
        </p:spPr>
        <p:txBody>
          <a:bodyPr wrap="square" lIns="0" tIns="0" rIns="0" bIns="0" rtlCol="0" anchor="ctr">
            <a:normAutofit/>
          </a:bodyPr>
          <a:lstStyle/>
          <a:p>
            <a:pPr indent="0" marL="0">
              <a:buNone/>
            </a:pPr>
            <a:r>
              <a:rPr lang="en-US" sz="1800" b="1" dirty="0">
                <a:solidFill>
                  <a:srgbClr val="B91C1C"/>
                </a:solidFill>
                <a:latin typeface="Aptos" pitchFamily="34" charset="0"/>
                <a:ea typeface="Aptos" pitchFamily="34" charset="-122"/>
                <a:cs typeface="Aptos" pitchFamily="34" charset="-120"/>
              </a:rPr>
              <a:t>04</a:t>
            </a:r>
            <a:endParaRPr lang="en-US" sz="1800" dirty="0"/>
          </a:p>
        </p:txBody>
      </p:sp>
      <p:sp>
        <p:nvSpPr>
          <p:cNvPr id="19" name="Text 17"/>
          <p:cNvSpPr/>
          <p:nvPr/>
        </p:nvSpPr>
        <p:spPr>
          <a:xfrm>
            <a:off x="1481328" y="4416552"/>
            <a:ext cx="3017520" cy="36576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Latest version of each</a:t>
            </a:r>
            <a:endParaRPr lang="en-US" sz="1600" dirty="0"/>
          </a:p>
        </p:txBody>
      </p:sp>
      <p:sp>
        <p:nvSpPr>
          <p:cNvPr id="20" name="Text 18"/>
          <p:cNvSpPr/>
          <p:nvPr/>
        </p:nvSpPr>
        <p:spPr>
          <a:xfrm>
            <a:off x="4663440" y="4343400"/>
            <a:ext cx="6675120" cy="512064"/>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Explicitly the newest release of every named technology — not whatever the model had most often seen.</a:t>
            </a:r>
            <a:endParaRPr lang="en-US" sz="1300" dirty="0"/>
          </a:p>
        </p:txBody>
      </p:sp>
      <p:sp>
        <p:nvSpPr>
          <p:cNvPr id="21" name="Shape 19"/>
          <p:cNvSpPr/>
          <p:nvPr/>
        </p:nvSpPr>
        <p:spPr>
          <a:xfrm>
            <a:off x="658368" y="5084064"/>
            <a:ext cx="10881360" cy="731520"/>
          </a:xfrm>
          <a:prstGeom prst="roundRect">
            <a:avLst>
              <a:gd name="adj" fmla="val 10000"/>
            </a:avLst>
          </a:prstGeom>
          <a:solidFill>
            <a:srgbClr val="FFFFFF"/>
          </a:solidFill>
          <a:ln w="12700">
            <a:solidFill>
              <a:srgbClr val="CBD5E1"/>
            </a:solidFill>
            <a:prstDash val="solid"/>
          </a:ln>
        </p:spPr>
      </p:sp>
      <p:sp>
        <p:nvSpPr>
          <p:cNvPr id="22" name="Text 20"/>
          <p:cNvSpPr/>
          <p:nvPr/>
        </p:nvSpPr>
        <p:spPr>
          <a:xfrm>
            <a:off x="877824" y="5266944"/>
            <a:ext cx="457200" cy="365760"/>
          </a:xfrm>
          <a:prstGeom prst="rect">
            <a:avLst/>
          </a:prstGeom>
          <a:noFill/>
          <a:ln/>
        </p:spPr>
        <p:txBody>
          <a:bodyPr wrap="square" lIns="0" tIns="0" rIns="0" bIns="0" rtlCol="0" anchor="ctr">
            <a:normAutofit/>
          </a:bodyPr>
          <a:lstStyle/>
          <a:p>
            <a:pPr indent="0" marL="0">
              <a:buNone/>
            </a:pPr>
            <a:r>
              <a:rPr lang="en-US" sz="1800" b="1" dirty="0">
                <a:solidFill>
                  <a:srgbClr val="0F766E"/>
                </a:solidFill>
                <a:latin typeface="Aptos" pitchFamily="34" charset="0"/>
                <a:ea typeface="Aptos" pitchFamily="34" charset="-122"/>
                <a:cs typeface="Aptos" pitchFamily="34" charset="-120"/>
              </a:rPr>
              <a:t>05</a:t>
            </a:r>
            <a:endParaRPr lang="en-US" sz="1800" dirty="0"/>
          </a:p>
        </p:txBody>
      </p:sp>
      <p:sp>
        <p:nvSpPr>
          <p:cNvPr id="23" name="Text 21"/>
          <p:cNvSpPr/>
          <p:nvPr/>
        </p:nvSpPr>
        <p:spPr>
          <a:xfrm>
            <a:off x="1481328" y="5266944"/>
            <a:ext cx="3017520" cy="365760"/>
          </a:xfrm>
          <a:prstGeom prst="rect">
            <a:avLst/>
          </a:prstGeom>
          <a:noFill/>
          <a:ln/>
        </p:spPr>
        <p:txBody>
          <a:bodyPr wrap="square" lIns="0" tIns="0" rIns="0" bIns="0" rtlCol="0" anchor="ctr">
            <a:normAutofit/>
          </a:bodyPr>
          <a:lstStyle/>
          <a:p>
            <a:pPr indent="0" marL="0">
              <a:buNone/>
            </a:pPr>
            <a:r>
              <a:rPr lang="en-US" sz="1600" b="1" dirty="0">
                <a:solidFill>
                  <a:srgbClr val="0F172A"/>
                </a:solidFill>
                <a:latin typeface="Aptos" pitchFamily="34" charset="0"/>
                <a:ea typeface="Aptos" pitchFamily="34" charset="-122"/>
                <a:cs typeface="Aptos" pitchFamily="34" charset="-120"/>
              </a:rPr>
              <a:t>Fully local</a:t>
            </a:r>
            <a:endParaRPr lang="en-US" sz="1600" dirty="0"/>
          </a:p>
        </p:txBody>
      </p:sp>
      <p:sp>
        <p:nvSpPr>
          <p:cNvPr id="24" name="Text 22"/>
          <p:cNvSpPr/>
          <p:nvPr/>
        </p:nvSpPr>
        <p:spPr>
          <a:xfrm>
            <a:off x="4663440" y="5193792"/>
            <a:ext cx="6675120" cy="512064"/>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Inference, embeddings, vectors and storage all on own infrastructure. No document leaves the machine.</a:t>
            </a:r>
            <a:endParaRPr lang="en-US" sz="1300" dirty="0"/>
          </a:p>
        </p:txBody>
      </p:sp>
      <p:sp>
        <p:nvSpPr>
          <p:cNvPr id="25" name="Text 23"/>
          <p:cNvSpPr/>
          <p:nvPr/>
        </p:nvSpPr>
        <p:spPr>
          <a:xfrm>
            <a:off x="731520" y="6016752"/>
            <a:ext cx="10698480" cy="365760"/>
          </a:xfrm>
          <a:prstGeom prst="rect">
            <a:avLst/>
          </a:prstGeom>
          <a:noFill/>
          <a:ln/>
        </p:spPr>
        <p:txBody>
          <a:bodyPr wrap="square" lIns="0" tIns="0" rIns="0" bIns="0" rtlCol="0" anchor="ctr">
            <a:normAutofit/>
          </a:bodyPr>
          <a:lstStyle/>
          <a:p>
            <a:pPr algn="ctr" indent="0" marL="0">
              <a:buNone/>
            </a:pPr>
            <a:r>
              <a:rPr lang="en-US" sz="1600" b="1" dirty="0">
                <a:solidFill>
                  <a:srgbClr val="0F172A"/>
                </a:solidFill>
                <a:latin typeface="Aptos" pitchFamily="34" charset="0"/>
                <a:ea typeface="Aptos" pitchFamily="34" charset="-122"/>
                <a:cs typeface="Aptos" pitchFamily="34" charset="-120"/>
              </a:rPr>
              <a:t>An exacting brief is exactly the kind of brief a model is worst at honouring — every constraint above narrows it away from its most probable output.</a:t>
            </a:r>
            <a:endParaRPr lang="en-US" sz="16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TOLD EXPLICITLY. IGNORED ANYWAY.</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same mechanism that invents facts also overrides your instructions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What came back against the brief on the previous slide — all of it asked for in writing.</a:t>
            </a:r>
            <a:endParaRPr lang="en-US" sz="1200" dirty="0"/>
          </a:p>
        </p:txBody>
      </p:sp>
      <p:sp>
        <p:nvSpPr>
          <p:cNvPr id="5" name="Text 3"/>
          <p:cNvSpPr/>
          <p:nvPr/>
        </p:nvSpPr>
        <p:spPr>
          <a:xfrm>
            <a:off x="822960" y="1700784"/>
            <a:ext cx="3200400" cy="219456"/>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WHAT THE BRIEF SAID</a:t>
            </a:r>
            <a:endParaRPr lang="en-US" sz="1000" dirty="0"/>
          </a:p>
        </p:txBody>
      </p:sp>
      <p:sp>
        <p:nvSpPr>
          <p:cNvPr id="6" name="Text 4"/>
          <p:cNvSpPr/>
          <p:nvPr/>
        </p:nvSpPr>
        <p:spPr>
          <a:xfrm>
            <a:off x="4251960" y="1700784"/>
            <a:ext cx="2926080" cy="219456"/>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WHAT ARRIVED</a:t>
            </a:r>
            <a:endParaRPr lang="en-US" sz="1000" dirty="0"/>
          </a:p>
        </p:txBody>
      </p:sp>
      <p:sp>
        <p:nvSpPr>
          <p:cNvPr id="7" name="Text 5"/>
          <p:cNvSpPr/>
          <p:nvPr/>
        </p:nvSpPr>
        <p:spPr>
          <a:xfrm>
            <a:off x="7406640" y="1700784"/>
            <a:ext cx="4023360" cy="219456"/>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WHY THE MODEL DID THAT</a:t>
            </a:r>
            <a:endParaRPr lang="en-US" sz="1000" dirty="0"/>
          </a:p>
        </p:txBody>
      </p:sp>
      <p:sp>
        <p:nvSpPr>
          <p:cNvPr id="8" name="Shape 6"/>
          <p:cNvSpPr/>
          <p:nvPr/>
        </p:nvSpPr>
        <p:spPr>
          <a:xfrm>
            <a:off x="658368" y="2011680"/>
            <a:ext cx="10881360" cy="932688"/>
          </a:xfrm>
          <a:prstGeom prst="roundRect">
            <a:avLst>
              <a:gd name="adj" fmla="val 7843"/>
            </a:avLst>
          </a:prstGeom>
          <a:solidFill>
            <a:srgbClr val="FFFFFF"/>
          </a:solidFill>
          <a:ln w="12700">
            <a:solidFill>
              <a:srgbClr val="CBD5E1"/>
            </a:solidFill>
            <a:prstDash val="solid"/>
          </a:ln>
        </p:spPr>
      </p:sp>
      <p:sp>
        <p:nvSpPr>
          <p:cNvPr id="9" name="Text 7"/>
          <p:cNvSpPr/>
          <p:nvPr/>
        </p:nvSpPr>
        <p:spPr>
          <a:xfrm>
            <a:off x="868680" y="2286000"/>
            <a:ext cx="3200400" cy="384048"/>
          </a:xfrm>
          <a:prstGeom prst="rect">
            <a:avLst/>
          </a:prstGeom>
          <a:noFill/>
          <a:ln/>
        </p:spPr>
        <p:txBody>
          <a:bodyPr wrap="square" lIns="0" tIns="0" rIns="0" bIns="0" rtlCol="0" anchor="ctr">
            <a:normAutofit/>
          </a:bodyPr>
          <a:lstStyle/>
          <a:p>
            <a:pPr indent="0" marL="0">
              <a:buNone/>
            </a:pPr>
            <a:r>
              <a:rPr lang="en-US" sz="1500" b="1" dirty="0">
                <a:solidFill>
                  <a:srgbClr val="1D4ED8"/>
                </a:solidFill>
                <a:latin typeface="Aptos" pitchFamily="34" charset="0"/>
                <a:ea typeface="Aptos" pitchFamily="34" charset="-122"/>
                <a:cs typeface="Aptos" pitchFamily="34" charset="-120"/>
              </a:rPr>
              <a:t>SAP UI5 Web Components</a:t>
            </a:r>
            <a:endParaRPr lang="en-US" sz="1500" dirty="0"/>
          </a:p>
        </p:txBody>
      </p:sp>
      <p:sp>
        <p:nvSpPr>
          <p:cNvPr id="10" name="Text 8"/>
          <p:cNvSpPr/>
          <p:nvPr/>
        </p:nvSpPr>
        <p:spPr>
          <a:xfrm>
            <a:off x="4251960" y="2286000"/>
            <a:ext cx="2926080" cy="384048"/>
          </a:xfrm>
          <a:prstGeom prst="rect">
            <a:avLst/>
          </a:prstGeom>
          <a:noFill/>
          <a:ln/>
        </p:spPr>
        <p:txBody>
          <a:bodyPr wrap="square" lIns="0" tIns="0" rIns="0" bIns="0" rtlCol="0" anchor="ctr">
            <a:normAutofit/>
          </a:bodyPr>
          <a:lstStyle/>
          <a:p>
            <a:pPr indent="0" marL="0">
              <a:buNone/>
            </a:pPr>
            <a:r>
              <a:rPr lang="en-US" sz="1500" b="1" dirty="0">
                <a:solidFill>
                  <a:srgbClr val="B91C1C"/>
                </a:solidFill>
                <a:latin typeface="Aptos" pitchFamily="34" charset="0"/>
                <a:ea typeface="Aptos" pitchFamily="34" charset="-122"/>
                <a:cs typeface="Aptos" pitchFamily="34" charset="-120"/>
              </a:rPr>
              <a:t>A React single-page app</a:t>
            </a:r>
            <a:endParaRPr lang="en-US" sz="1500" dirty="0"/>
          </a:p>
        </p:txBody>
      </p:sp>
      <p:sp>
        <p:nvSpPr>
          <p:cNvPr id="11" name="Text 9"/>
          <p:cNvSpPr/>
          <p:nvPr/>
        </p:nvSpPr>
        <p:spPr>
          <a:xfrm>
            <a:off x="7406640" y="2176272"/>
            <a:ext cx="3931920" cy="621792"/>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React is overwhelmingly dominant in the training corpus for “web UI”. UI5 Web Components is a thin slice beside it.</a:t>
            </a:r>
            <a:endParaRPr lang="en-US" sz="1200" dirty="0"/>
          </a:p>
        </p:txBody>
      </p:sp>
      <p:sp>
        <p:nvSpPr>
          <p:cNvPr id="12" name="Shape 10"/>
          <p:cNvSpPr/>
          <p:nvPr/>
        </p:nvSpPr>
        <p:spPr>
          <a:xfrm>
            <a:off x="658368" y="3090672"/>
            <a:ext cx="10881360" cy="932688"/>
          </a:xfrm>
          <a:prstGeom prst="roundRect">
            <a:avLst>
              <a:gd name="adj" fmla="val 7843"/>
            </a:avLst>
          </a:prstGeom>
          <a:solidFill>
            <a:srgbClr val="FFFFFF"/>
          </a:solidFill>
          <a:ln w="12700">
            <a:solidFill>
              <a:srgbClr val="CBD5E1"/>
            </a:solidFill>
            <a:prstDash val="solid"/>
          </a:ln>
        </p:spPr>
      </p:sp>
      <p:sp>
        <p:nvSpPr>
          <p:cNvPr id="13" name="Text 11"/>
          <p:cNvSpPr/>
          <p:nvPr/>
        </p:nvSpPr>
        <p:spPr>
          <a:xfrm>
            <a:off x="868680" y="3364992"/>
            <a:ext cx="3200400" cy="384048"/>
          </a:xfrm>
          <a:prstGeom prst="rect">
            <a:avLst/>
          </a:prstGeom>
          <a:noFill/>
          <a:ln/>
        </p:spPr>
        <p:txBody>
          <a:bodyPr wrap="square" lIns="0" tIns="0" rIns="0" bIns="0" rtlCol="0" anchor="ctr">
            <a:normAutofit/>
          </a:bodyPr>
          <a:lstStyle/>
          <a:p>
            <a:pPr indent="0" marL="0">
              <a:buNone/>
            </a:pPr>
            <a:r>
              <a:rPr lang="en-US" sz="1500" b="1" dirty="0">
                <a:solidFill>
                  <a:srgbClr val="1D4ED8"/>
                </a:solidFill>
                <a:latin typeface="Aptos" pitchFamily="34" charset="0"/>
                <a:ea typeface="Aptos" pitchFamily="34" charset="-122"/>
                <a:cs typeface="Aptos" pitchFamily="34" charset="-120"/>
              </a:rPr>
              <a:t>Latest Spring Boot — i.e. 4</a:t>
            </a:r>
            <a:endParaRPr lang="en-US" sz="1500" dirty="0"/>
          </a:p>
        </p:txBody>
      </p:sp>
      <p:sp>
        <p:nvSpPr>
          <p:cNvPr id="14" name="Text 12"/>
          <p:cNvSpPr/>
          <p:nvPr/>
        </p:nvSpPr>
        <p:spPr>
          <a:xfrm>
            <a:off x="4251960" y="3364992"/>
            <a:ext cx="2926080" cy="384048"/>
          </a:xfrm>
          <a:prstGeom prst="rect">
            <a:avLst/>
          </a:prstGeom>
          <a:noFill/>
          <a:ln/>
        </p:spPr>
        <p:txBody>
          <a:bodyPr wrap="square" lIns="0" tIns="0" rIns="0" bIns="0" rtlCol="0" anchor="ctr">
            <a:normAutofit/>
          </a:bodyPr>
          <a:lstStyle/>
          <a:p>
            <a:pPr indent="0" marL="0">
              <a:buNone/>
            </a:pPr>
            <a:r>
              <a:rPr lang="en-US" sz="1500" b="1" dirty="0">
                <a:solidFill>
                  <a:srgbClr val="B91C1C"/>
                </a:solidFill>
                <a:latin typeface="Aptos" pitchFamily="34" charset="0"/>
                <a:ea typeface="Aptos" pitchFamily="34" charset="-122"/>
                <a:cs typeface="Aptos" pitchFamily="34" charset="-120"/>
              </a:rPr>
              <a:t>Spring Boot 3 + spring-boot-starter-web</a:t>
            </a:r>
            <a:endParaRPr lang="en-US" sz="1500" dirty="0"/>
          </a:p>
        </p:txBody>
      </p:sp>
      <p:sp>
        <p:nvSpPr>
          <p:cNvPr id="15" name="Text 13"/>
          <p:cNvSpPr/>
          <p:nvPr/>
        </p:nvSpPr>
        <p:spPr>
          <a:xfrm>
            <a:off x="7406640" y="3255264"/>
            <a:ext cx="3931920" cy="621792"/>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“Latest” resolves to the latest it has seen. Boot 4 sits at or past the cut-off, so it wrote the names it knew.</a:t>
            </a:r>
            <a:endParaRPr lang="en-US" sz="1200" dirty="0"/>
          </a:p>
        </p:txBody>
      </p:sp>
      <p:sp>
        <p:nvSpPr>
          <p:cNvPr id="16" name="Shape 14"/>
          <p:cNvSpPr/>
          <p:nvPr/>
        </p:nvSpPr>
        <p:spPr>
          <a:xfrm>
            <a:off x="658368" y="4169664"/>
            <a:ext cx="10881360" cy="932688"/>
          </a:xfrm>
          <a:prstGeom prst="roundRect">
            <a:avLst>
              <a:gd name="adj" fmla="val 7843"/>
            </a:avLst>
          </a:prstGeom>
          <a:solidFill>
            <a:srgbClr val="FFFFFF"/>
          </a:solidFill>
          <a:ln w="12700">
            <a:solidFill>
              <a:srgbClr val="CBD5E1"/>
            </a:solidFill>
            <a:prstDash val="solid"/>
          </a:ln>
        </p:spPr>
      </p:sp>
      <p:sp>
        <p:nvSpPr>
          <p:cNvPr id="17" name="Text 15"/>
          <p:cNvSpPr/>
          <p:nvPr/>
        </p:nvSpPr>
        <p:spPr>
          <a:xfrm>
            <a:off x="868680" y="4443984"/>
            <a:ext cx="3200400" cy="384048"/>
          </a:xfrm>
          <a:prstGeom prst="rect">
            <a:avLst/>
          </a:prstGeom>
          <a:noFill/>
          <a:ln/>
        </p:spPr>
        <p:txBody>
          <a:bodyPr wrap="square" lIns="0" tIns="0" rIns="0" bIns="0" rtlCol="0" anchor="ctr">
            <a:normAutofit/>
          </a:bodyPr>
          <a:lstStyle/>
          <a:p>
            <a:pPr indent="0" marL="0">
              <a:buNone/>
            </a:pPr>
            <a:r>
              <a:rPr lang="en-US" sz="1500" b="1" dirty="0">
                <a:solidFill>
                  <a:srgbClr val="1D4ED8"/>
                </a:solidFill>
                <a:latin typeface="Aptos" pitchFamily="34" charset="0"/>
                <a:ea typeface="Aptos" pitchFamily="34" charset="-122"/>
                <a:cs typeface="Aptos" pitchFamily="34" charset="-120"/>
              </a:rPr>
              <a:t>Enterprise-grade, as specified</a:t>
            </a:r>
            <a:endParaRPr lang="en-US" sz="1500" dirty="0"/>
          </a:p>
        </p:txBody>
      </p:sp>
      <p:sp>
        <p:nvSpPr>
          <p:cNvPr id="18" name="Text 16"/>
          <p:cNvSpPr/>
          <p:nvPr/>
        </p:nvSpPr>
        <p:spPr>
          <a:xfrm>
            <a:off x="4251960" y="4443984"/>
            <a:ext cx="2926080" cy="384048"/>
          </a:xfrm>
          <a:prstGeom prst="rect">
            <a:avLst/>
          </a:prstGeom>
          <a:noFill/>
          <a:ln/>
        </p:spPr>
        <p:txBody>
          <a:bodyPr wrap="square" lIns="0" tIns="0" rIns="0" bIns="0" rtlCol="0" anchor="ctr">
            <a:normAutofit/>
          </a:bodyPr>
          <a:lstStyle/>
          <a:p>
            <a:pPr indent="0" marL="0">
              <a:buNone/>
            </a:pPr>
            <a:r>
              <a:rPr lang="en-US" sz="1500" b="1" dirty="0">
                <a:solidFill>
                  <a:srgbClr val="B91C1C"/>
                </a:solidFill>
                <a:latin typeface="Aptos" pitchFamily="34" charset="0"/>
                <a:ea typeface="Aptos" pitchFamily="34" charset="-122"/>
                <a:cs typeface="Aptos" pitchFamily="34" charset="-120"/>
              </a:rPr>
              <a:t>A generic, perfectly reasonable tutorial app</a:t>
            </a:r>
            <a:endParaRPr lang="en-US" sz="1500" dirty="0"/>
          </a:p>
        </p:txBody>
      </p:sp>
      <p:sp>
        <p:nvSpPr>
          <p:cNvPr id="19" name="Text 17"/>
          <p:cNvSpPr/>
          <p:nvPr/>
        </p:nvSpPr>
        <p:spPr>
          <a:xfrm>
            <a:off x="7406640" y="4334256"/>
            <a:ext cx="3931920" cy="621792"/>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Absent an explicit contract, it fills the gap with the statistical average of every similar project it has read.</a:t>
            </a:r>
            <a:endParaRPr lang="en-US" sz="1200" dirty="0"/>
          </a:p>
        </p:txBody>
      </p:sp>
      <p:sp>
        <p:nvSpPr>
          <p:cNvPr id="20" name="Text 18"/>
          <p:cNvSpPr/>
          <p:nvPr/>
        </p:nvSpPr>
        <p:spPr>
          <a:xfrm>
            <a:off x="731520" y="5440680"/>
            <a:ext cx="10698480" cy="411480"/>
          </a:xfrm>
          <a:prstGeom prst="rect">
            <a:avLst/>
          </a:prstGeom>
          <a:noFill/>
          <a:ln/>
        </p:spPr>
        <p:txBody>
          <a:bodyPr wrap="square" lIns="0" tIns="0" rIns="0" bIns="0" rtlCol="0" anchor="ctr">
            <a:normAutofit/>
          </a:bodyPr>
          <a:lstStyle/>
          <a:p>
            <a:pPr algn="ctr" indent="0" marL="0">
              <a:buNone/>
            </a:pPr>
            <a:r>
              <a:rPr lang="en-US" sz="1900" b="1" dirty="0">
                <a:solidFill>
                  <a:srgbClr val="0F172A"/>
                </a:solidFill>
                <a:latin typeface="Aptos" pitchFamily="34" charset="0"/>
                <a:ea typeface="Aptos" pitchFamily="34" charset="-122"/>
                <a:cs typeface="Aptos" pitchFamily="34" charset="-120"/>
              </a:rPr>
              <a:t>Statistical gravity beats an explicit instruction. A stronger prompt does not fix this — a machine-checkable constraint does.</a:t>
            </a:r>
            <a:endParaRPr lang="en-US" sz="1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SPECIFY THE ARCHITECTURE, THEN MAKE IT CHECKABLE</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Prose is a suggestion. A pinned version and a failing check are not.</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The fix for “it ignored me” is to move the requirement out of the prompt and into the build.</a:t>
            </a:r>
            <a:endParaRPr lang="en-US" sz="1200" dirty="0"/>
          </a:p>
        </p:txBody>
      </p:sp>
      <p:sp>
        <p:nvSpPr>
          <p:cNvPr id="5" name="Shape 3"/>
          <p:cNvSpPr/>
          <p:nvPr/>
        </p:nvSpPr>
        <p:spPr>
          <a:xfrm>
            <a:off x="685800" y="1719072"/>
            <a:ext cx="5349240" cy="3474720"/>
          </a:xfrm>
          <a:prstGeom prst="roundRect">
            <a:avLst>
              <a:gd name="adj" fmla="val 1579"/>
            </a:avLst>
          </a:prstGeom>
          <a:solidFill>
            <a:srgbClr val="0B1220"/>
          </a:solidFill>
          <a:ln w="12700">
            <a:solidFill>
              <a:srgbClr val="1E293B"/>
            </a:solidFill>
            <a:prstDash val="solid"/>
          </a:ln>
        </p:spPr>
      </p:sp>
      <p:sp>
        <p:nvSpPr>
          <p:cNvPr id="6" name="Text 4"/>
          <p:cNvSpPr/>
          <p:nvPr/>
        </p:nvSpPr>
        <p:spPr>
          <a:xfrm>
            <a:off x="850392" y="1847088"/>
            <a:ext cx="5020056" cy="3255264"/>
          </a:xfrm>
          <a:prstGeom prst="rect">
            <a:avLst/>
          </a:prstGeom>
          <a:noFill/>
          <a:ln/>
        </p:spPr>
        <p:txBody>
          <a:bodyPr wrap="square" lIns="0" tIns="0" rIns="0" bIns="0" rtlCol="0" anchor="t">
            <a:normAutofit/>
          </a:bodyPr>
          <a:lstStyle/>
          <a:p>
            <a:pPr indent="0" marL="0">
              <a:buNone/>
            </a:pPr>
            <a:r>
              <a:rPr lang="en-US" sz="1200" dirty="0">
                <a:solidFill>
                  <a:srgbClr val="D1FAE5"/>
                </a:solidFill>
                <a:latin typeface="Consolas" pitchFamily="34" charset="0"/>
                <a:ea typeface="Consolas" pitchFamily="34" charset="-122"/>
                <a:cs typeface="Consolas" pitchFamily="34" charset="-120"/>
              </a:rPr>
              <a:t>&lt;parent&gt;</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  &lt;groupId&gt;org.springframework.boot&lt;/groupId&gt;</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  &lt;artifactId&gt;spring-boot-starter-parent&lt;/artifactId&gt;</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  &lt;version&gt;4.1.1&lt;/version&gt;</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&lt;/parent&gt;</a:t>
            </a:r>
            <a:endParaRPr lang="en-US" sz="1200" dirty="0"/>
          </a:p>
          <a:p>
            <a:pPr indent="0" marL="0">
              <a:buNone/>
            </a:pP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&lt;!-- Boot 4 renamed the MVC starter --&gt;</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&lt;artifactId&gt;spring-boot-starter-webmvc&lt;/artifactId&gt;</a:t>
            </a:r>
            <a:endParaRPr lang="en-US" sz="1200" dirty="0"/>
          </a:p>
          <a:p>
            <a:pPr indent="0" marL="0">
              <a:buNone/>
            </a:pP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 and the property prefix moved too</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spring.mongodb.uri=mongodb://localhost:27017</a:t>
            </a:r>
            <a:endParaRPr lang="en-US" sz="1200" dirty="0"/>
          </a:p>
        </p:txBody>
      </p:sp>
      <p:sp>
        <p:nvSpPr>
          <p:cNvPr id="7" name="Shape 5"/>
          <p:cNvSpPr/>
          <p:nvPr/>
        </p:nvSpPr>
        <p:spPr>
          <a:xfrm>
            <a:off x="6263640" y="1719072"/>
            <a:ext cx="5257800" cy="3474720"/>
          </a:xfrm>
          <a:prstGeom prst="roundRect">
            <a:avLst>
              <a:gd name="adj" fmla="val 1579"/>
            </a:avLst>
          </a:prstGeom>
          <a:solidFill>
            <a:srgbClr val="0B1220"/>
          </a:solidFill>
          <a:ln w="12700">
            <a:solidFill>
              <a:srgbClr val="1E293B"/>
            </a:solidFill>
            <a:prstDash val="solid"/>
          </a:ln>
        </p:spPr>
      </p:sp>
      <p:sp>
        <p:nvSpPr>
          <p:cNvPr id="8" name="Text 6"/>
          <p:cNvSpPr/>
          <p:nvPr/>
        </p:nvSpPr>
        <p:spPr>
          <a:xfrm>
            <a:off x="6428232" y="1847088"/>
            <a:ext cx="4928616" cy="3255264"/>
          </a:xfrm>
          <a:prstGeom prst="rect">
            <a:avLst/>
          </a:prstGeom>
          <a:noFill/>
          <a:ln/>
        </p:spPr>
        <p:txBody>
          <a:bodyPr wrap="square" lIns="0" tIns="0" rIns="0" bIns="0" rtlCol="0" anchor="t">
            <a:normAutofit/>
          </a:bodyPr>
          <a:lstStyle/>
          <a:p>
            <a:pPr indent="0" marL="0">
              <a:buNone/>
            </a:pPr>
            <a:r>
              <a:rPr lang="en-US" sz="1200" dirty="0">
                <a:solidFill>
                  <a:srgbClr val="D1FAE5"/>
                </a:solidFill>
                <a:latin typeface="Consolas" pitchFamily="34" charset="0"/>
                <a:ea typeface="Consolas" pitchFamily="34" charset="-122"/>
                <a:cs typeface="Consolas" pitchFamily="34" charset="-120"/>
              </a:rPr>
              <a:t># architecture contract, verified every run</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grep -q '"@ui5/webcomponents"' package.json</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 grep -q '"react"' package.json</a:t>
            </a:r>
            <a:endParaRPr lang="en-US" sz="1200" dirty="0"/>
          </a:p>
          <a:p>
            <a:pPr indent="0" marL="0">
              <a:buNone/>
            </a:pP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mvn -q dependency:tree \</a:t>
            </a: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  | grep -q 'spring-boot:jar:4'</a:t>
            </a:r>
            <a:endParaRPr lang="en-US" sz="1200" dirty="0"/>
          </a:p>
          <a:p>
            <a:pPr indent="0" marL="0">
              <a:buNone/>
            </a:pPr>
            <a:endParaRPr lang="en-US" sz="1200" dirty="0"/>
          </a:p>
          <a:p>
            <a:pPr indent="0" marL="0">
              <a:buNone/>
            </a:pPr>
            <a:r>
              <a:rPr lang="en-US" sz="1200" dirty="0">
                <a:solidFill>
                  <a:srgbClr val="D1FAE5"/>
                </a:solidFill>
                <a:latin typeface="Consolas" pitchFamily="34" charset="0"/>
                <a:ea typeface="Consolas" pitchFamily="34" charset="-122"/>
                <a:cs typeface="Consolas" pitchFamily="34" charset="-120"/>
              </a:rPr>
              <a:t># the agent cannot argue with a red build</a:t>
            </a:r>
            <a:endParaRPr lang="en-US" sz="1200" dirty="0"/>
          </a:p>
        </p:txBody>
      </p:sp>
      <p:sp>
        <p:nvSpPr>
          <p:cNvPr id="9" name="Shape 7"/>
          <p:cNvSpPr/>
          <p:nvPr/>
        </p:nvSpPr>
        <p:spPr>
          <a:xfrm>
            <a:off x="777240" y="5413248"/>
            <a:ext cx="2377440" cy="310896"/>
          </a:xfrm>
          <a:prstGeom prst="roundRect">
            <a:avLst>
              <a:gd name="adj" fmla="val 44118"/>
            </a:avLst>
          </a:prstGeom>
          <a:solidFill>
            <a:srgbClr val="CCFBF1"/>
          </a:solidFill>
          <a:ln w="12700">
            <a:solidFill>
              <a:srgbClr val="CCFBF1"/>
            </a:solidFill>
            <a:prstDash val="solid"/>
          </a:ln>
        </p:spPr>
      </p:sp>
      <p:sp>
        <p:nvSpPr>
          <p:cNvPr id="10" name="Text 8"/>
          <p:cNvSpPr/>
          <p:nvPr/>
        </p:nvSpPr>
        <p:spPr>
          <a:xfrm>
            <a:off x="777240" y="5431536"/>
            <a:ext cx="237744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PIN THE VERSION</a:t>
            </a:r>
            <a:endParaRPr lang="en-US" sz="900" dirty="0"/>
          </a:p>
        </p:txBody>
      </p:sp>
      <p:sp>
        <p:nvSpPr>
          <p:cNvPr id="11" name="Shape 9"/>
          <p:cNvSpPr/>
          <p:nvPr/>
        </p:nvSpPr>
        <p:spPr>
          <a:xfrm>
            <a:off x="3337560" y="5413248"/>
            <a:ext cx="2743200" cy="310896"/>
          </a:xfrm>
          <a:prstGeom prst="roundRect">
            <a:avLst>
              <a:gd name="adj" fmla="val 44118"/>
            </a:avLst>
          </a:prstGeom>
          <a:solidFill>
            <a:srgbClr val="CCFBF1"/>
          </a:solidFill>
          <a:ln w="12700">
            <a:solidFill>
              <a:srgbClr val="CCFBF1"/>
            </a:solidFill>
            <a:prstDash val="solid"/>
          </a:ln>
        </p:spPr>
      </p:sp>
      <p:sp>
        <p:nvSpPr>
          <p:cNvPr id="12" name="Text 10"/>
          <p:cNvSpPr/>
          <p:nvPr/>
        </p:nvSpPr>
        <p:spPr>
          <a:xfrm>
            <a:off x="3337560" y="5431536"/>
            <a:ext cx="274320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NAME THE EXACT LIBRARY</a:t>
            </a:r>
            <a:endParaRPr lang="en-US" sz="900" dirty="0"/>
          </a:p>
        </p:txBody>
      </p:sp>
      <p:sp>
        <p:nvSpPr>
          <p:cNvPr id="13" name="Shape 11"/>
          <p:cNvSpPr/>
          <p:nvPr/>
        </p:nvSpPr>
        <p:spPr>
          <a:xfrm>
            <a:off x="6263640" y="5413248"/>
            <a:ext cx="2377440" cy="310896"/>
          </a:xfrm>
          <a:prstGeom prst="roundRect">
            <a:avLst>
              <a:gd name="adj" fmla="val 44118"/>
            </a:avLst>
          </a:prstGeom>
          <a:solidFill>
            <a:srgbClr val="FEE2E2"/>
          </a:solidFill>
          <a:ln w="12700">
            <a:solidFill>
              <a:srgbClr val="FEE2E2"/>
            </a:solidFill>
            <a:prstDash val="solid"/>
          </a:ln>
        </p:spPr>
      </p:sp>
      <p:sp>
        <p:nvSpPr>
          <p:cNvPr id="14" name="Text 12"/>
          <p:cNvSpPr/>
          <p:nvPr/>
        </p:nvSpPr>
        <p:spPr>
          <a:xfrm>
            <a:off x="6263640" y="5431536"/>
            <a:ext cx="2377440" cy="182880"/>
          </a:xfrm>
          <a:prstGeom prst="rect">
            <a:avLst/>
          </a:prstGeom>
          <a:noFill/>
          <a:ln/>
        </p:spPr>
        <p:txBody>
          <a:bodyPr wrap="square" lIns="0" tIns="0" rIns="0" bIns="0" rtlCol="0" anchor="ctr">
            <a:normAutofit/>
          </a:bodyPr>
          <a:lstStyle/>
          <a:p>
            <a:pPr algn="ctr" indent="0" marL="0">
              <a:buNone/>
            </a:pPr>
            <a:r>
              <a:rPr lang="en-US" sz="900" b="1" dirty="0">
                <a:solidFill>
                  <a:srgbClr val="B91C1C"/>
                </a:solidFill>
                <a:latin typeface="Aptos" pitchFamily="34" charset="0"/>
                <a:ea typeface="Aptos" pitchFamily="34" charset="-122"/>
                <a:cs typeface="Aptos" pitchFamily="34" charset="-120"/>
              </a:rPr>
              <a:t>FORBID THE DEFAULT</a:t>
            </a:r>
            <a:endParaRPr lang="en-US" sz="900" dirty="0"/>
          </a:p>
        </p:txBody>
      </p:sp>
      <p:sp>
        <p:nvSpPr>
          <p:cNvPr id="15" name="Shape 13"/>
          <p:cNvSpPr/>
          <p:nvPr/>
        </p:nvSpPr>
        <p:spPr>
          <a:xfrm>
            <a:off x="8823960" y="5413248"/>
            <a:ext cx="2103120" cy="310896"/>
          </a:xfrm>
          <a:prstGeom prst="roundRect">
            <a:avLst>
              <a:gd name="adj" fmla="val 44118"/>
            </a:avLst>
          </a:prstGeom>
          <a:solidFill>
            <a:srgbClr val="EDE9FE"/>
          </a:solidFill>
          <a:ln w="12700">
            <a:solidFill>
              <a:srgbClr val="EDE9FE"/>
            </a:solidFill>
            <a:prstDash val="solid"/>
          </a:ln>
        </p:spPr>
      </p:sp>
      <p:sp>
        <p:nvSpPr>
          <p:cNvPr id="16" name="Text 14"/>
          <p:cNvSpPr/>
          <p:nvPr/>
        </p:nvSpPr>
        <p:spPr>
          <a:xfrm>
            <a:off x="8823960" y="5431536"/>
            <a:ext cx="2103120" cy="182880"/>
          </a:xfrm>
          <a:prstGeom prst="rect">
            <a:avLst/>
          </a:prstGeom>
          <a:noFill/>
          <a:ln/>
        </p:spPr>
        <p:txBody>
          <a:bodyPr wrap="square" lIns="0" tIns="0" rIns="0" bIns="0" rtlCol="0" anchor="ctr">
            <a:normAutofit/>
          </a:bodyPr>
          <a:lstStyle/>
          <a:p>
            <a:pPr algn="ctr" indent="0" marL="0">
              <a:buNone/>
            </a:pPr>
            <a:r>
              <a:rPr lang="en-US" sz="900" b="1" dirty="0">
                <a:solidFill>
                  <a:srgbClr val="6D28D9"/>
                </a:solidFill>
                <a:latin typeface="Aptos" pitchFamily="34" charset="0"/>
                <a:ea typeface="Aptos" pitchFamily="34" charset="-122"/>
                <a:cs typeface="Aptos" pitchFamily="34" charset="-120"/>
              </a:rPr>
              <a:t>FAIL THE BUILD</a:t>
            </a:r>
            <a:endParaRPr lang="en-US" sz="900" dirty="0"/>
          </a:p>
        </p:txBody>
      </p:sp>
      <p:sp>
        <p:nvSpPr>
          <p:cNvPr id="17" name="Text 15"/>
          <p:cNvSpPr/>
          <p:nvPr/>
        </p:nvSpPr>
        <p:spPr>
          <a:xfrm>
            <a:off x="731520" y="5943600"/>
            <a:ext cx="10698480" cy="320040"/>
          </a:xfrm>
          <a:prstGeom prst="rect">
            <a:avLst/>
          </a:prstGeom>
          <a:noFill/>
          <a:ln/>
        </p:spPr>
        <p:txBody>
          <a:bodyPr wrap="square" lIns="0" tIns="0" rIns="0" bIns="0" rtlCol="0" anchor="ctr">
            <a:normAutofit/>
          </a:bodyPr>
          <a:lstStyle/>
          <a:p>
            <a:pPr algn="ctr" indent="0" marL="0">
              <a:buNone/>
            </a:pPr>
            <a:r>
              <a:rPr lang="en-US" sz="1500" b="1" dirty="0">
                <a:solidFill>
                  <a:srgbClr val="334155"/>
                </a:solidFill>
                <a:latin typeface="Aptos" pitchFamily="34" charset="0"/>
                <a:ea typeface="Aptos" pitchFamily="34" charset="-122"/>
                <a:cs typeface="Aptos" pitchFamily="34" charset="-120"/>
              </a:rPr>
              <a:t>Everything the model must not guess should exist as a version, a test, a lint rule, or a schema.</a:t>
            </a:r>
            <a:endParaRPr lang="en-US" sz="15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GROUNDING IS AN INTERFACE CONTRACT</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same discipline applied to the model at runtime</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Define the allowed evidence, the abstention rule, and the citation shape explicitly.</a:t>
            </a:r>
            <a:endParaRPr lang="en-US" sz="1200" dirty="0"/>
          </a:p>
        </p:txBody>
      </p:sp>
      <p:sp>
        <p:nvSpPr>
          <p:cNvPr id="5" name="Shape 3"/>
          <p:cNvSpPr/>
          <p:nvPr/>
        </p:nvSpPr>
        <p:spPr>
          <a:xfrm>
            <a:off x="685800" y="1737360"/>
            <a:ext cx="5349240" cy="3429000"/>
          </a:xfrm>
          <a:prstGeom prst="roundRect">
            <a:avLst>
              <a:gd name="adj" fmla="val 1600"/>
            </a:avLst>
          </a:prstGeom>
          <a:solidFill>
            <a:srgbClr val="0B1220"/>
          </a:solidFill>
          <a:ln w="12700">
            <a:solidFill>
              <a:srgbClr val="1E293B"/>
            </a:solidFill>
            <a:prstDash val="solid"/>
          </a:ln>
        </p:spPr>
      </p:sp>
      <p:sp>
        <p:nvSpPr>
          <p:cNvPr id="6" name="Text 4"/>
          <p:cNvSpPr/>
          <p:nvPr/>
        </p:nvSpPr>
        <p:spPr>
          <a:xfrm>
            <a:off x="850392" y="1865376"/>
            <a:ext cx="5020056" cy="3209544"/>
          </a:xfrm>
          <a:prstGeom prst="rect">
            <a:avLst/>
          </a:prstGeom>
          <a:noFill/>
          <a:ln/>
        </p:spPr>
        <p:txBody>
          <a:bodyPr wrap="square" lIns="0" tIns="0" rIns="0" bIns="0" rtlCol="0" anchor="t">
            <a:normAutofit/>
          </a:bodyPr>
          <a:lstStyle/>
          <a:p>
            <a:pPr indent="0" marL="0">
              <a:buNone/>
            </a:pPr>
            <a:r>
              <a:rPr lang="en-US" sz="1300" dirty="0">
                <a:solidFill>
                  <a:srgbClr val="D1FAE5"/>
                </a:solidFill>
                <a:latin typeface="Consolas" pitchFamily="34" charset="0"/>
                <a:ea typeface="Consolas" pitchFamily="34" charset="-122"/>
                <a:cs typeface="Consolas" pitchFamily="34" charset="-120"/>
              </a:rPr>
              <a:t>String systemPrompt = """</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Answer using ONLY the retrieved context below.</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If the context does not contain the answer,</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say that the document does not provide it.</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Cite the supporting excerpts.</a:t>
            </a:r>
            <a:endParaRPr lang="en-US" sz="1300" dirty="0"/>
          </a:p>
          <a:p>
            <a:pPr indent="0" marL="0">
              <a:buNone/>
            </a:pP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Retrieved context:</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%s</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a:t>
            </a:r>
            <a:endParaRPr lang="en-US" sz="1300" dirty="0"/>
          </a:p>
        </p:txBody>
      </p:sp>
      <p:sp>
        <p:nvSpPr>
          <p:cNvPr id="7" name="Shape 5"/>
          <p:cNvSpPr/>
          <p:nvPr/>
        </p:nvSpPr>
        <p:spPr>
          <a:xfrm>
            <a:off x="6263640" y="1737360"/>
            <a:ext cx="5257800" cy="3429000"/>
          </a:xfrm>
          <a:prstGeom prst="roundRect">
            <a:avLst>
              <a:gd name="adj" fmla="val 1600"/>
            </a:avLst>
          </a:prstGeom>
          <a:solidFill>
            <a:srgbClr val="0B1220"/>
          </a:solidFill>
          <a:ln w="12700">
            <a:solidFill>
              <a:srgbClr val="1E293B"/>
            </a:solidFill>
            <a:prstDash val="solid"/>
          </a:ln>
        </p:spPr>
      </p:sp>
      <p:sp>
        <p:nvSpPr>
          <p:cNvPr id="8" name="Text 6"/>
          <p:cNvSpPr/>
          <p:nvPr/>
        </p:nvSpPr>
        <p:spPr>
          <a:xfrm>
            <a:off x="6428232" y="1865376"/>
            <a:ext cx="4928616" cy="3209544"/>
          </a:xfrm>
          <a:prstGeom prst="rect">
            <a:avLst/>
          </a:prstGeom>
          <a:noFill/>
          <a:ln/>
        </p:spPr>
        <p:txBody>
          <a:bodyPr wrap="square" lIns="0" tIns="0" rIns="0" bIns="0" rtlCol="0" anchor="t">
            <a:normAutofit/>
          </a:bodyPr>
          <a:lstStyle/>
          <a:p>
            <a:pPr indent="0" marL="0">
              <a:buNone/>
            </a:pPr>
            <a:r>
              <a:rPr lang="en-US" sz="1300" dirty="0">
                <a:solidFill>
                  <a:srgbClr val="D1FAE5"/>
                </a:solidFill>
                <a:latin typeface="Consolas" pitchFamily="34" charset="0"/>
                <a:ea typeface="Consolas" pitchFamily="34" charset="-122"/>
                <a:cs typeface="Consolas" pitchFamily="34" charset="-120"/>
              </a:rPr>
              <a:t>const context = results</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.map((chunk, i) =&gt; `[Excerpt ${i + 1}] ${chunk.text}`)</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.join(String.fromCharCode(10));</a:t>
            </a:r>
            <a:endParaRPr lang="en-US" sz="1300" dirty="0"/>
          </a:p>
          <a:p>
            <a:pPr indent="0" marL="0">
              <a:buNone/>
            </a:pP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const answer = await chatClient</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.prompt()</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.system(systemPrompt.formatted(context))</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.user(question)</a:t>
            </a:r>
            <a:endParaRPr lang="en-US" sz="1300" dirty="0"/>
          </a:p>
          <a:p>
            <a:pPr indent="0" marL="0">
              <a:buNone/>
            </a:pPr>
            <a:r>
              <a:rPr lang="en-US" sz="1300" dirty="0">
                <a:solidFill>
                  <a:srgbClr val="D1FAE5"/>
                </a:solidFill>
                <a:latin typeface="Consolas" pitchFamily="34" charset="0"/>
                <a:ea typeface="Consolas" pitchFamily="34" charset="-122"/>
                <a:cs typeface="Consolas" pitchFamily="34" charset="-120"/>
              </a:rPr>
              <a:t>  .call();</a:t>
            </a:r>
            <a:endParaRPr lang="en-US" sz="1300" dirty="0"/>
          </a:p>
        </p:txBody>
      </p:sp>
      <p:sp>
        <p:nvSpPr>
          <p:cNvPr id="9" name="Shape 7"/>
          <p:cNvSpPr/>
          <p:nvPr/>
        </p:nvSpPr>
        <p:spPr>
          <a:xfrm>
            <a:off x="777240" y="5440680"/>
            <a:ext cx="2971800" cy="310896"/>
          </a:xfrm>
          <a:prstGeom prst="roundRect">
            <a:avLst>
              <a:gd name="adj" fmla="val 44118"/>
            </a:avLst>
          </a:prstGeom>
          <a:solidFill>
            <a:srgbClr val="CCFBF1"/>
          </a:solidFill>
          <a:ln w="12700">
            <a:solidFill>
              <a:srgbClr val="CCFBF1"/>
            </a:solidFill>
            <a:prstDash val="solid"/>
          </a:ln>
        </p:spPr>
      </p:sp>
      <p:sp>
        <p:nvSpPr>
          <p:cNvPr id="10" name="Text 8"/>
          <p:cNvSpPr/>
          <p:nvPr/>
        </p:nvSpPr>
        <p:spPr>
          <a:xfrm>
            <a:off x="777240" y="5458968"/>
            <a:ext cx="297180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GOOD: evidence boundary + abstention path</a:t>
            </a:r>
            <a:endParaRPr lang="en-US" sz="900" dirty="0"/>
          </a:p>
        </p:txBody>
      </p:sp>
      <p:sp>
        <p:nvSpPr>
          <p:cNvPr id="11" name="Shape 9"/>
          <p:cNvSpPr/>
          <p:nvPr/>
        </p:nvSpPr>
        <p:spPr>
          <a:xfrm>
            <a:off x="3977640" y="5440680"/>
            <a:ext cx="2103120" cy="310896"/>
          </a:xfrm>
          <a:prstGeom prst="roundRect">
            <a:avLst>
              <a:gd name="adj" fmla="val 44118"/>
            </a:avLst>
          </a:prstGeom>
          <a:solidFill>
            <a:srgbClr val="FEE2E2"/>
          </a:solidFill>
          <a:ln w="12700">
            <a:solidFill>
              <a:srgbClr val="FEE2E2"/>
            </a:solidFill>
            <a:prstDash val="solid"/>
          </a:ln>
        </p:spPr>
      </p:sp>
      <p:sp>
        <p:nvSpPr>
          <p:cNvPr id="12" name="Text 10"/>
          <p:cNvSpPr/>
          <p:nvPr/>
        </p:nvSpPr>
        <p:spPr>
          <a:xfrm>
            <a:off x="3977640" y="5458968"/>
            <a:ext cx="2103120" cy="182880"/>
          </a:xfrm>
          <a:prstGeom prst="rect">
            <a:avLst/>
          </a:prstGeom>
          <a:noFill/>
          <a:ln/>
        </p:spPr>
        <p:txBody>
          <a:bodyPr wrap="square" lIns="0" tIns="0" rIns="0" bIns="0" rtlCol="0" anchor="ctr">
            <a:normAutofit/>
          </a:bodyPr>
          <a:lstStyle/>
          <a:p>
            <a:pPr algn="ctr" indent="0" marL="0">
              <a:buNone/>
            </a:pPr>
            <a:r>
              <a:rPr lang="en-US" sz="900" b="1" dirty="0">
                <a:solidFill>
                  <a:srgbClr val="B91C1C"/>
                </a:solidFill>
                <a:latin typeface="Aptos" pitchFamily="34" charset="0"/>
                <a:ea typeface="Aptos" pitchFamily="34" charset="-122"/>
                <a:cs typeface="Aptos" pitchFamily="34" charset="-120"/>
              </a:rPr>
              <a:t>NOT ENOUGH: “be accurate”</a:t>
            </a:r>
            <a:endParaRPr lang="en-US" sz="900" dirty="0"/>
          </a:p>
        </p:txBody>
      </p:sp>
      <p:sp>
        <p:nvSpPr>
          <p:cNvPr id="13" name="Shape 11"/>
          <p:cNvSpPr/>
          <p:nvPr/>
        </p:nvSpPr>
        <p:spPr>
          <a:xfrm>
            <a:off x="6355080" y="5440680"/>
            <a:ext cx="2743200" cy="310896"/>
          </a:xfrm>
          <a:prstGeom prst="roundRect">
            <a:avLst>
              <a:gd name="adj" fmla="val 44118"/>
            </a:avLst>
          </a:prstGeom>
          <a:solidFill>
            <a:srgbClr val="EDE9FE"/>
          </a:solidFill>
          <a:ln w="12700">
            <a:solidFill>
              <a:srgbClr val="EDE9FE"/>
            </a:solidFill>
            <a:prstDash val="solid"/>
          </a:ln>
        </p:spPr>
      </p:sp>
      <p:sp>
        <p:nvSpPr>
          <p:cNvPr id="14" name="Text 12"/>
          <p:cNvSpPr/>
          <p:nvPr/>
        </p:nvSpPr>
        <p:spPr>
          <a:xfrm>
            <a:off x="6355080" y="5458968"/>
            <a:ext cx="2743200" cy="182880"/>
          </a:xfrm>
          <a:prstGeom prst="rect">
            <a:avLst/>
          </a:prstGeom>
          <a:noFill/>
          <a:ln/>
        </p:spPr>
        <p:txBody>
          <a:bodyPr wrap="square" lIns="0" tIns="0" rIns="0" bIns="0" rtlCol="0" anchor="ctr">
            <a:normAutofit/>
          </a:bodyPr>
          <a:lstStyle/>
          <a:p>
            <a:pPr algn="ctr" indent="0" marL="0">
              <a:buNone/>
            </a:pPr>
            <a:r>
              <a:rPr lang="en-US" sz="900" b="1" dirty="0">
                <a:solidFill>
                  <a:srgbClr val="6D28D9"/>
                </a:solidFill>
                <a:latin typeface="Aptos" pitchFamily="34" charset="0"/>
                <a:ea typeface="Aptos" pitchFamily="34" charset="-122"/>
                <a:cs typeface="Aptos" pitchFamily="34" charset="-120"/>
              </a:rPr>
              <a:t>ALSO NEEDED: inspectable citations</a:t>
            </a:r>
            <a:endParaRPr lang="en-US" sz="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THE LOOP THAT PRODUCED THIS REPOSITORY</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AI can absolutely implement an application — just not in one pass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Specify, generate, verify, correct. Remove any one step and the result drifts.</a:t>
            </a:r>
            <a:endParaRPr lang="en-US" sz="1200" dirty="0"/>
          </a:p>
        </p:txBody>
      </p:sp>
      <p:sp>
        <p:nvSpPr>
          <p:cNvPr id="5" name="Shape 3"/>
          <p:cNvSpPr/>
          <p:nvPr/>
        </p:nvSpPr>
        <p:spPr>
          <a:xfrm>
            <a:off x="566928" y="1783080"/>
            <a:ext cx="2514600" cy="3063240"/>
          </a:xfrm>
          <a:prstGeom prst="roundRect">
            <a:avLst>
              <a:gd name="adj" fmla="val 2909"/>
            </a:avLst>
          </a:prstGeom>
          <a:solidFill>
            <a:srgbClr val="FFFFFF"/>
          </a:solidFill>
          <a:ln w="12700">
            <a:solidFill>
              <a:srgbClr val="CBD5E1"/>
            </a:solidFill>
            <a:prstDash val="solid"/>
          </a:ln>
        </p:spPr>
      </p:sp>
      <p:sp>
        <p:nvSpPr>
          <p:cNvPr id="6" name="Text 4"/>
          <p:cNvSpPr/>
          <p:nvPr/>
        </p:nvSpPr>
        <p:spPr>
          <a:xfrm>
            <a:off x="749808" y="1993392"/>
            <a:ext cx="365760" cy="274320"/>
          </a:xfrm>
          <a:prstGeom prst="rect">
            <a:avLst/>
          </a:prstGeom>
          <a:noFill/>
          <a:ln/>
        </p:spPr>
        <p:txBody>
          <a:bodyPr wrap="square" lIns="0" tIns="0" rIns="0" bIns="0" rtlCol="0" anchor="ctr">
            <a:normAutofit/>
          </a:bodyPr>
          <a:lstStyle/>
          <a:p>
            <a:pPr indent="0" marL="0">
              <a:buNone/>
            </a:pPr>
            <a:r>
              <a:rPr lang="en-US" sz="2000" b="1" dirty="0">
                <a:solidFill>
                  <a:srgbClr val="1D4ED8"/>
                </a:solidFill>
                <a:latin typeface="Aptos" pitchFamily="34" charset="0"/>
                <a:ea typeface="Aptos" pitchFamily="34" charset="-122"/>
                <a:cs typeface="Aptos" pitchFamily="34" charset="-120"/>
              </a:rPr>
              <a:t>1</a:t>
            </a:r>
            <a:endParaRPr lang="en-US" sz="2000" dirty="0"/>
          </a:p>
        </p:txBody>
      </p:sp>
      <p:sp>
        <p:nvSpPr>
          <p:cNvPr id="7" name="Text 5"/>
          <p:cNvSpPr/>
          <p:nvPr/>
        </p:nvSpPr>
        <p:spPr>
          <a:xfrm>
            <a:off x="1225296" y="2029968"/>
            <a:ext cx="1645920" cy="228600"/>
          </a:xfrm>
          <a:prstGeom prst="rect">
            <a:avLst/>
          </a:prstGeom>
          <a:noFill/>
          <a:ln/>
        </p:spPr>
        <p:txBody>
          <a:bodyPr wrap="square" lIns="0" tIns="0" rIns="0" bIns="0" rtlCol="0" anchor="ctr">
            <a:normAutofit/>
          </a:bodyPr>
          <a:lstStyle/>
          <a:p>
            <a:pPr indent="0" marL="0">
              <a:buNone/>
            </a:pPr>
            <a:r>
              <a:rPr lang="en-US" sz="1100" b="1" spc="100" kern="0" dirty="0">
                <a:solidFill>
                  <a:srgbClr val="1D4ED8"/>
                </a:solidFill>
                <a:latin typeface="Aptos" pitchFamily="34" charset="0"/>
                <a:ea typeface="Aptos" pitchFamily="34" charset="-122"/>
                <a:cs typeface="Aptos" pitchFamily="34" charset="-120"/>
              </a:rPr>
              <a:t>SPECIFY</a:t>
            </a:r>
            <a:endParaRPr lang="en-US" sz="1100" dirty="0"/>
          </a:p>
        </p:txBody>
      </p:sp>
      <p:sp>
        <p:nvSpPr>
          <p:cNvPr id="8" name="Text 6"/>
          <p:cNvSpPr/>
          <p:nvPr/>
        </p:nvSpPr>
        <p:spPr>
          <a:xfrm>
            <a:off x="749808" y="2487168"/>
            <a:ext cx="2148840" cy="214884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Stack, exact versions, module boundaries, acceptance criteria — written before any code.</a:t>
            </a:r>
            <a:endParaRPr lang="en-US" sz="1400" dirty="0"/>
          </a:p>
        </p:txBody>
      </p:sp>
      <p:sp>
        <p:nvSpPr>
          <p:cNvPr id="9" name="Shape 7"/>
          <p:cNvSpPr/>
          <p:nvPr/>
        </p:nvSpPr>
        <p:spPr>
          <a:xfrm>
            <a:off x="3145536" y="3310128"/>
            <a:ext cx="219456" cy="0"/>
          </a:xfrm>
          <a:prstGeom prst="line">
            <a:avLst/>
          </a:prstGeom>
          <a:noFill/>
          <a:ln w="25400">
            <a:solidFill>
              <a:srgbClr val="64748B"/>
            </a:solidFill>
            <a:prstDash val="solid"/>
            <a:headEnd type="none"/>
            <a:tailEnd type="triangle"/>
          </a:ln>
        </p:spPr>
      </p:sp>
      <p:sp>
        <p:nvSpPr>
          <p:cNvPr id="10" name="Shape 8"/>
          <p:cNvSpPr/>
          <p:nvPr/>
        </p:nvSpPr>
        <p:spPr>
          <a:xfrm>
            <a:off x="3419856" y="1783080"/>
            <a:ext cx="2514600" cy="3063240"/>
          </a:xfrm>
          <a:prstGeom prst="roundRect">
            <a:avLst>
              <a:gd name="adj" fmla="val 2909"/>
            </a:avLst>
          </a:prstGeom>
          <a:solidFill>
            <a:srgbClr val="FFFFFF"/>
          </a:solidFill>
          <a:ln w="12700">
            <a:solidFill>
              <a:srgbClr val="CBD5E1"/>
            </a:solidFill>
            <a:prstDash val="solid"/>
          </a:ln>
        </p:spPr>
      </p:sp>
      <p:sp>
        <p:nvSpPr>
          <p:cNvPr id="11" name="Text 9"/>
          <p:cNvSpPr/>
          <p:nvPr/>
        </p:nvSpPr>
        <p:spPr>
          <a:xfrm>
            <a:off x="3602736" y="1993392"/>
            <a:ext cx="365760" cy="274320"/>
          </a:xfrm>
          <a:prstGeom prst="rect">
            <a:avLst/>
          </a:prstGeom>
          <a:noFill/>
          <a:ln/>
        </p:spPr>
        <p:txBody>
          <a:bodyPr wrap="square" lIns="0" tIns="0" rIns="0" bIns="0" rtlCol="0" anchor="ctr">
            <a:normAutofit/>
          </a:bodyPr>
          <a:lstStyle/>
          <a:p>
            <a:pPr indent="0" marL="0">
              <a:buNone/>
            </a:pPr>
            <a:r>
              <a:rPr lang="en-US" sz="2000" b="1" dirty="0">
                <a:solidFill>
                  <a:srgbClr val="1D4ED8"/>
                </a:solidFill>
                <a:latin typeface="Aptos" pitchFamily="34" charset="0"/>
                <a:ea typeface="Aptos" pitchFamily="34" charset="-122"/>
                <a:cs typeface="Aptos" pitchFamily="34" charset="-120"/>
              </a:rPr>
              <a:t>2</a:t>
            </a:r>
            <a:endParaRPr lang="en-US" sz="2000" dirty="0"/>
          </a:p>
        </p:txBody>
      </p:sp>
      <p:sp>
        <p:nvSpPr>
          <p:cNvPr id="12" name="Text 10"/>
          <p:cNvSpPr/>
          <p:nvPr/>
        </p:nvSpPr>
        <p:spPr>
          <a:xfrm>
            <a:off x="4078224" y="2029968"/>
            <a:ext cx="1645920" cy="228600"/>
          </a:xfrm>
          <a:prstGeom prst="rect">
            <a:avLst/>
          </a:prstGeom>
          <a:noFill/>
          <a:ln/>
        </p:spPr>
        <p:txBody>
          <a:bodyPr wrap="square" lIns="0" tIns="0" rIns="0" bIns="0" rtlCol="0" anchor="ctr">
            <a:normAutofit/>
          </a:bodyPr>
          <a:lstStyle/>
          <a:p>
            <a:pPr indent="0" marL="0">
              <a:buNone/>
            </a:pPr>
            <a:r>
              <a:rPr lang="en-US" sz="1100" b="1" spc="100" kern="0" dirty="0">
                <a:solidFill>
                  <a:srgbClr val="1D4ED8"/>
                </a:solidFill>
                <a:latin typeface="Aptos" pitchFamily="34" charset="0"/>
                <a:ea typeface="Aptos" pitchFamily="34" charset="-122"/>
                <a:cs typeface="Aptos" pitchFamily="34" charset="-120"/>
              </a:rPr>
              <a:t>GENERATE</a:t>
            </a:r>
            <a:endParaRPr lang="en-US" sz="1100" dirty="0"/>
          </a:p>
        </p:txBody>
      </p:sp>
      <p:sp>
        <p:nvSpPr>
          <p:cNvPr id="13" name="Text 11"/>
          <p:cNvSpPr/>
          <p:nvPr/>
        </p:nvSpPr>
        <p:spPr>
          <a:xfrm>
            <a:off x="3602736" y="2487168"/>
            <a:ext cx="2148840" cy="214884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The agent writes the implementation far faster than a human could. This step was never the bottleneck.</a:t>
            </a:r>
            <a:endParaRPr lang="en-US" sz="1400" dirty="0"/>
          </a:p>
        </p:txBody>
      </p:sp>
      <p:sp>
        <p:nvSpPr>
          <p:cNvPr id="14" name="Shape 12"/>
          <p:cNvSpPr/>
          <p:nvPr/>
        </p:nvSpPr>
        <p:spPr>
          <a:xfrm>
            <a:off x="5998464" y="3310128"/>
            <a:ext cx="219456" cy="0"/>
          </a:xfrm>
          <a:prstGeom prst="line">
            <a:avLst/>
          </a:prstGeom>
          <a:noFill/>
          <a:ln w="25400">
            <a:solidFill>
              <a:srgbClr val="64748B"/>
            </a:solidFill>
            <a:prstDash val="solid"/>
            <a:headEnd type="none"/>
            <a:tailEnd type="triangle"/>
          </a:ln>
        </p:spPr>
      </p:sp>
      <p:sp>
        <p:nvSpPr>
          <p:cNvPr id="15" name="Shape 13"/>
          <p:cNvSpPr/>
          <p:nvPr/>
        </p:nvSpPr>
        <p:spPr>
          <a:xfrm>
            <a:off x="6272784" y="1783080"/>
            <a:ext cx="2514600" cy="3063240"/>
          </a:xfrm>
          <a:prstGeom prst="roundRect">
            <a:avLst>
              <a:gd name="adj" fmla="val 2909"/>
            </a:avLst>
          </a:prstGeom>
          <a:solidFill>
            <a:srgbClr val="FEF3C7"/>
          </a:solidFill>
          <a:ln w="12700">
            <a:solidFill>
              <a:srgbClr val="B45309"/>
            </a:solidFill>
            <a:prstDash val="solid"/>
          </a:ln>
        </p:spPr>
      </p:sp>
      <p:sp>
        <p:nvSpPr>
          <p:cNvPr id="16" name="Text 14"/>
          <p:cNvSpPr/>
          <p:nvPr/>
        </p:nvSpPr>
        <p:spPr>
          <a:xfrm>
            <a:off x="6455664" y="1993392"/>
            <a:ext cx="365760" cy="274320"/>
          </a:xfrm>
          <a:prstGeom prst="rect">
            <a:avLst/>
          </a:prstGeom>
          <a:noFill/>
          <a:ln/>
        </p:spPr>
        <p:txBody>
          <a:bodyPr wrap="square" lIns="0" tIns="0" rIns="0" bIns="0" rtlCol="0" anchor="ctr">
            <a:normAutofit/>
          </a:bodyPr>
          <a:lstStyle/>
          <a:p>
            <a:pPr indent="0" marL="0">
              <a:buNone/>
            </a:pPr>
            <a:r>
              <a:rPr lang="en-US" sz="2000" b="1" dirty="0">
                <a:solidFill>
                  <a:srgbClr val="B45309"/>
                </a:solidFill>
                <a:latin typeface="Aptos" pitchFamily="34" charset="0"/>
                <a:ea typeface="Aptos" pitchFamily="34" charset="-122"/>
                <a:cs typeface="Aptos" pitchFamily="34" charset="-120"/>
              </a:rPr>
              <a:t>3</a:t>
            </a:r>
            <a:endParaRPr lang="en-US" sz="2000" dirty="0"/>
          </a:p>
        </p:txBody>
      </p:sp>
      <p:sp>
        <p:nvSpPr>
          <p:cNvPr id="17" name="Text 15"/>
          <p:cNvSpPr/>
          <p:nvPr/>
        </p:nvSpPr>
        <p:spPr>
          <a:xfrm>
            <a:off x="6931152" y="2029968"/>
            <a:ext cx="1645920" cy="228600"/>
          </a:xfrm>
          <a:prstGeom prst="rect">
            <a:avLst/>
          </a:prstGeom>
          <a:noFill/>
          <a:ln/>
        </p:spPr>
        <p:txBody>
          <a:bodyPr wrap="square" lIns="0" tIns="0" rIns="0" bIns="0" rtlCol="0" anchor="ctr">
            <a:normAutofit/>
          </a:bodyPr>
          <a:lstStyle/>
          <a:p>
            <a:pPr indent="0" marL="0">
              <a:buNone/>
            </a:pPr>
            <a:r>
              <a:rPr lang="en-US" sz="1100" b="1" spc="100" kern="0" dirty="0">
                <a:solidFill>
                  <a:srgbClr val="B45309"/>
                </a:solidFill>
                <a:latin typeface="Aptos" pitchFamily="34" charset="0"/>
                <a:ea typeface="Aptos" pitchFamily="34" charset="-122"/>
                <a:cs typeface="Aptos" pitchFamily="34" charset="-120"/>
              </a:rPr>
              <a:t>VERIFY</a:t>
            </a:r>
            <a:endParaRPr lang="en-US" sz="1100" dirty="0"/>
          </a:p>
        </p:txBody>
      </p:sp>
      <p:sp>
        <p:nvSpPr>
          <p:cNvPr id="18" name="Text 16"/>
          <p:cNvSpPr/>
          <p:nvPr/>
        </p:nvSpPr>
        <p:spPr>
          <a:xfrm>
            <a:off x="6455664" y="2487168"/>
            <a:ext cx="2148840" cy="214884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A repo-wide audit found wrong component names, stale docs, mismatched ports and fabricated documentation claims.</a:t>
            </a:r>
            <a:endParaRPr lang="en-US" sz="1400" dirty="0"/>
          </a:p>
        </p:txBody>
      </p:sp>
      <p:sp>
        <p:nvSpPr>
          <p:cNvPr id="19" name="Shape 17"/>
          <p:cNvSpPr/>
          <p:nvPr/>
        </p:nvSpPr>
        <p:spPr>
          <a:xfrm>
            <a:off x="8851392" y="3310128"/>
            <a:ext cx="219456" cy="0"/>
          </a:xfrm>
          <a:prstGeom prst="line">
            <a:avLst/>
          </a:prstGeom>
          <a:noFill/>
          <a:ln w="25400">
            <a:solidFill>
              <a:srgbClr val="64748B"/>
            </a:solidFill>
            <a:prstDash val="solid"/>
            <a:headEnd type="none"/>
            <a:tailEnd type="triangle"/>
          </a:ln>
        </p:spPr>
      </p:sp>
      <p:sp>
        <p:nvSpPr>
          <p:cNvPr id="20" name="Shape 18"/>
          <p:cNvSpPr/>
          <p:nvPr/>
        </p:nvSpPr>
        <p:spPr>
          <a:xfrm>
            <a:off x="9125712" y="1783080"/>
            <a:ext cx="2514600" cy="3063240"/>
          </a:xfrm>
          <a:prstGeom prst="roundRect">
            <a:avLst>
              <a:gd name="adj" fmla="val 2909"/>
            </a:avLst>
          </a:prstGeom>
          <a:solidFill>
            <a:srgbClr val="CCFBF1"/>
          </a:solidFill>
          <a:ln w="12700">
            <a:solidFill>
              <a:srgbClr val="0F766E"/>
            </a:solidFill>
            <a:prstDash val="solid"/>
          </a:ln>
        </p:spPr>
      </p:sp>
      <p:sp>
        <p:nvSpPr>
          <p:cNvPr id="21" name="Text 19"/>
          <p:cNvSpPr/>
          <p:nvPr/>
        </p:nvSpPr>
        <p:spPr>
          <a:xfrm>
            <a:off x="9308592" y="1993392"/>
            <a:ext cx="365760" cy="274320"/>
          </a:xfrm>
          <a:prstGeom prst="rect">
            <a:avLst/>
          </a:prstGeom>
          <a:noFill/>
          <a:ln/>
        </p:spPr>
        <p:txBody>
          <a:bodyPr wrap="square" lIns="0" tIns="0" rIns="0" bIns="0" rtlCol="0" anchor="ctr">
            <a:normAutofit/>
          </a:bodyPr>
          <a:lstStyle/>
          <a:p>
            <a:pPr indent="0" marL="0">
              <a:buNone/>
            </a:pPr>
            <a:r>
              <a:rPr lang="en-US" sz="2000" b="1" dirty="0">
                <a:solidFill>
                  <a:srgbClr val="0F766E"/>
                </a:solidFill>
                <a:latin typeface="Aptos" pitchFamily="34" charset="0"/>
                <a:ea typeface="Aptos" pitchFamily="34" charset="-122"/>
                <a:cs typeface="Aptos" pitchFamily="34" charset="-120"/>
              </a:rPr>
              <a:t>4</a:t>
            </a:r>
            <a:endParaRPr lang="en-US" sz="2000" dirty="0"/>
          </a:p>
        </p:txBody>
      </p:sp>
      <p:sp>
        <p:nvSpPr>
          <p:cNvPr id="22" name="Text 20"/>
          <p:cNvSpPr/>
          <p:nvPr/>
        </p:nvSpPr>
        <p:spPr>
          <a:xfrm>
            <a:off x="9784080" y="2029968"/>
            <a:ext cx="1645920" cy="228600"/>
          </a:xfrm>
          <a:prstGeom prst="rect">
            <a:avLst/>
          </a:prstGeom>
          <a:noFill/>
          <a:ln/>
        </p:spPr>
        <p:txBody>
          <a:bodyPr wrap="square" lIns="0" tIns="0" rIns="0" bIns="0" rtlCol="0" anchor="ctr">
            <a:normAutofit/>
          </a:bodyPr>
          <a:lstStyle/>
          <a:p>
            <a:pPr indent="0" marL="0">
              <a:buNone/>
            </a:pPr>
            <a:r>
              <a:rPr lang="en-US" sz="1100" b="1" spc="100" kern="0" dirty="0">
                <a:solidFill>
                  <a:srgbClr val="0F766E"/>
                </a:solidFill>
                <a:latin typeface="Aptos" pitchFamily="34" charset="0"/>
                <a:ea typeface="Aptos" pitchFamily="34" charset="-122"/>
                <a:cs typeface="Aptos" pitchFamily="34" charset="-120"/>
              </a:rPr>
              <a:t>CORRECT</a:t>
            </a:r>
            <a:endParaRPr lang="en-US" sz="1100" dirty="0"/>
          </a:p>
        </p:txBody>
      </p:sp>
      <p:sp>
        <p:nvSpPr>
          <p:cNvPr id="23" name="Text 21"/>
          <p:cNvSpPr/>
          <p:nvPr/>
        </p:nvSpPr>
        <p:spPr>
          <a:xfrm>
            <a:off x="9308592" y="2487168"/>
            <a:ext cx="2148840" cy="2148840"/>
          </a:xfrm>
          <a:prstGeom prst="rect">
            <a:avLst/>
          </a:prstGeom>
          <a:noFill/>
          <a:ln/>
        </p:spPr>
        <p:txBody>
          <a:bodyPr wrap="square" lIns="0" tIns="0" rIns="0" bIns="0" rtlCol="0" anchor="t">
            <a:normAutofit/>
          </a:bodyPr>
          <a:lstStyle/>
          <a:p>
            <a:pPr indent="0" marL="0">
              <a:buNone/>
            </a:pPr>
            <a:r>
              <a:rPr lang="en-US" sz="1400" dirty="0">
                <a:solidFill>
                  <a:srgbClr val="334155"/>
                </a:solidFill>
                <a:latin typeface="Aptos" pitchFamily="34" charset="0"/>
                <a:ea typeface="Aptos" pitchFamily="34" charset="-122"/>
                <a:cs typeface="Aptos" pitchFamily="34" charset="-120"/>
              </a:rPr>
              <a:t>React → UI5 Web Components, Boot 3 → Boot 4.1.1, and every claim rewritten to match what the code actually does.</a:t>
            </a:r>
            <a:endParaRPr lang="en-US" sz="1400" dirty="0"/>
          </a:p>
        </p:txBody>
      </p:sp>
      <p:sp>
        <p:nvSpPr>
          <p:cNvPr id="24" name="Text 22"/>
          <p:cNvSpPr/>
          <p:nvPr/>
        </p:nvSpPr>
        <p:spPr>
          <a:xfrm>
            <a:off x="731520" y="5193792"/>
            <a:ext cx="10698480" cy="411480"/>
          </a:xfrm>
          <a:prstGeom prst="rect">
            <a:avLst/>
          </a:prstGeom>
          <a:noFill/>
          <a:ln/>
        </p:spPr>
        <p:txBody>
          <a:bodyPr wrap="square" lIns="0" tIns="0" rIns="0" bIns="0" rtlCol="0" anchor="ctr">
            <a:normAutofit/>
          </a:bodyPr>
          <a:lstStyle/>
          <a:p>
            <a:pPr algn="ctr" indent="0" marL="0">
              <a:buNone/>
            </a:pPr>
            <a:r>
              <a:rPr lang="en-US" sz="2000" b="1" dirty="0">
                <a:solidFill>
                  <a:srgbClr val="B91C1C"/>
                </a:solidFill>
                <a:latin typeface="Aptos" pitchFamily="34" charset="0"/>
                <a:ea typeface="Aptos" pitchFamily="34" charset="-122"/>
                <a:cs typeface="Aptos" pitchFamily="34" charset="-120"/>
              </a:rPr>
              <a:t>Without close verification an AI agent does not fail dramatically. It fails plausibly.</a:t>
            </a:r>
            <a:endParaRPr lang="en-US" sz="2000" dirty="0"/>
          </a:p>
        </p:txBody>
      </p:sp>
      <p:sp>
        <p:nvSpPr>
          <p:cNvPr id="25" name="Text 23"/>
          <p:cNvSpPr/>
          <p:nvPr/>
        </p:nvSpPr>
        <p:spPr>
          <a:xfrm>
            <a:off x="731520" y="5760720"/>
            <a:ext cx="10698480" cy="320040"/>
          </a:xfrm>
          <a:prstGeom prst="rect">
            <a:avLst/>
          </a:prstGeom>
          <a:noFill/>
          <a:ln/>
        </p:spPr>
        <p:txBody>
          <a:bodyPr wrap="square" lIns="0" tIns="0" rIns="0" bIns="0" rtlCol="0" anchor="ctr">
            <a:normAutofit/>
          </a:bodyPr>
          <a:lstStyle/>
          <a:p>
            <a:pPr algn="ctr" indent="0" marL="0">
              <a:buNone/>
            </a:pPr>
            <a:r>
              <a:rPr lang="en-US" sz="1500" dirty="0">
                <a:solidFill>
                  <a:srgbClr val="64748B"/>
                </a:solidFill>
                <a:latin typeface="Aptos" pitchFamily="34" charset="0"/>
                <a:ea typeface="Aptos" pitchFamily="34" charset="-122"/>
                <a:cs typeface="Aptos" pitchFamily="34" charset="-120"/>
              </a:rPr>
              <a:t>AI accelerates synthesis. The engineer still owns intent, architecture and acceptance criteria.</a:t>
            </a:r>
            <a:endParaRPr lang="en-US" sz="15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WHERE THE HUMAN EDGE MOVED</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As generation commoditizes syntax, leverage shifts to framing and orchestration</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Implementation and boilerplate are rapidly automated. Problem formulation and divergent exploration are not.</a:t>
            </a:r>
            <a:endParaRPr lang="en-US" sz="1200" dirty="0"/>
          </a:p>
        </p:txBody>
      </p:sp>
      <p:sp>
        <p:nvSpPr>
          <p:cNvPr id="5" name="Shape 3"/>
          <p:cNvSpPr/>
          <p:nvPr/>
        </p:nvSpPr>
        <p:spPr>
          <a:xfrm>
            <a:off x="621792" y="1664208"/>
            <a:ext cx="5989320" cy="3931920"/>
          </a:xfrm>
          <a:prstGeom prst="roundRect">
            <a:avLst>
              <a:gd name="adj" fmla="val 1860"/>
            </a:avLst>
          </a:prstGeom>
          <a:solidFill>
            <a:srgbClr val="FFFFFF"/>
          </a:solidFill>
          <a:ln w="12700">
            <a:solidFill>
              <a:srgbClr val="CBD5E1"/>
            </a:solidFill>
            <a:prstDash val="solid"/>
          </a:ln>
        </p:spPr>
      </p:sp>
      <p:sp>
        <p:nvSpPr>
          <p:cNvPr id="6" name="Text 4"/>
          <p:cNvSpPr/>
          <p:nvPr/>
        </p:nvSpPr>
        <p:spPr>
          <a:xfrm>
            <a:off x="868680" y="1874520"/>
            <a:ext cx="5486400" cy="219456"/>
          </a:xfrm>
          <a:prstGeom prst="rect">
            <a:avLst/>
          </a:prstGeom>
          <a:noFill/>
          <a:ln/>
        </p:spPr>
        <p:txBody>
          <a:bodyPr wrap="square" lIns="0" tIns="0" rIns="0" bIns="0" rtlCol="0" anchor="ctr">
            <a:normAutofit/>
          </a:bodyPr>
          <a:lstStyle/>
          <a:p>
            <a:pPr indent="0" marL="0">
              <a:buNone/>
            </a:pPr>
            <a:r>
              <a:rPr lang="en-US" sz="1000" b="1" spc="100" kern="0" dirty="0">
                <a:solidFill>
                  <a:srgbClr val="0F766E"/>
                </a:solidFill>
                <a:latin typeface="Aptos" pitchFamily="34" charset="0"/>
                <a:ea typeface="Aptos" pitchFamily="34" charset="-122"/>
                <a:cs typeface="Aptos" pitchFamily="34" charset="-120"/>
              </a:rPr>
              <a:t>TWO LENSES ON THE SAME WORK</a:t>
            </a:r>
            <a:endParaRPr lang="en-US" sz="1000" dirty="0"/>
          </a:p>
        </p:txBody>
      </p:sp>
      <p:sp>
        <p:nvSpPr>
          <p:cNvPr id="7" name="Text 5"/>
          <p:cNvSpPr/>
          <p:nvPr/>
        </p:nvSpPr>
        <p:spPr>
          <a:xfrm>
            <a:off x="868680" y="2212848"/>
            <a:ext cx="2651760" cy="219456"/>
          </a:xfrm>
          <a:prstGeom prst="rect">
            <a:avLst/>
          </a:prstGeom>
          <a:noFill/>
          <a:ln/>
        </p:spPr>
        <p:txBody>
          <a:bodyPr wrap="square" lIns="0" tIns="0" rIns="0" bIns="0" rtlCol="0" anchor="ctr">
            <a:normAutofit/>
          </a:bodyPr>
          <a:lstStyle/>
          <a:p>
            <a:pPr indent="0" marL="0">
              <a:buNone/>
            </a:pPr>
            <a:r>
              <a:rPr lang="en-US" sz="1200" b="1" dirty="0">
                <a:solidFill>
                  <a:srgbClr val="1D4ED8"/>
                </a:solidFill>
                <a:latin typeface="Aptos" pitchFamily="34" charset="0"/>
                <a:ea typeface="Aptos" pitchFamily="34" charset="-122"/>
                <a:cs typeface="Aptos" pitchFamily="34" charset="-120"/>
              </a:rPr>
              <a:t>CS PhD lens</a:t>
            </a:r>
            <a:endParaRPr lang="en-US" sz="1200" dirty="0"/>
          </a:p>
        </p:txBody>
      </p:sp>
      <p:sp>
        <p:nvSpPr>
          <p:cNvPr id="8" name="Text 6"/>
          <p:cNvSpPr/>
          <p:nvPr/>
        </p:nvSpPr>
        <p:spPr>
          <a:xfrm>
            <a:off x="3794760" y="2212848"/>
            <a:ext cx="2651760" cy="219456"/>
          </a:xfrm>
          <a:prstGeom prst="rect">
            <a:avLst/>
          </a:prstGeom>
          <a:noFill/>
          <a:ln/>
        </p:spPr>
        <p:txBody>
          <a:bodyPr wrap="square" lIns="0" tIns="0" rIns="0" bIns="0" rtlCol="0" anchor="ctr">
            <a:normAutofit/>
          </a:bodyPr>
          <a:lstStyle/>
          <a:p>
            <a:pPr indent="0" marL="0">
              <a:buNone/>
            </a:pPr>
            <a:r>
              <a:rPr lang="en-US" sz="1200" b="1" dirty="0">
                <a:solidFill>
                  <a:srgbClr val="6D28D9"/>
                </a:solidFill>
                <a:latin typeface="Aptos" pitchFamily="34" charset="0"/>
                <a:ea typeface="Aptos" pitchFamily="34" charset="-122"/>
                <a:cs typeface="Aptos" pitchFamily="34" charset="-120"/>
              </a:rPr>
              <a:t>Strategic lens</a:t>
            </a:r>
            <a:endParaRPr lang="en-US" sz="1200" dirty="0"/>
          </a:p>
        </p:txBody>
      </p:sp>
      <p:sp>
        <p:nvSpPr>
          <p:cNvPr id="9" name="Shape 7"/>
          <p:cNvSpPr/>
          <p:nvPr/>
        </p:nvSpPr>
        <p:spPr>
          <a:xfrm>
            <a:off x="868680" y="3182112"/>
            <a:ext cx="5486400" cy="0"/>
          </a:xfrm>
          <a:prstGeom prst="line">
            <a:avLst/>
          </a:prstGeom>
          <a:noFill/>
          <a:ln w="12700">
            <a:solidFill>
              <a:srgbClr val="E2E8F0"/>
            </a:solidFill>
            <a:prstDash val="solid"/>
          </a:ln>
        </p:spPr>
      </p:sp>
      <p:sp>
        <p:nvSpPr>
          <p:cNvPr id="10" name="Text 8"/>
          <p:cNvSpPr/>
          <p:nvPr/>
        </p:nvSpPr>
        <p:spPr>
          <a:xfrm>
            <a:off x="868680" y="256032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Algorithmic rigor, proofs, bounds</a:t>
            </a:r>
            <a:endParaRPr lang="en-US" sz="1300" dirty="0"/>
          </a:p>
        </p:txBody>
      </p:sp>
      <p:sp>
        <p:nvSpPr>
          <p:cNvPr id="11" name="Text 9"/>
          <p:cNvSpPr/>
          <p:nvPr/>
        </p:nvSpPr>
        <p:spPr>
          <a:xfrm>
            <a:off x="3794760" y="256032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System affordances, real-world utility</a:t>
            </a:r>
            <a:endParaRPr lang="en-US" sz="1300" dirty="0"/>
          </a:p>
        </p:txBody>
      </p:sp>
      <p:sp>
        <p:nvSpPr>
          <p:cNvPr id="12" name="Shape 10"/>
          <p:cNvSpPr/>
          <p:nvPr/>
        </p:nvSpPr>
        <p:spPr>
          <a:xfrm>
            <a:off x="868680" y="3913632"/>
            <a:ext cx="5486400" cy="0"/>
          </a:xfrm>
          <a:prstGeom prst="line">
            <a:avLst/>
          </a:prstGeom>
          <a:noFill/>
          <a:ln w="12700">
            <a:solidFill>
              <a:srgbClr val="E2E8F0"/>
            </a:solidFill>
            <a:prstDash val="solid"/>
          </a:ln>
        </p:spPr>
      </p:sp>
      <p:sp>
        <p:nvSpPr>
          <p:cNvPr id="13" name="Text 11"/>
          <p:cNvSpPr/>
          <p:nvPr/>
        </p:nvSpPr>
        <p:spPr>
          <a:xfrm>
            <a:off x="868680" y="329184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Convergent: narrow to the optimal</a:t>
            </a:r>
            <a:endParaRPr lang="en-US" sz="1300" dirty="0"/>
          </a:p>
        </p:txBody>
      </p:sp>
      <p:sp>
        <p:nvSpPr>
          <p:cNvPr id="14" name="Text 12"/>
          <p:cNvSpPr/>
          <p:nvPr/>
        </p:nvSpPr>
        <p:spPr>
          <a:xfrm>
            <a:off x="3794760" y="329184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Divergent: explore lateral possibilities</a:t>
            </a:r>
            <a:endParaRPr lang="en-US" sz="1300" dirty="0"/>
          </a:p>
        </p:txBody>
      </p:sp>
      <p:sp>
        <p:nvSpPr>
          <p:cNvPr id="15" name="Shape 13"/>
          <p:cNvSpPr/>
          <p:nvPr/>
        </p:nvSpPr>
        <p:spPr>
          <a:xfrm>
            <a:off x="868680" y="4645152"/>
            <a:ext cx="5486400" cy="0"/>
          </a:xfrm>
          <a:prstGeom prst="line">
            <a:avLst/>
          </a:prstGeom>
          <a:noFill/>
          <a:ln w="12700">
            <a:solidFill>
              <a:srgbClr val="E2E8F0"/>
            </a:solidFill>
            <a:prstDash val="solid"/>
          </a:ln>
        </p:spPr>
      </p:sp>
      <p:sp>
        <p:nvSpPr>
          <p:cNvPr id="16" name="Text 14"/>
          <p:cNvSpPr/>
          <p:nvPr/>
        </p:nvSpPr>
        <p:spPr>
          <a:xfrm>
            <a:off x="868680" y="402336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Handcrafted implementer, debugger</a:t>
            </a:r>
            <a:endParaRPr lang="en-US" sz="1300" dirty="0"/>
          </a:p>
        </p:txBody>
      </p:sp>
      <p:sp>
        <p:nvSpPr>
          <p:cNvPr id="17" name="Text 15"/>
          <p:cNvSpPr/>
          <p:nvPr/>
        </p:nvSpPr>
        <p:spPr>
          <a:xfrm>
            <a:off x="3794760" y="402336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Intent director, curator, governor</a:t>
            </a:r>
            <a:endParaRPr lang="en-US" sz="1300" dirty="0"/>
          </a:p>
        </p:txBody>
      </p:sp>
      <p:sp>
        <p:nvSpPr>
          <p:cNvPr id="18" name="Shape 16"/>
          <p:cNvSpPr/>
          <p:nvPr/>
        </p:nvSpPr>
        <p:spPr>
          <a:xfrm>
            <a:off x="868680" y="5376672"/>
            <a:ext cx="5486400" cy="0"/>
          </a:xfrm>
          <a:prstGeom prst="line">
            <a:avLst/>
          </a:prstGeom>
          <a:noFill/>
          <a:ln w="12700">
            <a:solidFill>
              <a:srgbClr val="E2E8F0"/>
            </a:solidFill>
            <a:prstDash val="solid"/>
          </a:ln>
        </p:spPr>
      </p:sp>
      <p:sp>
        <p:nvSpPr>
          <p:cNvPr id="19" name="Text 17"/>
          <p:cNvSpPr/>
          <p:nvPr/>
        </p:nvSpPr>
        <p:spPr>
          <a:xfrm>
            <a:off x="868680" y="475488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Failure: suboptimal convergence</a:t>
            </a:r>
            <a:endParaRPr lang="en-US" sz="1300" dirty="0"/>
          </a:p>
        </p:txBody>
      </p:sp>
      <p:sp>
        <p:nvSpPr>
          <p:cNvPr id="20" name="Text 18"/>
          <p:cNvSpPr/>
          <p:nvPr/>
        </p:nvSpPr>
        <p:spPr>
          <a:xfrm>
            <a:off x="3794760" y="4754880"/>
            <a:ext cx="2697480" cy="548640"/>
          </a:xfrm>
          <a:prstGeom prst="rect">
            <a:avLst/>
          </a:prstGeom>
          <a:noFill/>
          <a:ln/>
        </p:spPr>
        <p:txBody>
          <a:bodyPr wrap="square" lIns="0" tIns="0" rIns="0" bIns="0" rtlCol="0" anchor="ctr">
            <a:normAutofit/>
          </a:bodyPr>
          <a:lstStyle/>
          <a:p>
            <a:pPr indent="0" marL="0">
              <a:buNone/>
            </a:pPr>
            <a:r>
              <a:rPr lang="en-US" sz="1300" dirty="0">
                <a:solidFill>
                  <a:srgbClr val="334155"/>
                </a:solidFill>
                <a:latin typeface="Aptos" pitchFamily="34" charset="0"/>
                <a:ea typeface="Aptos" pitchFamily="34" charset="-122"/>
                <a:cs typeface="Aptos" pitchFamily="34" charset="-120"/>
              </a:rPr>
              <a:t>Failure: solving the wrong problem well</a:t>
            </a:r>
            <a:endParaRPr lang="en-US" sz="1300" dirty="0"/>
          </a:p>
        </p:txBody>
      </p:sp>
      <p:sp>
        <p:nvSpPr>
          <p:cNvPr id="21" name="Text 19"/>
          <p:cNvSpPr/>
          <p:nvPr/>
        </p:nvSpPr>
        <p:spPr>
          <a:xfrm>
            <a:off x="6967728" y="1874520"/>
            <a:ext cx="4572000" cy="219456"/>
          </a:xfrm>
          <a:prstGeom prst="rect">
            <a:avLst/>
          </a:prstGeom>
          <a:noFill/>
          <a:ln/>
        </p:spPr>
        <p:txBody>
          <a:bodyPr wrap="square" lIns="0" tIns="0" rIns="0" bIns="0" rtlCol="0" anchor="ctr">
            <a:normAutofit/>
          </a:bodyPr>
          <a:lstStyle/>
          <a:p>
            <a:pPr indent="0" marL="0">
              <a:buNone/>
            </a:pPr>
            <a:r>
              <a:rPr lang="en-US" sz="1000" b="1" spc="100" kern="0" dirty="0">
                <a:solidFill>
                  <a:srgbClr val="6D28D9"/>
                </a:solidFill>
                <a:latin typeface="Aptos" pitchFamily="34" charset="0"/>
                <a:ea typeface="Aptos" pitchFamily="34" charset="-122"/>
                <a:cs typeface="Aptos" pitchFamily="34" charset="-120"/>
              </a:rPr>
              <a:t>THE COGNITIVE STACK — AND WHERE THIS APP SITS</a:t>
            </a:r>
            <a:endParaRPr lang="en-US" sz="1000" dirty="0"/>
          </a:p>
        </p:txBody>
      </p:sp>
      <p:sp>
        <p:nvSpPr>
          <p:cNvPr id="22" name="Shape 20"/>
          <p:cNvSpPr/>
          <p:nvPr/>
        </p:nvSpPr>
        <p:spPr>
          <a:xfrm>
            <a:off x="6766560" y="2212848"/>
            <a:ext cx="4754880" cy="1024128"/>
          </a:xfrm>
          <a:prstGeom prst="roundRect">
            <a:avLst>
              <a:gd name="adj" fmla="val 7143"/>
            </a:avLst>
          </a:prstGeom>
          <a:solidFill>
            <a:srgbClr val="CCFBF1"/>
          </a:solidFill>
          <a:ln w="12700">
            <a:solidFill>
              <a:srgbClr val="0F766E"/>
            </a:solidFill>
            <a:prstDash val="solid"/>
          </a:ln>
        </p:spPr>
      </p:sp>
      <p:sp>
        <p:nvSpPr>
          <p:cNvPr id="23" name="Text 21"/>
          <p:cNvSpPr/>
          <p:nvPr/>
        </p:nvSpPr>
        <p:spPr>
          <a:xfrm>
            <a:off x="6967728" y="2340864"/>
            <a:ext cx="4389120" cy="237744"/>
          </a:xfrm>
          <a:prstGeom prst="rect">
            <a:avLst/>
          </a:prstGeom>
          <a:noFill/>
          <a:ln/>
        </p:spPr>
        <p:txBody>
          <a:bodyPr wrap="square" lIns="0" tIns="0" rIns="0" bIns="0" rtlCol="0" anchor="ctr">
            <a:normAutofit/>
          </a:bodyPr>
          <a:lstStyle/>
          <a:p>
            <a:pPr indent="0" marL="0">
              <a:buNone/>
            </a:pPr>
            <a:r>
              <a:rPr lang="en-US" sz="1400" b="1" dirty="0">
                <a:solidFill>
                  <a:srgbClr val="0F172A"/>
                </a:solidFill>
                <a:latin typeface="Aptos" pitchFamily="34" charset="0"/>
                <a:ea typeface="Aptos" pitchFamily="34" charset="-122"/>
                <a:cs typeface="Aptos" pitchFamily="34" charset="-120"/>
              </a:rPr>
              <a:t>Grounding</a:t>
            </a:r>
            <a:endParaRPr lang="en-US" sz="1400" dirty="0"/>
          </a:p>
        </p:txBody>
      </p:sp>
      <p:sp>
        <p:nvSpPr>
          <p:cNvPr id="24" name="Text 22"/>
          <p:cNvSpPr/>
          <p:nvPr/>
        </p:nvSpPr>
        <p:spPr>
          <a:xfrm>
            <a:off x="6967728" y="2633472"/>
            <a:ext cx="4389120" cy="219456"/>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Anchor reasoning in a curated corpus</a:t>
            </a:r>
            <a:endParaRPr lang="en-US" sz="1200" dirty="0"/>
          </a:p>
        </p:txBody>
      </p:sp>
      <p:sp>
        <p:nvSpPr>
          <p:cNvPr id="25" name="Text 23"/>
          <p:cNvSpPr/>
          <p:nvPr/>
        </p:nvSpPr>
        <p:spPr>
          <a:xfrm>
            <a:off x="6967728" y="2907792"/>
            <a:ext cx="4389120" cy="219456"/>
          </a:xfrm>
          <a:prstGeom prst="rect">
            <a:avLst/>
          </a:prstGeom>
          <a:noFill/>
          <a:ln/>
        </p:spPr>
        <p:txBody>
          <a:bodyPr wrap="square" lIns="0" tIns="0" rIns="0" bIns="0" rtlCol="0" anchor="ctr">
            <a:normAutofit/>
          </a:bodyPr>
          <a:lstStyle/>
          <a:p>
            <a:pPr indent="0" marL="0">
              <a:buNone/>
            </a:pPr>
            <a:r>
              <a:rPr lang="en-US" sz="1100" i="1" dirty="0">
                <a:solidFill>
                  <a:srgbClr val="64748B"/>
                </a:solidFill>
                <a:latin typeface="Aptos" pitchFamily="34" charset="0"/>
                <a:ea typeface="Aptos" pitchFamily="34" charset="-122"/>
                <a:cs typeface="Aptos" pitchFamily="34" charset="-120"/>
              </a:rPr>
              <a:t>here: Qdrant retrieval scoped to one document</a:t>
            </a:r>
            <a:endParaRPr lang="en-US" sz="1100" dirty="0"/>
          </a:p>
        </p:txBody>
      </p:sp>
      <p:sp>
        <p:nvSpPr>
          <p:cNvPr id="26" name="Shape 24"/>
          <p:cNvSpPr/>
          <p:nvPr/>
        </p:nvSpPr>
        <p:spPr>
          <a:xfrm>
            <a:off x="6766560" y="3383280"/>
            <a:ext cx="4754880" cy="1024128"/>
          </a:xfrm>
          <a:prstGeom prst="roundRect">
            <a:avLst>
              <a:gd name="adj" fmla="val 7143"/>
            </a:avLst>
          </a:prstGeom>
          <a:solidFill>
            <a:srgbClr val="FFFFFF"/>
          </a:solidFill>
          <a:ln w="12700">
            <a:solidFill>
              <a:srgbClr val="CBD5E1"/>
            </a:solidFill>
            <a:prstDash val="solid"/>
          </a:ln>
        </p:spPr>
      </p:sp>
      <p:sp>
        <p:nvSpPr>
          <p:cNvPr id="27" name="Text 25"/>
          <p:cNvSpPr/>
          <p:nvPr/>
        </p:nvSpPr>
        <p:spPr>
          <a:xfrm>
            <a:off x="6967728" y="3511296"/>
            <a:ext cx="4389120" cy="237744"/>
          </a:xfrm>
          <a:prstGeom prst="rect">
            <a:avLst/>
          </a:prstGeom>
          <a:noFill/>
          <a:ln/>
        </p:spPr>
        <p:txBody>
          <a:bodyPr wrap="square" lIns="0" tIns="0" rIns="0" bIns="0" rtlCol="0" anchor="ctr">
            <a:normAutofit/>
          </a:bodyPr>
          <a:lstStyle/>
          <a:p>
            <a:pPr indent="0" marL="0">
              <a:buNone/>
            </a:pPr>
            <a:r>
              <a:rPr lang="en-US" sz="1400" b="1" dirty="0">
                <a:solidFill>
                  <a:srgbClr val="0F172A"/>
                </a:solidFill>
                <a:latin typeface="Aptos" pitchFamily="34" charset="0"/>
                <a:ea typeface="Aptos" pitchFamily="34" charset="-122"/>
                <a:cs typeface="Aptos" pitchFamily="34" charset="-120"/>
              </a:rPr>
              <a:t>Reasoning &amp; synthesis</a:t>
            </a:r>
            <a:endParaRPr lang="en-US" sz="1400" dirty="0"/>
          </a:p>
        </p:txBody>
      </p:sp>
      <p:sp>
        <p:nvSpPr>
          <p:cNvPr id="28" name="Text 26"/>
          <p:cNvSpPr/>
          <p:nvPr/>
        </p:nvSpPr>
        <p:spPr>
          <a:xfrm>
            <a:off x="6967728" y="3803904"/>
            <a:ext cx="4389120" cy="219456"/>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Multi-model, multi-modal, lateral hypotheses</a:t>
            </a:r>
            <a:endParaRPr lang="en-US" sz="1200" dirty="0"/>
          </a:p>
        </p:txBody>
      </p:sp>
      <p:sp>
        <p:nvSpPr>
          <p:cNvPr id="29" name="Text 27"/>
          <p:cNvSpPr/>
          <p:nvPr/>
        </p:nvSpPr>
        <p:spPr>
          <a:xfrm>
            <a:off x="6967728" y="4078224"/>
            <a:ext cx="4389120" cy="219456"/>
          </a:xfrm>
          <a:prstGeom prst="rect">
            <a:avLst/>
          </a:prstGeom>
          <a:noFill/>
          <a:ln/>
        </p:spPr>
        <p:txBody>
          <a:bodyPr wrap="square" lIns="0" tIns="0" rIns="0" bIns="0" rtlCol="0" anchor="ctr">
            <a:normAutofit/>
          </a:bodyPr>
          <a:lstStyle/>
          <a:p>
            <a:pPr indent="0" marL="0">
              <a:buNone/>
            </a:pPr>
            <a:r>
              <a:rPr lang="en-US" sz="1100" i="1" dirty="0">
                <a:solidFill>
                  <a:srgbClr val="64748B"/>
                </a:solidFill>
                <a:latin typeface="Aptos" pitchFamily="34" charset="0"/>
                <a:ea typeface="Aptos" pitchFamily="34" charset="-122"/>
                <a:cs typeface="Aptos" pitchFamily="34" charset="-120"/>
              </a:rPr>
              <a:t>here: Llama and Mistral for different tasks</a:t>
            </a:r>
            <a:endParaRPr lang="en-US" sz="1100" dirty="0"/>
          </a:p>
        </p:txBody>
      </p:sp>
      <p:sp>
        <p:nvSpPr>
          <p:cNvPr id="30" name="Shape 28"/>
          <p:cNvSpPr/>
          <p:nvPr/>
        </p:nvSpPr>
        <p:spPr>
          <a:xfrm>
            <a:off x="6766560" y="4553712"/>
            <a:ext cx="4754880" cy="1024128"/>
          </a:xfrm>
          <a:prstGeom prst="roundRect">
            <a:avLst>
              <a:gd name="adj" fmla="val 7143"/>
            </a:avLst>
          </a:prstGeom>
          <a:solidFill>
            <a:srgbClr val="EDE9FE"/>
          </a:solidFill>
          <a:ln w="12700">
            <a:solidFill>
              <a:srgbClr val="6D28D9"/>
            </a:solidFill>
            <a:prstDash val="solid"/>
          </a:ln>
        </p:spPr>
      </p:sp>
      <p:sp>
        <p:nvSpPr>
          <p:cNvPr id="31" name="Text 29"/>
          <p:cNvSpPr/>
          <p:nvPr/>
        </p:nvSpPr>
        <p:spPr>
          <a:xfrm>
            <a:off x="6967728" y="4681728"/>
            <a:ext cx="4389120" cy="237744"/>
          </a:xfrm>
          <a:prstGeom prst="rect">
            <a:avLst/>
          </a:prstGeom>
          <a:noFill/>
          <a:ln/>
        </p:spPr>
        <p:txBody>
          <a:bodyPr wrap="square" lIns="0" tIns="0" rIns="0" bIns="0" rtlCol="0" anchor="ctr">
            <a:normAutofit/>
          </a:bodyPr>
          <a:lstStyle/>
          <a:p>
            <a:pPr indent="0" marL="0">
              <a:buNone/>
            </a:pPr>
            <a:r>
              <a:rPr lang="en-US" sz="1400" b="1" dirty="0">
                <a:solidFill>
                  <a:srgbClr val="0F172A"/>
                </a:solidFill>
                <a:latin typeface="Aptos" pitchFamily="34" charset="0"/>
                <a:ea typeface="Aptos" pitchFamily="34" charset="-122"/>
                <a:cs typeface="Aptos" pitchFamily="34" charset="-120"/>
              </a:rPr>
              <a:t>Prototyping &amp; pipelines</a:t>
            </a:r>
            <a:endParaRPr lang="en-US" sz="1400" dirty="0"/>
          </a:p>
        </p:txBody>
      </p:sp>
      <p:sp>
        <p:nvSpPr>
          <p:cNvPr id="32" name="Text 30"/>
          <p:cNvSpPr/>
          <p:nvPr/>
        </p:nvSpPr>
        <p:spPr>
          <a:xfrm>
            <a:off x="6967728" y="4974336"/>
            <a:ext cx="4389120" cy="219456"/>
          </a:xfrm>
          <a:prstGeom prst="rect">
            <a:avLst/>
          </a:prstGeom>
          <a:noFill/>
          <a:ln/>
        </p:spPr>
        <p:txBody>
          <a:bodyPr wrap="square" lIns="0" tIns="0" rIns="0" bIns="0" rtlCol="0" anchor="ctr">
            <a:normAutofit/>
          </a:bodyPr>
          <a:lstStyle/>
          <a:p>
            <a:pPr indent="0" marL="0">
              <a:buNone/>
            </a:pPr>
            <a:r>
              <a:rPr lang="en-US" sz="1200" dirty="0">
                <a:solidFill>
                  <a:srgbClr val="334155"/>
                </a:solidFill>
                <a:latin typeface="Aptos" pitchFamily="34" charset="0"/>
                <a:ea typeface="Aptos" pitchFamily="34" charset="-122"/>
                <a:cs typeface="Aptos" pitchFamily="34" charset="-120"/>
              </a:rPr>
              <a:t>Turn intent into reproducible pipelines</a:t>
            </a:r>
            <a:endParaRPr lang="en-US" sz="1200" dirty="0"/>
          </a:p>
        </p:txBody>
      </p:sp>
      <p:sp>
        <p:nvSpPr>
          <p:cNvPr id="33" name="Text 31"/>
          <p:cNvSpPr/>
          <p:nvPr/>
        </p:nvSpPr>
        <p:spPr>
          <a:xfrm>
            <a:off x="6967728" y="5248656"/>
            <a:ext cx="4389120" cy="219456"/>
          </a:xfrm>
          <a:prstGeom prst="rect">
            <a:avLst/>
          </a:prstGeom>
          <a:noFill/>
          <a:ln/>
        </p:spPr>
        <p:txBody>
          <a:bodyPr wrap="square" lIns="0" tIns="0" rIns="0" bIns="0" rtlCol="0" anchor="ctr">
            <a:normAutofit/>
          </a:bodyPr>
          <a:lstStyle/>
          <a:p>
            <a:pPr indent="0" marL="0">
              <a:buNone/>
            </a:pPr>
            <a:r>
              <a:rPr lang="en-US" sz="1100" i="1" dirty="0">
                <a:solidFill>
                  <a:srgbClr val="64748B"/>
                </a:solidFill>
                <a:latin typeface="Aptos" pitchFamily="34" charset="0"/>
                <a:ea typeface="Aptos" pitchFamily="34" charset="-122"/>
                <a:cs typeface="Aptos" pitchFamily="34" charset="-120"/>
              </a:rPr>
              <a:t>here: agentic generation under a pinned contract</a:t>
            </a:r>
            <a:endParaRPr lang="en-US" sz="1100" dirty="0"/>
          </a:p>
        </p:txBody>
      </p:sp>
      <p:sp>
        <p:nvSpPr>
          <p:cNvPr id="34" name="Text 32"/>
          <p:cNvSpPr/>
          <p:nvPr/>
        </p:nvSpPr>
        <p:spPr>
          <a:xfrm>
            <a:off x="731520" y="5806440"/>
            <a:ext cx="10698480" cy="320040"/>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latin typeface="Aptos" pitchFamily="34" charset="0"/>
                <a:ea typeface="Aptos" pitchFamily="34" charset="-122"/>
                <a:cs typeface="Aptos" pitchFamily="34" charset="-120"/>
              </a:rPr>
              <a:t>Engaging with the newest abstraction layer is not a retreat from rigor — it is where the rigor now applies.</a:t>
            </a:r>
            <a:endParaRPr lang="en-US" sz="15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HUMAN LEVERAGE</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From technical execution to problem formulation</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Not “AI replaces rigor” — rigor moves up a level, to deciding what deserves to be built.</a:t>
            </a:r>
            <a:endParaRPr lang="en-US" sz="1200" dirty="0"/>
          </a:p>
        </p:txBody>
      </p:sp>
      <p:sp>
        <p:nvSpPr>
          <p:cNvPr id="5" name="Text 3"/>
          <p:cNvSpPr/>
          <p:nvPr/>
        </p:nvSpPr>
        <p:spPr>
          <a:xfrm>
            <a:off x="868680" y="1572768"/>
            <a:ext cx="10424160" cy="457200"/>
          </a:xfrm>
          <a:prstGeom prst="rect">
            <a:avLst/>
          </a:prstGeom>
          <a:noFill/>
          <a:ln/>
        </p:spPr>
        <p:txBody>
          <a:bodyPr wrap="square" lIns="0" tIns="0" rIns="0" bIns="0" rtlCol="0" anchor="ctr">
            <a:normAutofit/>
          </a:bodyPr>
          <a:lstStyle/>
          <a:p>
            <a:pPr algn="ctr" indent="0" marL="0">
              <a:buNone/>
            </a:pPr>
            <a:r>
              <a:rPr lang="en-US" sz="2100" b="1" dirty="0">
                <a:solidFill>
                  <a:srgbClr val="0F172A"/>
                </a:solidFill>
                <a:latin typeface="Aptos" pitchFamily="34" charset="0"/>
                <a:ea typeface="Aptos" pitchFamily="34" charset="-122"/>
                <a:cs typeface="Aptos" pitchFamily="34" charset="-120"/>
              </a:rPr>
              <a:t>A PhD in Computer Science taught me how to navigate ambiguity and discover problems worth solving.</a:t>
            </a:r>
            <a:endParaRPr lang="en-US" sz="2100" dirty="0"/>
          </a:p>
        </p:txBody>
      </p:sp>
      <p:sp>
        <p:nvSpPr>
          <p:cNvPr id="6" name="Shape 4"/>
          <p:cNvSpPr/>
          <p:nvPr/>
        </p:nvSpPr>
        <p:spPr>
          <a:xfrm>
            <a:off x="822960" y="2212848"/>
            <a:ext cx="4892040" cy="1024128"/>
          </a:xfrm>
          <a:prstGeom prst="roundRect">
            <a:avLst>
              <a:gd name="adj" fmla="val 7143"/>
            </a:avLst>
          </a:prstGeom>
          <a:solidFill>
            <a:srgbClr val="FFFFFF"/>
          </a:solidFill>
          <a:ln w="12700">
            <a:solidFill>
              <a:srgbClr val="CBD5E1"/>
            </a:solidFill>
            <a:prstDash val="solid"/>
          </a:ln>
        </p:spPr>
      </p:sp>
      <p:sp>
        <p:nvSpPr>
          <p:cNvPr id="7" name="Text 5"/>
          <p:cNvSpPr/>
          <p:nvPr/>
        </p:nvSpPr>
        <p:spPr>
          <a:xfrm>
            <a:off x="1097280" y="2432304"/>
            <a:ext cx="4343400" cy="228600"/>
          </a:xfrm>
          <a:prstGeom prst="rect">
            <a:avLst/>
          </a:prstGeom>
          <a:noFill/>
          <a:ln/>
        </p:spPr>
        <p:txBody>
          <a:bodyPr wrap="square" lIns="0" tIns="0" rIns="0" bIns="0" rtlCol="0" anchor="ctr">
            <a:normAutofit/>
          </a:bodyPr>
          <a:lstStyle/>
          <a:p>
            <a:pPr algn="ctr" indent="0" marL="0">
              <a:buNone/>
            </a:pPr>
            <a:r>
              <a:rPr lang="en-US" sz="1700" b="1" dirty="0">
                <a:solidFill>
                  <a:srgbClr val="1D4ED8"/>
                </a:solidFill>
                <a:latin typeface="Aptos" pitchFamily="34" charset="0"/>
                <a:ea typeface="Aptos" pitchFamily="34" charset="-122"/>
                <a:cs typeface="Aptos" pitchFamily="34" charset="-120"/>
              </a:rPr>
              <a:t>Research foundation</a:t>
            </a:r>
            <a:endParaRPr lang="en-US" sz="1700" dirty="0"/>
          </a:p>
        </p:txBody>
      </p:sp>
      <p:sp>
        <p:nvSpPr>
          <p:cNvPr id="8" name="Text 6"/>
          <p:cNvSpPr/>
          <p:nvPr/>
        </p:nvSpPr>
        <p:spPr>
          <a:xfrm>
            <a:off x="1097280" y="2798064"/>
            <a:ext cx="4343400" cy="228600"/>
          </a:xfrm>
          <a:prstGeom prst="rect">
            <a:avLst/>
          </a:prstGeom>
          <a:noFill/>
          <a:ln/>
        </p:spPr>
        <p:txBody>
          <a:bodyPr wrap="square" lIns="0" tIns="0" rIns="0" bIns="0" rtlCol="0" anchor="ctr">
            <a:normAutofit/>
          </a:bodyPr>
          <a:lstStyle/>
          <a:p>
            <a:pPr algn="ctr" indent="0" marL="0">
              <a:buNone/>
            </a:pPr>
            <a:r>
              <a:rPr lang="en-US" sz="1400" dirty="0">
                <a:solidFill>
                  <a:srgbClr val="334155"/>
                </a:solidFill>
                <a:latin typeface="Aptos" pitchFamily="34" charset="0"/>
                <a:ea typeface="Aptos" pitchFamily="34" charset="-122"/>
                <a:cs typeface="Aptos" pitchFamily="34" charset="-120"/>
              </a:rPr>
              <a:t>ambiguity · abstraction · evidence · critique</a:t>
            </a:r>
            <a:endParaRPr lang="en-US" sz="1400" dirty="0"/>
          </a:p>
        </p:txBody>
      </p:sp>
      <p:sp>
        <p:nvSpPr>
          <p:cNvPr id="9" name="Shape 7"/>
          <p:cNvSpPr/>
          <p:nvPr/>
        </p:nvSpPr>
        <p:spPr>
          <a:xfrm>
            <a:off x="5833872" y="2724912"/>
            <a:ext cx="548640" cy="0"/>
          </a:xfrm>
          <a:prstGeom prst="line">
            <a:avLst/>
          </a:prstGeom>
          <a:noFill/>
          <a:ln w="25400">
            <a:solidFill>
              <a:srgbClr val="0F766E"/>
            </a:solidFill>
            <a:prstDash val="solid"/>
            <a:headEnd type="none"/>
            <a:tailEnd type="triangle"/>
          </a:ln>
        </p:spPr>
      </p:sp>
      <p:sp>
        <p:nvSpPr>
          <p:cNvPr id="10" name="Shape 8"/>
          <p:cNvSpPr/>
          <p:nvPr/>
        </p:nvSpPr>
        <p:spPr>
          <a:xfrm>
            <a:off x="6446520" y="2212848"/>
            <a:ext cx="4892040" cy="1024128"/>
          </a:xfrm>
          <a:prstGeom prst="roundRect">
            <a:avLst>
              <a:gd name="adj" fmla="val 7143"/>
            </a:avLst>
          </a:prstGeom>
          <a:solidFill>
            <a:srgbClr val="CCFBF1"/>
          </a:solidFill>
          <a:ln w="12700">
            <a:solidFill>
              <a:srgbClr val="0F766E"/>
            </a:solidFill>
            <a:prstDash val="solid"/>
          </a:ln>
        </p:spPr>
      </p:sp>
      <p:sp>
        <p:nvSpPr>
          <p:cNvPr id="11" name="Text 9"/>
          <p:cNvSpPr/>
          <p:nvPr/>
        </p:nvSpPr>
        <p:spPr>
          <a:xfrm>
            <a:off x="6720840" y="2432304"/>
            <a:ext cx="4343400" cy="228600"/>
          </a:xfrm>
          <a:prstGeom prst="rect">
            <a:avLst/>
          </a:prstGeom>
          <a:noFill/>
          <a:ln/>
        </p:spPr>
        <p:txBody>
          <a:bodyPr wrap="square" lIns="0" tIns="0" rIns="0" bIns="0" rtlCol="0" anchor="ctr">
            <a:normAutofit/>
          </a:bodyPr>
          <a:lstStyle/>
          <a:p>
            <a:pPr algn="ctr" indent="0" marL="0">
              <a:buNone/>
            </a:pPr>
            <a:r>
              <a:rPr lang="en-US" sz="1700" b="1" dirty="0">
                <a:solidFill>
                  <a:srgbClr val="0F766E"/>
                </a:solidFill>
                <a:latin typeface="Aptos" pitchFamily="34" charset="0"/>
                <a:ea typeface="Aptos" pitchFamily="34" charset="-122"/>
                <a:cs typeface="Aptos" pitchFamily="34" charset="-120"/>
              </a:rPr>
              <a:t>Applied AI strategy</a:t>
            </a:r>
            <a:endParaRPr lang="en-US" sz="1700" dirty="0"/>
          </a:p>
        </p:txBody>
      </p:sp>
      <p:sp>
        <p:nvSpPr>
          <p:cNvPr id="12" name="Text 10"/>
          <p:cNvSpPr/>
          <p:nvPr/>
        </p:nvSpPr>
        <p:spPr>
          <a:xfrm>
            <a:off x="6720840" y="2798064"/>
            <a:ext cx="4343400" cy="228600"/>
          </a:xfrm>
          <a:prstGeom prst="rect">
            <a:avLst/>
          </a:prstGeom>
          <a:noFill/>
          <a:ln/>
        </p:spPr>
        <p:txBody>
          <a:bodyPr wrap="square" lIns="0" tIns="0" rIns="0" bIns="0" rtlCol="0" anchor="ctr">
            <a:normAutofit/>
          </a:bodyPr>
          <a:lstStyle/>
          <a:p>
            <a:pPr algn="ctr" indent="0" marL="0">
              <a:buNone/>
            </a:pPr>
            <a:r>
              <a:rPr lang="en-US" sz="1400" dirty="0">
                <a:solidFill>
                  <a:srgbClr val="334155"/>
                </a:solidFill>
                <a:latin typeface="Aptos" pitchFamily="34" charset="0"/>
                <a:ea typeface="Aptos" pitchFamily="34" charset="-122"/>
                <a:cs typeface="Aptos" pitchFamily="34" charset="-120"/>
              </a:rPr>
              <a:t>business impact · workflow · governance · adoption</a:t>
            </a:r>
            <a:endParaRPr lang="en-US" sz="1400" dirty="0"/>
          </a:p>
        </p:txBody>
      </p:sp>
      <p:sp>
        <p:nvSpPr>
          <p:cNvPr id="13" name="Text 11"/>
          <p:cNvSpPr/>
          <p:nvPr/>
        </p:nvSpPr>
        <p:spPr>
          <a:xfrm>
            <a:off x="868680" y="3346704"/>
            <a:ext cx="10424160" cy="365760"/>
          </a:xfrm>
          <a:prstGeom prst="rect">
            <a:avLst/>
          </a:prstGeom>
          <a:noFill/>
          <a:ln/>
        </p:spPr>
        <p:txBody>
          <a:bodyPr wrap="square" lIns="0" tIns="0" rIns="0" bIns="0" rtlCol="0" anchor="ctr">
            <a:normAutofit/>
          </a:bodyPr>
          <a:lstStyle/>
          <a:p>
            <a:pPr algn="ctr" indent="0" marL="0">
              <a:buNone/>
            </a:pPr>
            <a:r>
              <a:rPr lang="en-US" sz="1400" dirty="0">
                <a:solidFill>
                  <a:srgbClr val="64748B"/>
                </a:solidFill>
                <a:latin typeface="Aptos" pitchFamily="34" charset="0"/>
                <a:ea typeface="Aptos" pitchFamily="34" charset="-122"/>
                <a:cs typeface="Aptos" pitchFamily="34" charset="-120"/>
              </a:rPr>
              <a:t>Earning the Google AI Professional Certificate was a deliberate step toward connecting that research foundation with real-world AI strategy and business impact.</a:t>
            </a:r>
            <a:endParaRPr lang="en-US" sz="1400" dirty="0"/>
          </a:p>
        </p:txBody>
      </p:sp>
      <p:sp>
        <p:nvSpPr>
          <p:cNvPr id="14" name="Shape 12"/>
          <p:cNvSpPr/>
          <p:nvPr/>
        </p:nvSpPr>
        <p:spPr>
          <a:xfrm>
            <a:off x="822960" y="3858768"/>
            <a:ext cx="10515600" cy="868680"/>
          </a:xfrm>
          <a:prstGeom prst="roundRect">
            <a:avLst>
              <a:gd name="adj" fmla="val 8421"/>
            </a:avLst>
          </a:prstGeom>
          <a:solidFill>
            <a:srgbClr val="EDE9FE"/>
          </a:solidFill>
          <a:ln w="12700">
            <a:solidFill>
              <a:srgbClr val="6D28D9"/>
            </a:solidFill>
            <a:prstDash val="solid"/>
          </a:ln>
        </p:spPr>
      </p:sp>
      <p:sp>
        <p:nvSpPr>
          <p:cNvPr id="15" name="Text 13"/>
          <p:cNvSpPr/>
          <p:nvPr/>
        </p:nvSpPr>
        <p:spPr>
          <a:xfrm>
            <a:off x="1097280" y="4041648"/>
            <a:ext cx="9966960" cy="548640"/>
          </a:xfrm>
          <a:prstGeom prst="rect">
            <a:avLst/>
          </a:prstGeom>
          <a:noFill/>
          <a:ln/>
        </p:spPr>
        <p:txBody>
          <a:bodyPr wrap="square" lIns="0" tIns="0" rIns="0" bIns="0" rtlCol="0" anchor="ctr">
            <a:normAutofit/>
          </a:bodyPr>
          <a:lstStyle/>
          <a:p>
            <a:pPr algn="ctr" indent="0" marL="0">
              <a:buNone/>
            </a:pPr>
            <a:r>
              <a:rPr lang="en-US" sz="1600" b="1" dirty="0">
                <a:solidFill>
                  <a:srgbClr val="0F172A"/>
                </a:solidFill>
                <a:latin typeface="Aptos" pitchFamily="34" charset="0"/>
                <a:ea typeface="Aptos" pitchFamily="34" charset="-122"/>
                <a:cs typeface="Aptos" pitchFamily="34" charset="-120"/>
              </a:rPr>
              <a:t>As AI increasingly commoditizes execution, leadership differentiation comes from human-in-the-loop curiosity, lateral thinking, and identifying the business challenges truly worth solving.</a:t>
            </a:r>
            <a:endParaRPr lang="en-US" sz="1600" dirty="0"/>
          </a:p>
        </p:txBody>
      </p:sp>
      <p:sp>
        <p:nvSpPr>
          <p:cNvPr id="16" name="Text 14"/>
          <p:cNvSpPr/>
          <p:nvPr/>
        </p:nvSpPr>
        <p:spPr>
          <a:xfrm>
            <a:off x="914400" y="5029200"/>
            <a:ext cx="10332720" cy="457200"/>
          </a:xfrm>
          <a:prstGeom prst="rect">
            <a:avLst/>
          </a:prstGeom>
          <a:noFill/>
          <a:ln/>
        </p:spPr>
        <p:txBody>
          <a:bodyPr wrap="square" lIns="0" tIns="0" rIns="0" bIns="0" rtlCol="0" anchor="ctr">
            <a:normAutofit/>
          </a:bodyPr>
          <a:lstStyle/>
          <a:p>
            <a:pPr algn="ctr" indent="0" marL="0">
              <a:buNone/>
            </a:pPr>
            <a:r>
              <a:rPr lang="en-US" sz="2200" b="1" i="1" dirty="0">
                <a:solidFill>
                  <a:srgbClr val="6D28D9"/>
                </a:solidFill>
                <a:latin typeface="Aptos" pitchFamily="34" charset="0"/>
                <a:ea typeface="Aptos" pitchFamily="34" charset="-122"/>
                <a:cs typeface="Aptos" pitchFamily="34" charset="-120"/>
              </a:rPr>
              <a:t>Success is no longer only how we build, but what we choose to build and why.</a:t>
            </a:r>
            <a:endParaRPr lang="en-US" sz="22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640080" y="960120"/>
            <a:ext cx="109728" cy="4480560"/>
          </a:xfrm>
          <a:prstGeom prst="rect">
            <a:avLst/>
          </a:prstGeom>
          <a:solidFill>
            <a:srgbClr val="6D28D9"/>
          </a:solidFill>
          <a:ln w="12700">
            <a:solidFill>
              <a:srgbClr val="6D28D9"/>
            </a:solidFill>
            <a:prstDash val="solid"/>
          </a:ln>
        </p:spPr>
      </p:sp>
      <p:sp>
        <p:nvSpPr>
          <p:cNvPr id="4" name="Text 2"/>
          <p:cNvSpPr/>
          <p:nvPr/>
        </p:nvSpPr>
        <p:spPr>
          <a:xfrm>
            <a:off x="1024128" y="960120"/>
            <a:ext cx="2011680" cy="1097280"/>
          </a:xfrm>
          <a:prstGeom prst="rect">
            <a:avLst/>
          </a:prstGeom>
          <a:noFill/>
          <a:ln/>
        </p:spPr>
        <p:txBody>
          <a:bodyPr wrap="square" lIns="0" tIns="0" rIns="0" bIns="0" rtlCol="0" anchor="ctr">
            <a:normAutofit/>
          </a:bodyPr>
          <a:lstStyle/>
          <a:p>
            <a:pPr indent="0" marL="0">
              <a:buNone/>
            </a:pPr>
            <a:r>
              <a:rPr lang="en-US" sz="5800" b="1" dirty="0">
                <a:solidFill>
                  <a:srgbClr val="6D28D9"/>
                </a:solidFill>
                <a:latin typeface="Aptos" pitchFamily="34" charset="0"/>
                <a:ea typeface="Aptos" pitchFamily="34" charset="-122"/>
                <a:cs typeface="Aptos" pitchFamily="34" charset="-120"/>
              </a:rPr>
              <a:t>03</a:t>
            </a:r>
            <a:endParaRPr lang="en-US" sz="5800" dirty="0"/>
          </a:p>
        </p:txBody>
      </p:sp>
      <p:sp>
        <p:nvSpPr>
          <p:cNvPr id="5" name="Text 3"/>
          <p:cNvSpPr/>
          <p:nvPr/>
        </p:nvSpPr>
        <p:spPr>
          <a:xfrm>
            <a:off x="1024128" y="2148840"/>
            <a:ext cx="9784080" cy="100584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pitchFamily="34" charset="0"/>
                <a:ea typeface="Aptos" pitchFamily="34" charset="-122"/>
                <a:cs typeface="Aptos" pitchFamily="34" charset="-120"/>
              </a:rPr>
              <a:t>Architecture: make the invisible system visible</a:t>
            </a:r>
            <a:endParaRPr lang="en-US" sz="3200" dirty="0"/>
          </a:p>
        </p:txBody>
      </p:sp>
      <p:sp>
        <p:nvSpPr>
          <p:cNvPr id="6" name="Text 4"/>
          <p:cNvSpPr/>
          <p:nvPr/>
        </p:nvSpPr>
        <p:spPr>
          <a:xfrm>
            <a:off x="1060704" y="4645152"/>
            <a:ext cx="8595360" cy="658368"/>
          </a:xfrm>
          <a:prstGeom prst="rect">
            <a:avLst/>
          </a:prstGeom>
          <a:noFill/>
          <a:ln/>
        </p:spPr>
        <p:txBody>
          <a:bodyPr wrap="square" lIns="0" tIns="0" rIns="0" bIns="0" rtlCol="0" anchor="ctr">
            <a:normAutofit/>
          </a:bodyPr>
          <a:lstStyle/>
          <a:p>
            <a:pPr indent="0" marL="0">
              <a:buNone/>
            </a:pPr>
            <a:r>
              <a:rPr lang="en-US" sz="1900" i="1" dirty="0">
                <a:solidFill>
                  <a:srgbClr val="E2E8F0"/>
                </a:solidFill>
                <a:latin typeface="Aptos" pitchFamily="34" charset="0"/>
                <a:ea typeface="Aptos" pitchFamily="34" charset="-122"/>
                <a:cs typeface="Aptos" pitchFamily="34" charset="-120"/>
              </a:rPr>
              <a:t>The goal is not to make the model sound confident.</a:t>
            </a:r>
            <a:endParaRPr lang="en-US" sz="1900" dirty="0"/>
          </a:p>
          <a:p>
            <a:pPr indent="0" marL="0">
              <a:buNone/>
            </a:pPr>
            <a:r>
              <a:rPr lang="en-US" sz="1900" i="1" dirty="0">
                <a:solidFill>
                  <a:srgbClr val="E2E8F0"/>
                </a:solidFill>
                <a:latin typeface="Aptos" pitchFamily="34" charset="0"/>
                <a:ea typeface="Aptos" pitchFamily="34" charset="-122"/>
                <a:cs typeface="Aptos" pitchFamily="34" charset="-120"/>
              </a:rPr>
              <a:t>The goal is to make the system useful, inspectable, and honest.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SYSTEM TOPOLOGY</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A local-first stack with explicit boundaries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The app is a set of contracts between UI, gateway, business services, models, and persistence.</a:t>
            </a:r>
            <a:endParaRPr lang="en-US" sz="1200" dirty="0"/>
          </a:p>
        </p:txBody>
      </p:sp>
      <p:pic>
        <p:nvPicPr>
          <p:cNvPr id="5" name="Image 0" descr="/home/devusr/dev/personal-library/docs/diagrams/system_architecture.png">    </p:cNvPr>
          <p:cNvPicPr>
            <a:picLocks noChangeAspect="1"/>
          </p:cNvPicPr>
          <p:nvPr/>
        </p:nvPicPr>
        <p:blipFill>
          <a:blip r:embed="rId1"/>
          <a:stretch>
            <a:fillRect/>
          </a:stretch>
        </p:blipFill>
        <p:spPr>
          <a:xfrm>
            <a:off x="566928" y="1508760"/>
            <a:ext cx="11018520" cy="4526280"/>
          </a:xfrm>
          <a:prstGeom prst="rect">
            <a:avLst/>
          </a:prstGeom>
        </p:spPr>
      </p:pic>
      <p:sp>
        <p:nvSpPr>
          <p:cNvPr id="6" name="Shape 3"/>
          <p:cNvSpPr/>
          <p:nvPr/>
        </p:nvSpPr>
        <p:spPr>
          <a:xfrm>
            <a:off x="685800" y="5989320"/>
            <a:ext cx="1508760" cy="310896"/>
          </a:xfrm>
          <a:prstGeom prst="roundRect">
            <a:avLst>
              <a:gd name="adj" fmla="val 44118"/>
            </a:avLst>
          </a:prstGeom>
          <a:solidFill>
            <a:srgbClr val="E2E8F0"/>
          </a:solidFill>
          <a:ln w="12700">
            <a:solidFill>
              <a:srgbClr val="E2E8F0"/>
            </a:solidFill>
            <a:prstDash val="solid"/>
          </a:ln>
        </p:spPr>
      </p:sp>
      <p:sp>
        <p:nvSpPr>
          <p:cNvPr id="7" name="Text 4"/>
          <p:cNvSpPr/>
          <p:nvPr/>
        </p:nvSpPr>
        <p:spPr>
          <a:xfrm>
            <a:off x="685800" y="6007608"/>
            <a:ext cx="150876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UI5 Web Components</a:t>
            </a:r>
            <a:endParaRPr lang="en-US" sz="900" dirty="0"/>
          </a:p>
        </p:txBody>
      </p:sp>
      <p:sp>
        <p:nvSpPr>
          <p:cNvPr id="8" name="Shape 5"/>
          <p:cNvSpPr/>
          <p:nvPr/>
        </p:nvSpPr>
        <p:spPr>
          <a:xfrm>
            <a:off x="2331720" y="5989320"/>
            <a:ext cx="1280160" cy="310896"/>
          </a:xfrm>
          <a:prstGeom prst="roundRect">
            <a:avLst>
              <a:gd name="adj" fmla="val 44118"/>
            </a:avLst>
          </a:prstGeom>
          <a:solidFill>
            <a:srgbClr val="E2E8F0"/>
          </a:solidFill>
          <a:ln w="12700">
            <a:solidFill>
              <a:srgbClr val="E2E8F0"/>
            </a:solidFill>
            <a:prstDash val="solid"/>
          </a:ln>
        </p:spPr>
      </p:sp>
      <p:sp>
        <p:nvSpPr>
          <p:cNvPr id="9" name="Text 6"/>
          <p:cNvSpPr/>
          <p:nvPr/>
        </p:nvSpPr>
        <p:spPr>
          <a:xfrm>
            <a:off x="2331720" y="6007608"/>
            <a:ext cx="128016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REST / nginx</a:t>
            </a:r>
            <a:endParaRPr lang="en-US" sz="900" dirty="0"/>
          </a:p>
        </p:txBody>
      </p:sp>
      <p:sp>
        <p:nvSpPr>
          <p:cNvPr id="10" name="Shape 7"/>
          <p:cNvSpPr/>
          <p:nvPr/>
        </p:nvSpPr>
        <p:spPr>
          <a:xfrm>
            <a:off x="3749040" y="5989320"/>
            <a:ext cx="1280160" cy="310896"/>
          </a:xfrm>
          <a:prstGeom prst="roundRect">
            <a:avLst>
              <a:gd name="adj" fmla="val 44118"/>
            </a:avLst>
          </a:prstGeom>
          <a:solidFill>
            <a:srgbClr val="CCFBF1"/>
          </a:solidFill>
          <a:ln w="12700">
            <a:solidFill>
              <a:srgbClr val="CCFBF1"/>
            </a:solidFill>
            <a:prstDash val="solid"/>
          </a:ln>
        </p:spPr>
      </p:sp>
      <p:sp>
        <p:nvSpPr>
          <p:cNvPr id="11" name="Text 8"/>
          <p:cNvSpPr/>
          <p:nvPr/>
        </p:nvSpPr>
        <p:spPr>
          <a:xfrm>
            <a:off x="3749040" y="6007608"/>
            <a:ext cx="128016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Spring Boot 4</a:t>
            </a:r>
            <a:endParaRPr lang="en-US" sz="900" dirty="0"/>
          </a:p>
        </p:txBody>
      </p:sp>
      <p:sp>
        <p:nvSpPr>
          <p:cNvPr id="12" name="Shape 9"/>
          <p:cNvSpPr/>
          <p:nvPr/>
        </p:nvSpPr>
        <p:spPr>
          <a:xfrm>
            <a:off x="5166360" y="5989320"/>
            <a:ext cx="1051560" cy="310896"/>
          </a:xfrm>
          <a:prstGeom prst="roundRect">
            <a:avLst>
              <a:gd name="adj" fmla="val 44118"/>
            </a:avLst>
          </a:prstGeom>
          <a:solidFill>
            <a:srgbClr val="E2E8F0"/>
          </a:solidFill>
          <a:ln w="12700">
            <a:solidFill>
              <a:srgbClr val="E2E8F0"/>
            </a:solidFill>
            <a:prstDash val="solid"/>
          </a:ln>
        </p:spPr>
      </p:sp>
      <p:sp>
        <p:nvSpPr>
          <p:cNvPr id="13" name="Text 10"/>
          <p:cNvSpPr/>
          <p:nvPr/>
        </p:nvSpPr>
        <p:spPr>
          <a:xfrm>
            <a:off x="5166360" y="6007608"/>
            <a:ext cx="105156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MongoDB</a:t>
            </a:r>
            <a:endParaRPr lang="en-US" sz="900" dirty="0"/>
          </a:p>
        </p:txBody>
      </p:sp>
      <p:sp>
        <p:nvSpPr>
          <p:cNvPr id="14" name="Shape 11"/>
          <p:cNvSpPr/>
          <p:nvPr/>
        </p:nvSpPr>
        <p:spPr>
          <a:xfrm>
            <a:off x="6355080" y="5989320"/>
            <a:ext cx="960120" cy="310896"/>
          </a:xfrm>
          <a:prstGeom prst="roundRect">
            <a:avLst>
              <a:gd name="adj" fmla="val 44118"/>
            </a:avLst>
          </a:prstGeom>
          <a:solidFill>
            <a:srgbClr val="EDE9FE"/>
          </a:solidFill>
          <a:ln w="12700">
            <a:solidFill>
              <a:srgbClr val="EDE9FE"/>
            </a:solidFill>
            <a:prstDash val="solid"/>
          </a:ln>
        </p:spPr>
      </p:sp>
      <p:sp>
        <p:nvSpPr>
          <p:cNvPr id="15" name="Text 12"/>
          <p:cNvSpPr/>
          <p:nvPr/>
        </p:nvSpPr>
        <p:spPr>
          <a:xfrm>
            <a:off x="6355080" y="6007608"/>
            <a:ext cx="960120" cy="182880"/>
          </a:xfrm>
          <a:prstGeom prst="rect">
            <a:avLst/>
          </a:prstGeom>
          <a:noFill/>
          <a:ln/>
        </p:spPr>
        <p:txBody>
          <a:bodyPr wrap="square" lIns="0" tIns="0" rIns="0" bIns="0" rtlCol="0" anchor="ctr">
            <a:normAutofit/>
          </a:bodyPr>
          <a:lstStyle/>
          <a:p>
            <a:pPr algn="ctr" indent="0" marL="0">
              <a:buNone/>
            </a:pPr>
            <a:r>
              <a:rPr lang="en-US" sz="900" b="1" dirty="0">
                <a:solidFill>
                  <a:srgbClr val="6D28D9"/>
                </a:solidFill>
                <a:latin typeface="Aptos" pitchFamily="34" charset="0"/>
                <a:ea typeface="Aptos" pitchFamily="34" charset="-122"/>
                <a:cs typeface="Aptos" pitchFamily="34" charset="-120"/>
              </a:rPr>
              <a:t>Qdrant</a:t>
            </a:r>
            <a:endParaRPr lang="en-US" sz="900" dirty="0"/>
          </a:p>
        </p:txBody>
      </p:sp>
      <p:sp>
        <p:nvSpPr>
          <p:cNvPr id="16" name="Shape 13"/>
          <p:cNvSpPr/>
          <p:nvPr/>
        </p:nvSpPr>
        <p:spPr>
          <a:xfrm>
            <a:off x="7452360" y="5989320"/>
            <a:ext cx="914400" cy="310896"/>
          </a:xfrm>
          <a:prstGeom prst="roundRect">
            <a:avLst>
              <a:gd name="adj" fmla="val 44118"/>
            </a:avLst>
          </a:prstGeom>
          <a:solidFill>
            <a:srgbClr val="FEF3C7"/>
          </a:solidFill>
          <a:ln w="12700">
            <a:solidFill>
              <a:srgbClr val="FEF3C7"/>
            </a:solidFill>
            <a:prstDash val="solid"/>
          </a:ln>
        </p:spPr>
      </p:sp>
      <p:sp>
        <p:nvSpPr>
          <p:cNvPr id="17" name="Text 14"/>
          <p:cNvSpPr/>
          <p:nvPr/>
        </p:nvSpPr>
        <p:spPr>
          <a:xfrm>
            <a:off x="7452360" y="6007608"/>
            <a:ext cx="914400" cy="182880"/>
          </a:xfrm>
          <a:prstGeom prst="rect">
            <a:avLst/>
          </a:prstGeom>
          <a:noFill/>
          <a:ln/>
        </p:spPr>
        <p:txBody>
          <a:bodyPr wrap="square" lIns="0" tIns="0" rIns="0" bIns="0" rtlCol="0" anchor="ctr">
            <a:normAutofit/>
          </a:bodyPr>
          <a:lstStyle/>
          <a:p>
            <a:pPr algn="ctr" indent="0" marL="0">
              <a:buNone/>
            </a:pPr>
            <a:r>
              <a:rPr lang="en-US" sz="900" b="1" dirty="0">
                <a:solidFill>
                  <a:srgbClr val="B45309"/>
                </a:solidFill>
                <a:latin typeface="Aptos" pitchFamily="34" charset="0"/>
                <a:ea typeface="Aptos" pitchFamily="34" charset="-122"/>
                <a:cs typeface="Aptos" pitchFamily="34" charset="-120"/>
              </a:rPr>
              <a:t>Ollama</a:t>
            </a:r>
            <a:endParaRPr lang="en-US" sz="900" dirty="0"/>
          </a:p>
        </p:txBody>
      </p:sp>
      <p:sp>
        <p:nvSpPr>
          <p:cNvPr id="18" name="Shape 15"/>
          <p:cNvSpPr/>
          <p:nvPr/>
        </p:nvSpPr>
        <p:spPr>
          <a:xfrm>
            <a:off x="8503920" y="5989320"/>
            <a:ext cx="1051560" cy="310896"/>
          </a:xfrm>
          <a:prstGeom prst="roundRect">
            <a:avLst>
              <a:gd name="adj" fmla="val 44118"/>
            </a:avLst>
          </a:prstGeom>
          <a:solidFill>
            <a:srgbClr val="E2E8F0"/>
          </a:solidFill>
          <a:ln w="12700">
            <a:solidFill>
              <a:srgbClr val="E2E8F0"/>
            </a:solidFill>
            <a:prstDash val="solid"/>
          </a:ln>
        </p:spPr>
      </p:sp>
      <p:sp>
        <p:nvSpPr>
          <p:cNvPr id="19" name="Text 16"/>
          <p:cNvSpPr/>
          <p:nvPr/>
        </p:nvSpPr>
        <p:spPr>
          <a:xfrm>
            <a:off x="8503920" y="6007608"/>
            <a:ext cx="105156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Keycloak</a:t>
            </a:r>
            <a:endParaRPr lang="en-US" sz="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INGESTION</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upload path is a pipeline, not a single model call</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A document becomes several synchronized representations.</a:t>
            </a:r>
            <a:endParaRPr lang="en-US" sz="1200" dirty="0"/>
          </a:p>
        </p:txBody>
      </p:sp>
      <p:sp>
        <p:nvSpPr>
          <p:cNvPr id="5" name="Shape 3"/>
          <p:cNvSpPr/>
          <p:nvPr/>
        </p:nvSpPr>
        <p:spPr>
          <a:xfrm>
            <a:off x="502920" y="1783080"/>
            <a:ext cx="2240280" cy="1051560"/>
          </a:xfrm>
          <a:prstGeom prst="roundRect">
            <a:avLst>
              <a:gd name="adj" fmla="val 6957"/>
            </a:avLst>
          </a:prstGeom>
          <a:solidFill>
            <a:srgbClr val="FFFFFF"/>
          </a:solidFill>
          <a:ln w="12700">
            <a:solidFill>
              <a:srgbClr val="CBD5E1"/>
            </a:solidFill>
            <a:prstDash val="solid"/>
          </a:ln>
        </p:spPr>
      </p:sp>
      <p:sp>
        <p:nvSpPr>
          <p:cNvPr id="6" name="Text 4"/>
          <p:cNvSpPr/>
          <p:nvPr/>
        </p:nvSpPr>
        <p:spPr>
          <a:xfrm>
            <a:off x="640080" y="19659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PDF</a:t>
            </a:r>
            <a:endParaRPr lang="en-US" sz="1700" dirty="0"/>
          </a:p>
        </p:txBody>
      </p:sp>
      <p:sp>
        <p:nvSpPr>
          <p:cNvPr id="7" name="Text 5"/>
          <p:cNvSpPr/>
          <p:nvPr/>
        </p:nvSpPr>
        <p:spPr>
          <a:xfrm>
            <a:off x="640080" y="23500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bytes</a:t>
            </a:r>
            <a:endParaRPr lang="en-US" sz="1200" dirty="0"/>
          </a:p>
        </p:txBody>
      </p:sp>
      <p:sp>
        <p:nvSpPr>
          <p:cNvPr id="8" name="Shape 6"/>
          <p:cNvSpPr/>
          <p:nvPr/>
        </p:nvSpPr>
        <p:spPr>
          <a:xfrm>
            <a:off x="2788920" y="2295144"/>
            <a:ext cx="530352" cy="0"/>
          </a:xfrm>
          <a:prstGeom prst="line">
            <a:avLst/>
          </a:prstGeom>
          <a:noFill/>
          <a:ln w="25400">
            <a:solidFill>
              <a:srgbClr val="0F766E"/>
            </a:solidFill>
            <a:prstDash val="solid"/>
            <a:headEnd type="none"/>
            <a:tailEnd type="triangle"/>
          </a:ln>
        </p:spPr>
      </p:sp>
      <p:sp>
        <p:nvSpPr>
          <p:cNvPr id="9" name="Shape 7"/>
          <p:cNvSpPr/>
          <p:nvPr/>
        </p:nvSpPr>
        <p:spPr>
          <a:xfrm>
            <a:off x="3383280" y="1783080"/>
            <a:ext cx="2240280" cy="1051560"/>
          </a:xfrm>
          <a:prstGeom prst="roundRect">
            <a:avLst>
              <a:gd name="adj" fmla="val 6957"/>
            </a:avLst>
          </a:prstGeom>
          <a:solidFill>
            <a:srgbClr val="FFFFFF"/>
          </a:solidFill>
          <a:ln w="12700">
            <a:solidFill>
              <a:srgbClr val="CBD5E1"/>
            </a:solidFill>
            <a:prstDash val="solid"/>
          </a:ln>
        </p:spPr>
      </p:sp>
      <p:sp>
        <p:nvSpPr>
          <p:cNvPr id="10" name="Text 8"/>
          <p:cNvSpPr/>
          <p:nvPr/>
        </p:nvSpPr>
        <p:spPr>
          <a:xfrm>
            <a:off x="3520440" y="19659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Tika</a:t>
            </a:r>
            <a:endParaRPr lang="en-US" sz="1700" dirty="0"/>
          </a:p>
        </p:txBody>
      </p:sp>
      <p:sp>
        <p:nvSpPr>
          <p:cNvPr id="11" name="Text 9"/>
          <p:cNvSpPr/>
          <p:nvPr/>
        </p:nvSpPr>
        <p:spPr>
          <a:xfrm>
            <a:off x="3520440" y="23500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text</a:t>
            </a:r>
            <a:endParaRPr lang="en-US" sz="1200" dirty="0"/>
          </a:p>
        </p:txBody>
      </p:sp>
      <p:sp>
        <p:nvSpPr>
          <p:cNvPr id="12" name="Shape 10"/>
          <p:cNvSpPr/>
          <p:nvPr/>
        </p:nvSpPr>
        <p:spPr>
          <a:xfrm>
            <a:off x="5669280" y="2295144"/>
            <a:ext cx="530352" cy="0"/>
          </a:xfrm>
          <a:prstGeom prst="line">
            <a:avLst/>
          </a:prstGeom>
          <a:noFill/>
          <a:ln w="25400">
            <a:solidFill>
              <a:srgbClr val="0F766E"/>
            </a:solidFill>
            <a:prstDash val="solid"/>
            <a:headEnd type="none"/>
            <a:tailEnd type="triangle"/>
          </a:ln>
        </p:spPr>
      </p:sp>
      <p:sp>
        <p:nvSpPr>
          <p:cNvPr id="13" name="Shape 11"/>
          <p:cNvSpPr/>
          <p:nvPr/>
        </p:nvSpPr>
        <p:spPr>
          <a:xfrm>
            <a:off x="6263640" y="1783080"/>
            <a:ext cx="2240280" cy="1051560"/>
          </a:xfrm>
          <a:prstGeom prst="roundRect">
            <a:avLst>
              <a:gd name="adj" fmla="val 6957"/>
            </a:avLst>
          </a:prstGeom>
          <a:solidFill>
            <a:srgbClr val="FFFFFF"/>
          </a:solidFill>
          <a:ln w="12700">
            <a:solidFill>
              <a:srgbClr val="CBD5E1"/>
            </a:solidFill>
            <a:prstDash val="solid"/>
          </a:ln>
        </p:spPr>
      </p:sp>
      <p:sp>
        <p:nvSpPr>
          <p:cNvPr id="14" name="Text 12"/>
          <p:cNvSpPr/>
          <p:nvPr/>
        </p:nvSpPr>
        <p:spPr>
          <a:xfrm>
            <a:off x="6400800" y="19659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Metadata</a:t>
            </a:r>
            <a:endParaRPr lang="en-US" sz="1700" dirty="0"/>
          </a:p>
        </p:txBody>
      </p:sp>
      <p:sp>
        <p:nvSpPr>
          <p:cNvPr id="15" name="Text 13"/>
          <p:cNvSpPr/>
          <p:nvPr/>
        </p:nvSpPr>
        <p:spPr>
          <a:xfrm>
            <a:off x="6400800" y="23500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BibTeX</a:t>
            </a:r>
            <a:endParaRPr lang="en-US" sz="1200" dirty="0"/>
          </a:p>
        </p:txBody>
      </p:sp>
      <p:sp>
        <p:nvSpPr>
          <p:cNvPr id="16" name="Shape 14"/>
          <p:cNvSpPr/>
          <p:nvPr/>
        </p:nvSpPr>
        <p:spPr>
          <a:xfrm>
            <a:off x="8549640" y="2295144"/>
            <a:ext cx="530352" cy="0"/>
          </a:xfrm>
          <a:prstGeom prst="line">
            <a:avLst/>
          </a:prstGeom>
          <a:noFill/>
          <a:ln w="25400">
            <a:solidFill>
              <a:srgbClr val="0F766E"/>
            </a:solidFill>
            <a:prstDash val="solid"/>
            <a:headEnd type="none"/>
            <a:tailEnd type="triangle"/>
          </a:ln>
        </p:spPr>
      </p:sp>
      <p:sp>
        <p:nvSpPr>
          <p:cNvPr id="17" name="Shape 15"/>
          <p:cNvSpPr/>
          <p:nvPr/>
        </p:nvSpPr>
        <p:spPr>
          <a:xfrm>
            <a:off x="9144000" y="1783080"/>
            <a:ext cx="2240280" cy="1051560"/>
          </a:xfrm>
          <a:prstGeom prst="roundRect">
            <a:avLst>
              <a:gd name="adj" fmla="val 6957"/>
            </a:avLst>
          </a:prstGeom>
          <a:solidFill>
            <a:srgbClr val="FFFFFF"/>
          </a:solidFill>
          <a:ln w="12700">
            <a:solidFill>
              <a:srgbClr val="CBD5E1"/>
            </a:solidFill>
            <a:prstDash val="solid"/>
          </a:ln>
        </p:spPr>
      </p:sp>
      <p:sp>
        <p:nvSpPr>
          <p:cNvPr id="18" name="Text 16"/>
          <p:cNvSpPr/>
          <p:nvPr/>
        </p:nvSpPr>
        <p:spPr>
          <a:xfrm>
            <a:off x="9281160" y="19659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Chunks</a:t>
            </a:r>
            <a:endParaRPr lang="en-US" sz="1700" dirty="0"/>
          </a:p>
        </p:txBody>
      </p:sp>
      <p:sp>
        <p:nvSpPr>
          <p:cNvPr id="19" name="Text 17"/>
          <p:cNvSpPr/>
          <p:nvPr/>
        </p:nvSpPr>
        <p:spPr>
          <a:xfrm>
            <a:off x="9281160" y="23500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~400 chars</a:t>
            </a:r>
            <a:endParaRPr lang="en-US" sz="1200" dirty="0"/>
          </a:p>
        </p:txBody>
      </p:sp>
      <p:sp>
        <p:nvSpPr>
          <p:cNvPr id="20" name="Shape 18"/>
          <p:cNvSpPr/>
          <p:nvPr/>
        </p:nvSpPr>
        <p:spPr>
          <a:xfrm>
            <a:off x="10259568" y="2880360"/>
            <a:ext cx="0" cy="685800"/>
          </a:xfrm>
          <a:prstGeom prst="line">
            <a:avLst/>
          </a:prstGeom>
          <a:noFill/>
          <a:ln w="25400">
            <a:solidFill>
              <a:srgbClr val="0F766E"/>
            </a:solidFill>
            <a:prstDash val="solid"/>
            <a:headEnd type="none"/>
            <a:tailEnd type="triangle"/>
          </a:ln>
        </p:spPr>
      </p:sp>
      <p:sp>
        <p:nvSpPr>
          <p:cNvPr id="21" name="Shape 19"/>
          <p:cNvSpPr/>
          <p:nvPr/>
        </p:nvSpPr>
        <p:spPr>
          <a:xfrm>
            <a:off x="502920" y="3840480"/>
            <a:ext cx="2240280" cy="1051560"/>
          </a:xfrm>
          <a:prstGeom prst="roundRect">
            <a:avLst>
              <a:gd name="adj" fmla="val 6957"/>
            </a:avLst>
          </a:prstGeom>
          <a:solidFill>
            <a:srgbClr val="FFFFFF"/>
          </a:solidFill>
          <a:ln w="12700">
            <a:solidFill>
              <a:srgbClr val="CBD5E1"/>
            </a:solidFill>
            <a:prstDash val="solid"/>
          </a:ln>
        </p:spPr>
      </p:sp>
      <p:sp>
        <p:nvSpPr>
          <p:cNvPr id="22" name="Text 20"/>
          <p:cNvSpPr/>
          <p:nvPr/>
        </p:nvSpPr>
        <p:spPr>
          <a:xfrm>
            <a:off x="640080" y="40233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Embedding</a:t>
            </a:r>
            <a:endParaRPr lang="en-US" sz="1700" dirty="0"/>
          </a:p>
        </p:txBody>
      </p:sp>
      <p:sp>
        <p:nvSpPr>
          <p:cNvPr id="23" name="Text 21"/>
          <p:cNvSpPr/>
          <p:nvPr/>
        </p:nvSpPr>
        <p:spPr>
          <a:xfrm>
            <a:off x="640080" y="44074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768-D</a:t>
            </a:r>
            <a:endParaRPr lang="en-US" sz="1200" dirty="0"/>
          </a:p>
        </p:txBody>
      </p:sp>
      <p:sp>
        <p:nvSpPr>
          <p:cNvPr id="24" name="Shape 22"/>
          <p:cNvSpPr/>
          <p:nvPr/>
        </p:nvSpPr>
        <p:spPr>
          <a:xfrm>
            <a:off x="2788920" y="4352544"/>
            <a:ext cx="530352" cy="0"/>
          </a:xfrm>
          <a:prstGeom prst="line">
            <a:avLst/>
          </a:prstGeom>
          <a:noFill/>
          <a:ln w="25400">
            <a:solidFill>
              <a:srgbClr val="0F766E"/>
            </a:solidFill>
            <a:prstDash val="solid"/>
            <a:headEnd type="none"/>
            <a:tailEnd type="triangle"/>
          </a:ln>
        </p:spPr>
      </p:sp>
      <p:sp>
        <p:nvSpPr>
          <p:cNvPr id="25" name="Shape 23"/>
          <p:cNvSpPr/>
          <p:nvPr/>
        </p:nvSpPr>
        <p:spPr>
          <a:xfrm>
            <a:off x="3383280" y="3840480"/>
            <a:ext cx="2240280" cy="1051560"/>
          </a:xfrm>
          <a:prstGeom prst="roundRect">
            <a:avLst>
              <a:gd name="adj" fmla="val 6957"/>
            </a:avLst>
          </a:prstGeom>
          <a:solidFill>
            <a:srgbClr val="EDE9FE"/>
          </a:solidFill>
          <a:ln w="12700">
            <a:solidFill>
              <a:srgbClr val="6D28D9"/>
            </a:solidFill>
            <a:prstDash val="solid"/>
          </a:ln>
        </p:spPr>
      </p:sp>
      <p:sp>
        <p:nvSpPr>
          <p:cNvPr id="26" name="Text 24"/>
          <p:cNvSpPr/>
          <p:nvPr/>
        </p:nvSpPr>
        <p:spPr>
          <a:xfrm>
            <a:off x="3520440" y="40233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Qdrant</a:t>
            </a:r>
            <a:endParaRPr lang="en-US" sz="1700" dirty="0"/>
          </a:p>
        </p:txBody>
      </p:sp>
      <p:sp>
        <p:nvSpPr>
          <p:cNvPr id="27" name="Text 25"/>
          <p:cNvSpPr/>
          <p:nvPr/>
        </p:nvSpPr>
        <p:spPr>
          <a:xfrm>
            <a:off x="3520440" y="44074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vectors</a:t>
            </a:r>
            <a:endParaRPr lang="en-US" sz="1200" dirty="0"/>
          </a:p>
        </p:txBody>
      </p:sp>
      <p:sp>
        <p:nvSpPr>
          <p:cNvPr id="28" name="Shape 26"/>
          <p:cNvSpPr/>
          <p:nvPr/>
        </p:nvSpPr>
        <p:spPr>
          <a:xfrm>
            <a:off x="4498848" y="4937760"/>
            <a:ext cx="0" cy="685800"/>
          </a:xfrm>
          <a:prstGeom prst="line">
            <a:avLst/>
          </a:prstGeom>
          <a:noFill/>
          <a:ln w="25400">
            <a:solidFill>
              <a:srgbClr val="0F766E"/>
            </a:solidFill>
            <a:prstDash val="solid"/>
            <a:headEnd type="none"/>
            <a:tailEnd type="triangle"/>
          </a:ln>
        </p:spPr>
      </p:sp>
      <p:sp>
        <p:nvSpPr>
          <p:cNvPr id="29" name="Shape 27"/>
          <p:cNvSpPr/>
          <p:nvPr/>
        </p:nvSpPr>
        <p:spPr>
          <a:xfrm>
            <a:off x="6263640" y="3840480"/>
            <a:ext cx="2240280" cy="1051560"/>
          </a:xfrm>
          <a:prstGeom prst="roundRect">
            <a:avLst>
              <a:gd name="adj" fmla="val 6957"/>
            </a:avLst>
          </a:prstGeom>
          <a:solidFill>
            <a:srgbClr val="FFFFFF"/>
          </a:solidFill>
          <a:ln w="12700">
            <a:solidFill>
              <a:srgbClr val="CBD5E1"/>
            </a:solidFill>
            <a:prstDash val="solid"/>
          </a:ln>
        </p:spPr>
      </p:sp>
      <p:sp>
        <p:nvSpPr>
          <p:cNvPr id="30" name="Text 28"/>
          <p:cNvSpPr/>
          <p:nvPr/>
        </p:nvSpPr>
        <p:spPr>
          <a:xfrm>
            <a:off x="6400800" y="40233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Summaries</a:t>
            </a:r>
            <a:endParaRPr lang="en-US" sz="1700" dirty="0"/>
          </a:p>
        </p:txBody>
      </p:sp>
      <p:sp>
        <p:nvSpPr>
          <p:cNvPr id="31" name="Text 29"/>
          <p:cNvSpPr/>
          <p:nvPr/>
        </p:nvSpPr>
        <p:spPr>
          <a:xfrm>
            <a:off x="6400800" y="44074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Llama + Mistral</a:t>
            </a:r>
            <a:endParaRPr lang="en-US" sz="1200" dirty="0"/>
          </a:p>
        </p:txBody>
      </p:sp>
      <p:sp>
        <p:nvSpPr>
          <p:cNvPr id="32" name="Shape 30"/>
          <p:cNvSpPr/>
          <p:nvPr/>
        </p:nvSpPr>
        <p:spPr>
          <a:xfrm>
            <a:off x="8549640" y="4352544"/>
            <a:ext cx="530352" cy="0"/>
          </a:xfrm>
          <a:prstGeom prst="line">
            <a:avLst/>
          </a:prstGeom>
          <a:noFill/>
          <a:ln w="25400">
            <a:solidFill>
              <a:srgbClr val="0F766E"/>
            </a:solidFill>
            <a:prstDash val="solid"/>
            <a:headEnd type="none"/>
            <a:tailEnd type="triangle"/>
          </a:ln>
        </p:spPr>
      </p:sp>
      <p:sp>
        <p:nvSpPr>
          <p:cNvPr id="33" name="Shape 31"/>
          <p:cNvSpPr/>
          <p:nvPr/>
        </p:nvSpPr>
        <p:spPr>
          <a:xfrm>
            <a:off x="9144000" y="3840480"/>
            <a:ext cx="2240280" cy="1051560"/>
          </a:xfrm>
          <a:prstGeom prst="roundRect">
            <a:avLst>
              <a:gd name="adj" fmla="val 6957"/>
            </a:avLst>
          </a:prstGeom>
          <a:solidFill>
            <a:srgbClr val="FFFFFF"/>
          </a:solidFill>
          <a:ln w="12700">
            <a:solidFill>
              <a:srgbClr val="CBD5E1"/>
            </a:solidFill>
            <a:prstDash val="solid"/>
          </a:ln>
        </p:spPr>
      </p:sp>
      <p:sp>
        <p:nvSpPr>
          <p:cNvPr id="34" name="Text 32"/>
          <p:cNvSpPr/>
          <p:nvPr/>
        </p:nvSpPr>
        <p:spPr>
          <a:xfrm>
            <a:off x="9281160" y="4023360"/>
            <a:ext cx="1965960" cy="22860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MongoDB</a:t>
            </a:r>
            <a:endParaRPr lang="en-US" sz="1700" dirty="0"/>
          </a:p>
        </p:txBody>
      </p:sp>
      <p:sp>
        <p:nvSpPr>
          <p:cNvPr id="35" name="Text 33"/>
          <p:cNvSpPr/>
          <p:nvPr/>
        </p:nvSpPr>
        <p:spPr>
          <a:xfrm>
            <a:off x="9281160" y="4407408"/>
            <a:ext cx="1965960" cy="201168"/>
          </a:xfrm>
          <a:prstGeom prst="rect">
            <a:avLst/>
          </a:prstGeom>
          <a:noFill/>
          <a:ln/>
        </p:spPr>
        <p:txBody>
          <a:bodyPr wrap="square" lIns="0" tIns="0" rIns="0" bIns="0" rtlCol="0" anchor="ctr">
            <a:normAutofit/>
          </a:bodyPr>
          <a:lstStyle/>
          <a:p>
            <a:pPr algn="ctr" indent="0" marL="0">
              <a:buNone/>
            </a:pPr>
            <a:r>
              <a:rPr lang="en-US" sz="1200" dirty="0">
                <a:solidFill>
                  <a:srgbClr val="64748B"/>
                </a:solidFill>
                <a:latin typeface="Aptos" pitchFamily="34" charset="0"/>
                <a:ea typeface="Aptos" pitchFamily="34" charset="-122"/>
                <a:cs typeface="Aptos" pitchFamily="34" charset="-120"/>
              </a:rPr>
              <a:t>record + history</a:t>
            </a:r>
            <a:endParaRPr lang="en-US" sz="1200" dirty="0"/>
          </a:p>
        </p:txBody>
      </p:sp>
      <p:sp>
        <p:nvSpPr>
          <p:cNvPr id="36" name="Text 34"/>
          <p:cNvSpPr/>
          <p:nvPr/>
        </p:nvSpPr>
        <p:spPr>
          <a:xfrm>
            <a:off x="640080" y="5806440"/>
            <a:ext cx="10789920" cy="292608"/>
          </a:xfrm>
          <a:prstGeom prst="rect">
            <a:avLst/>
          </a:prstGeom>
          <a:noFill/>
          <a:ln/>
        </p:spPr>
        <p:txBody>
          <a:bodyPr wrap="square" lIns="0" tIns="0" rIns="0" bIns="0" rtlCol="0" anchor="ctr">
            <a:normAutofit/>
          </a:bodyPr>
          <a:lstStyle/>
          <a:p>
            <a:pPr algn="ctr" indent="0" marL="0">
              <a:buNone/>
            </a:pPr>
            <a:r>
              <a:rPr lang="en-US" sz="1500" b="1" dirty="0">
                <a:solidFill>
                  <a:srgbClr val="334155"/>
                </a:solidFill>
                <a:latin typeface="Aptos" pitchFamily="34" charset="0"/>
                <a:ea typeface="Aptos" pitchFamily="34" charset="-122"/>
                <a:cs typeface="Aptos" pitchFamily="34" charset="-120"/>
              </a:rPr>
              <a:t>Current behavior: sequential Ollama calls; synchronous ingestion; graceful degradation when Qdrant is unavailable.</a:t>
            </a:r>
            <a:endParaRPr lang="en-US" sz="15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ARCHITECTURE DOCUMENTATION</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Mind map and BPMN are decision surfaces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They are useful even when they are not executable.</a:t>
            </a:r>
            <a:endParaRPr lang="en-US" sz="1200" dirty="0"/>
          </a:p>
        </p:txBody>
      </p:sp>
      <p:pic>
        <p:nvPicPr>
          <p:cNvPr id="5" name="Image 0" descr="/home/devusr/dev/personal-library/docs/diagrams/mindmap.png">    </p:cNvPr>
          <p:cNvPicPr>
            <a:picLocks noChangeAspect="1"/>
          </p:cNvPicPr>
          <p:nvPr/>
        </p:nvPicPr>
        <p:blipFill>
          <a:blip r:embed="rId1"/>
          <a:stretch>
            <a:fillRect/>
          </a:stretch>
        </p:blipFill>
        <p:spPr>
          <a:xfrm>
            <a:off x="548640" y="1554480"/>
            <a:ext cx="5349240" cy="4251960"/>
          </a:xfrm>
          <a:prstGeom prst="rect">
            <a:avLst/>
          </a:prstGeom>
        </p:spPr>
      </p:pic>
      <p:pic>
        <p:nvPicPr>
          <p:cNvPr id="6" name="Image 1" descr="/home/devusr/dev/personal-library/docs/diagrams/document_ingestion_rag.png">    </p:cNvPr>
          <p:cNvPicPr>
            <a:picLocks noChangeAspect="1"/>
          </p:cNvPicPr>
          <p:nvPr/>
        </p:nvPicPr>
        <p:blipFill>
          <a:blip r:embed="rId2"/>
          <a:stretch>
            <a:fillRect/>
          </a:stretch>
        </p:blipFill>
        <p:spPr>
          <a:xfrm>
            <a:off x="6263640" y="1554480"/>
            <a:ext cx="5349240" cy="4251960"/>
          </a:xfrm>
          <a:prstGeom prst="rect">
            <a:avLst/>
          </a:prstGeom>
        </p:spPr>
      </p:pic>
      <p:sp>
        <p:nvSpPr>
          <p:cNvPr id="7" name="Shape 3"/>
          <p:cNvSpPr/>
          <p:nvPr/>
        </p:nvSpPr>
        <p:spPr>
          <a:xfrm>
            <a:off x="777240" y="5961888"/>
            <a:ext cx="3063240" cy="310896"/>
          </a:xfrm>
          <a:prstGeom prst="roundRect">
            <a:avLst>
              <a:gd name="adj" fmla="val 44118"/>
            </a:avLst>
          </a:prstGeom>
          <a:solidFill>
            <a:srgbClr val="E2E8F0"/>
          </a:solidFill>
          <a:ln w="12700">
            <a:solidFill>
              <a:srgbClr val="E2E8F0"/>
            </a:solidFill>
            <a:prstDash val="solid"/>
          </a:ln>
        </p:spPr>
      </p:sp>
      <p:sp>
        <p:nvSpPr>
          <p:cNvPr id="8" name="Text 4"/>
          <p:cNvSpPr/>
          <p:nvPr/>
        </p:nvSpPr>
        <p:spPr>
          <a:xfrm>
            <a:off x="777240" y="5980176"/>
            <a:ext cx="3063240" cy="182880"/>
          </a:xfrm>
          <a:prstGeom prst="rect">
            <a:avLst/>
          </a:prstGeom>
          <a:noFill/>
          <a:ln/>
        </p:spPr>
        <p:txBody>
          <a:bodyPr wrap="square" lIns="0" tIns="0" rIns="0" bIns="0" rtlCol="0" anchor="ctr">
            <a:normAutofit/>
          </a:bodyPr>
          <a:lstStyle/>
          <a:p>
            <a:pPr algn="ctr" indent="0" marL="0">
              <a:buNone/>
            </a:pPr>
            <a:r>
              <a:rPr lang="en-US" sz="900" b="1" dirty="0">
                <a:solidFill>
                  <a:srgbClr val="334155"/>
                </a:solidFill>
                <a:latin typeface="Aptos" pitchFamily="34" charset="0"/>
                <a:ea typeface="Aptos" pitchFamily="34" charset="-122"/>
                <a:cs typeface="Aptos" pitchFamily="34" charset="-120"/>
              </a:rPr>
              <a:t>MIND MAP: concepts and learning path</a:t>
            </a:r>
            <a:endParaRPr lang="en-US" sz="900" dirty="0"/>
          </a:p>
        </p:txBody>
      </p:sp>
      <p:sp>
        <p:nvSpPr>
          <p:cNvPr id="9" name="Shape 5"/>
          <p:cNvSpPr/>
          <p:nvPr/>
        </p:nvSpPr>
        <p:spPr>
          <a:xfrm>
            <a:off x="6446520" y="5961888"/>
            <a:ext cx="3063240" cy="310896"/>
          </a:xfrm>
          <a:prstGeom prst="roundRect">
            <a:avLst>
              <a:gd name="adj" fmla="val 44118"/>
            </a:avLst>
          </a:prstGeom>
          <a:solidFill>
            <a:srgbClr val="FEF3C7"/>
          </a:solidFill>
          <a:ln w="12700">
            <a:solidFill>
              <a:srgbClr val="FEF3C7"/>
            </a:solidFill>
            <a:prstDash val="solid"/>
          </a:ln>
        </p:spPr>
      </p:sp>
      <p:sp>
        <p:nvSpPr>
          <p:cNvPr id="10" name="Text 6"/>
          <p:cNvSpPr/>
          <p:nvPr/>
        </p:nvSpPr>
        <p:spPr>
          <a:xfrm>
            <a:off x="6446520" y="5980176"/>
            <a:ext cx="3063240" cy="182880"/>
          </a:xfrm>
          <a:prstGeom prst="rect">
            <a:avLst/>
          </a:prstGeom>
          <a:noFill/>
          <a:ln/>
        </p:spPr>
        <p:txBody>
          <a:bodyPr wrap="square" lIns="0" tIns="0" rIns="0" bIns="0" rtlCol="0" anchor="ctr">
            <a:normAutofit/>
          </a:bodyPr>
          <a:lstStyle/>
          <a:p>
            <a:pPr algn="ctr" indent="0" marL="0">
              <a:buNone/>
            </a:pPr>
            <a:r>
              <a:rPr lang="en-US" sz="900" b="1" dirty="0">
                <a:solidFill>
                  <a:srgbClr val="B45309"/>
                </a:solidFill>
                <a:latin typeface="Aptos" pitchFamily="34" charset="0"/>
                <a:ea typeface="Aptos" pitchFamily="34" charset="-122"/>
                <a:cs typeface="Aptos" pitchFamily="34" charset="-120"/>
              </a:rPr>
              <a:t>BPMN: intended process and governance</a:t>
            </a:r>
            <a:endParaRPr lang="en-US" sz="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POLYGLOT PERSISTENCE</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One document, different questions, different stores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MongoDB is the system of record; Qdrant is the semantic index.</a:t>
            </a:r>
            <a:endParaRPr lang="en-US" sz="1200" dirty="0"/>
          </a:p>
        </p:txBody>
      </p:sp>
      <p:sp>
        <p:nvSpPr>
          <p:cNvPr id="5" name="Shape 3"/>
          <p:cNvSpPr/>
          <p:nvPr/>
        </p:nvSpPr>
        <p:spPr>
          <a:xfrm>
            <a:off x="777240" y="1737360"/>
            <a:ext cx="5074920" cy="3337560"/>
          </a:xfrm>
          <a:prstGeom prst="roundRect">
            <a:avLst>
              <a:gd name="adj" fmla="val 2192"/>
            </a:avLst>
          </a:prstGeom>
          <a:solidFill>
            <a:srgbClr val="FFFFFF"/>
          </a:solidFill>
          <a:ln w="12700">
            <a:solidFill>
              <a:srgbClr val="CBD5E1"/>
            </a:solidFill>
            <a:prstDash val="solid"/>
          </a:ln>
        </p:spPr>
      </p:sp>
      <p:sp>
        <p:nvSpPr>
          <p:cNvPr id="6" name="Text 4"/>
          <p:cNvSpPr/>
          <p:nvPr/>
        </p:nvSpPr>
        <p:spPr>
          <a:xfrm>
            <a:off x="1051560" y="2057400"/>
            <a:ext cx="4480560" cy="274320"/>
          </a:xfrm>
          <a:prstGeom prst="rect">
            <a:avLst/>
          </a:prstGeom>
          <a:noFill/>
          <a:ln/>
        </p:spPr>
        <p:txBody>
          <a:bodyPr wrap="square" lIns="0" tIns="0" rIns="0" bIns="0" rtlCol="0" anchor="ctr">
            <a:normAutofit/>
          </a:bodyPr>
          <a:lstStyle/>
          <a:p>
            <a:pPr indent="0" marL="0">
              <a:buNone/>
            </a:pPr>
            <a:r>
              <a:rPr lang="en-US" sz="2100" b="1" dirty="0">
                <a:solidFill>
                  <a:srgbClr val="0F766E"/>
                </a:solidFill>
                <a:latin typeface="Aptos" pitchFamily="34" charset="0"/>
                <a:ea typeface="Aptos" pitchFamily="34" charset="-122"/>
                <a:cs typeface="Aptos" pitchFamily="34" charset="-120"/>
              </a:rPr>
              <a:t>MongoDB — authoritative record</a:t>
            </a:r>
            <a:endParaRPr lang="en-US" sz="2100" dirty="0"/>
          </a:p>
        </p:txBody>
      </p:sp>
      <p:sp>
        <p:nvSpPr>
          <p:cNvPr id="7" name="Text 5"/>
          <p:cNvSpPr/>
          <p:nvPr/>
        </p:nvSpPr>
        <p:spPr>
          <a:xfrm>
            <a:off x="1097280" y="265176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document metadata and BibTeX</a:t>
            </a:r>
            <a:endParaRPr lang="en-US" sz="1600" dirty="0"/>
          </a:p>
        </p:txBody>
      </p:sp>
      <p:sp>
        <p:nvSpPr>
          <p:cNvPr id="8" name="Text 6"/>
          <p:cNvSpPr/>
          <p:nvPr/>
        </p:nvSpPr>
        <p:spPr>
          <a:xfrm>
            <a:off x="1097280" y="324612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current content and summaries</a:t>
            </a:r>
            <a:endParaRPr lang="en-US" sz="1600" dirty="0"/>
          </a:p>
        </p:txBody>
      </p:sp>
      <p:sp>
        <p:nvSpPr>
          <p:cNvPr id="9" name="Text 7"/>
          <p:cNvSpPr/>
          <p:nvPr/>
        </p:nvSpPr>
        <p:spPr>
          <a:xfrm>
            <a:off x="1097280" y="384048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version history and rollback</a:t>
            </a:r>
            <a:endParaRPr lang="en-US" sz="1600" dirty="0"/>
          </a:p>
        </p:txBody>
      </p:sp>
      <p:sp>
        <p:nvSpPr>
          <p:cNvPr id="10" name="Text 8"/>
          <p:cNvSpPr/>
          <p:nvPr/>
        </p:nvSpPr>
        <p:spPr>
          <a:xfrm>
            <a:off x="1097280" y="443484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transactional lifecycle queries</a:t>
            </a:r>
            <a:endParaRPr lang="en-US" sz="1600" dirty="0"/>
          </a:p>
        </p:txBody>
      </p:sp>
      <p:sp>
        <p:nvSpPr>
          <p:cNvPr id="11" name="Shape 9"/>
          <p:cNvSpPr/>
          <p:nvPr/>
        </p:nvSpPr>
        <p:spPr>
          <a:xfrm>
            <a:off x="6355080" y="1737360"/>
            <a:ext cx="5074920" cy="3337560"/>
          </a:xfrm>
          <a:prstGeom prst="roundRect">
            <a:avLst>
              <a:gd name="adj" fmla="val 2192"/>
            </a:avLst>
          </a:prstGeom>
          <a:solidFill>
            <a:srgbClr val="EDE9FE"/>
          </a:solidFill>
          <a:ln w="12700">
            <a:solidFill>
              <a:srgbClr val="6D28D9"/>
            </a:solidFill>
            <a:prstDash val="solid"/>
          </a:ln>
        </p:spPr>
      </p:sp>
      <p:sp>
        <p:nvSpPr>
          <p:cNvPr id="12" name="Text 10"/>
          <p:cNvSpPr/>
          <p:nvPr/>
        </p:nvSpPr>
        <p:spPr>
          <a:xfrm>
            <a:off x="6629400" y="2057400"/>
            <a:ext cx="4480560" cy="274320"/>
          </a:xfrm>
          <a:prstGeom prst="rect">
            <a:avLst/>
          </a:prstGeom>
          <a:noFill/>
          <a:ln/>
        </p:spPr>
        <p:txBody>
          <a:bodyPr wrap="square" lIns="0" tIns="0" rIns="0" bIns="0" rtlCol="0" anchor="ctr">
            <a:normAutofit/>
          </a:bodyPr>
          <a:lstStyle/>
          <a:p>
            <a:pPr indent="0" marL="0">
              <a:buNone/>
            </a:pPr>
            <a:r>
              <a:rPr lang="en-US" sz="2100" b="1" dirty="0">
                <a:solidFill>
                  <a:srgbClr val="6D28D9"/>
                </a:solidFill>
                <a:latin typeface="Aptos" pitchFamily="34" charset="0"/>
                <a:ea typeface="Aptos" pitchFamily="34" charset="-122"/>
                <a:cs typeface="Aptos" pitchFamily="34" charset="-120"/>
              </a:rPr>
              <a:t>Qdrant — semantic retrieval index</a:t>
            </a:r>
            <a:endParaRPr lang="en-US" sz="2100" dirty="0"/>
          </a:p>
        </p:txBody>
      </p:sp>
      <p:sp>
        <p:nvSpPr>
          <p:cNvPr id="13" name="Text 11"/>
          <p:cNvSpPr/>
          <p:nvPr/>
        </p:nvSpPr>
        <p:spPr>
          <a:xfrm>
            <a:off x="6675120" y="265176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768-dimensional embeddings</a:t>
            </a:r>
            <a:endParaRPr lang="en-US" sz="1600" dirty="0"/>
          </a:p>
        </p:txBody>
      </p:sp>
      <p:sp>
        <p:nvSpPr>
          <p:cNvPr id="14" name="Text 12"/>
          <p:cNvSpPr/>
          <p:nvPr/>
        </p:nvSpPr>
        <p:spPr>
          <a:xfrm>
            <a:off x="6675120" y="324612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cosine similarity and HNSW</a:t>
            </a:r>
            <a:endParaRPr lang="en-US" sz="1600" dirty="0"/>
          </a:p>
        </p:txBody>
      </p:sp>
      <p:sp>
        <p:nvSpPr>
          <p:cNvPr id="15" name="Text 13"/>
          <p:cNvSpPr/>
          <p:nvPr/>
        </p:nvSpPr>
        <p:spPr>
          <a:xfrm>
            <a:off x="6675120" y="384048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documentGuid payload scoping</a:t>
            </a:r>
            <a:endParaRPr lang="en-US" sz="1600" dirty="0"/>
          </a:p>
        </p:txBody>
      </p:sp>
      <p:sp>
        <p:nvSpPr>
          <p:cNvPr id="16" name="Text 14"/>
          <p:cNvSpPr/>
          <p:nvPr/>
        </p:nvSpPr>
        <p:spPr>
          <a:xfrm>
            <a:off x="6675120" y="4434840"/>
            <a:ext cx="4206240" cy="347472"/>
          </a:xfrm>
          <a:prstGeom prst="rect">
            <a:avLst/>
          </a:prstGeom>
          <a:noFill/>
          <a:ln/>
        </p:spPr>
        <p:txBody>
          <a:bodyPr wrap="square" lIns="0" tIns="0" rIns="0" bIns="0" rtlCol="0" anchor="ctr">
            <a:normAutofit/>
          </a:bodyPr>
          <a:lstStyle/>
          <a:p>
            <a:pPr marL="177800" indent="-177800">
              <a:buSzPct val="100000"/>
              <a:buChar char="•"/>
            </a:pPr>
            <a:r>
              <a:rPr lang="en-US" sz="1600" dirty="0">
                <a:solidFill>
                  <a:srgbClr val="0F172A"/>
                </a:solidFill>
                <a:latin typeface="Aptos" pitchFamily="34" charset="0"/>
                <a:ea typeface="Aptos" pitchFamily="34" charset="-122"/>
                <a:cs typeface="Aptos" pitchFamily="34" charset="-120"/>
              </a:rPr>
              <a:t>top-k context selection</a:t>
            </a:r>
            <a:endParaRPr lang="en-US" sz="1600" dirty="0"/>
          </a:p>
        </p:txBody>
      </p:sp>
      <p:sp>
        <p:nvSpPr>
          <p:cNvPr id="17" name="Text 15"/>
          <p:cNvSpPr/>
          <p:nvPr/>
        </p:nvSpPr>
        <p:spPr>
          <a:xfrm>
            <a:off x="868680" y="5623560"/>
            <a:ext cx="10561320" cy="411480"/>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Do not ask a vector index to be your source of truth. Do not ask a document database to be your semantic search engine.</a:t>
            </a:r>
            <a:endParaRPr lang="en-US" sz="17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BPMN REALITY CHECK</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A model can reveal the gap between intent and execution</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This project deliberately ships the model and calls out the missing engine.</a:t>
            </a:r>
            <a:endParaRPr lang="en-US" sz="1200" dirty="0"/>
          </a:p>
        </p:txBody>
      </p:sp>
      <p:sp>
        <p:nvSpPr>
          <p:cNvPr id="5" name="Shape 3"/>
          <p:cNvSpPr/>
          <p:nvPr/>
        </p:nvSpPr>
        <p:spPr>
          <a:xfrm>
            <a:off x="868680" y="1828800"/>
            <a:ext cx="4937760" cy="3429000"/>
          </a:xfrm>
          <a:prstGeom prst="roundRect">
            <a:avLst>
              <a:gd name="adj" fmla="val 1600"/>
            </a:avLst>
          </a:prstGeom>
          <a:solidFill>
            <a:srgbClr val="0B1220"/>
          </a:solidFill>
          <a:ln w="12700">
            <a:solidFill>
              <a:srgbClr val="1E293B"/>
            </a:solidFill>
            <a:prstDash val="solid"/>
          </a:ln>
        </p:spPr>
      </p:sp>
      <p:sp>
        <p:nvSpPr>
          <p:cNvPr id="6" name="Text 4"/>
          <p:cNvSpPr/>
          <p:nvPr/>
        </p:nvSpPr>
        <p:spPr>
          <a:xfrm>
            <a:off x="1033272" y="1956816"/>
            <a:ext cx="4608576" cy="3209544"/>
          </a:xfrm>
          <a:prstGeom prst="rect">
            <a:avLst/>
          </a:prstGeom>
          <a:noFill/>
          <a:ln/>
        </p:spPr>
        <p:txBody>
          <a:bodyPr wrap="square" lIns="0" tIns="0" rIns="0" bIns="0" rtlCol="0" anchor="t">
            <a:normAutofit/>
          </a:bodyPr>
          <a:lstStyle/>
          <a:p>
            <a:pPr indent="0" marL="0">
              <a:buNone/>
            </a:pPr>
            <a:r>
              <a:rPr lang="en-US" sz="1500" dirty="0">
                <a:solidFill>
                  <a:srgbClr val="D1FAE5"/>
                </a:solidFill>
                <a:latin typeface="Consolas" pitchFamily="34" charset="0"/>
                <a:ea typeface="Consolas" pitchFamily="34" charset="-122"/>
                <a:cs typeface="Consolas" pitchFamily="34" charset="-120"/>
              </a:rPr>
              <a:t>BPMN intent:</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retry 3 × 10 seconds</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librarian review gate</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model + vector orchestration</a:t>
            </a:r>
            <a:endParaRPr lang="en-US" sz="1500" dirty="0"/>
          </a:p>
          <a:p>
            <a:pPr indent="0" marL="0">
              <a:buNone/>
            </a:pP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Runtime today:</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Spring @Service calls</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synchronous happy path</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graceful fallback to excerpt</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no workflow engine</a:t>
            </a:r>
            <a:endParaRPr lang="en-US" sz="1500" dirty="0"/>
          </a:p>
        </p:txBody>
      </p:sp>
      <p:sp>
        <p:nvSpPr>
          <p:cNvPr id="7" name="Shape 5"/>
          <p:cNvSpPr/>
          <p:nvPr/>
        </p:nvSpPr>
        <p:spPr>
          <a:xfrm>
            <a:off x="6263640" y="1828800"/>
            <a:ext cx="4983480" cy="3429000"/>
          </a:xfrm>
          <a:prstGeom prst="roundRect">
            <a:avLst>
              <a:gd name="adj" fmla="val 1600"/>
            </a:avLst>
          </a:prstGeom>
          <a:solidFill>
            <a:srgbClr val="0B1220"/>
          </a:solidFill>
          <a:ln w="12700">
            <a:solidFill>
              <a:srgbClr val="1E293B"/>
            </a:solidFill>
            <a:prstDash val="solid"/>
          </a:ln>
        </p:spPr>
      </p:sp>
      <p:sp>
        <p:nvSpPr>
          <p:cNvPr id="8" name="Text 6"/>
          <p:cNvSpPr/>
          <p:nvPr/>
        </p:nvSpPr>
        <p:spPr>
          <a:xfrm>
            <a:off x="6428232" y="1956816"/>
            <a:ext cx="4654296" cy="3209544"/>
          </a:xfrm>
          <a:prstGeom prst="rect">
            <a:avLst/>
          </a:prstGeom>
          <a:noFill/>
          <a:ln/>
        </p:spPr>
        <p:txBody>
          <a:bodyPr wrap="square" lIns="0" tIns="0" rIns="0" bIns="0" rtlCol="0" anchor="t">
            <a:normAutofit/>
          </a:bodyPr>
          <a:lstStyle/>
          <a:p>
            <a:pPr indent="0" marL="0">
              <a:buNone/>
            </a:pPr>
            <a:r>
              <a:rPr lang="en-US" sz="1400" dirty="0">
                <a:solidFill>
                  <a:srgbClr val="D1FAE5"/>
                </a:solidFill>
                <a:latin typeface="Consolas" pitchFamily="34" charset="0"/>
                <a:ea typeface="Consolas" pitchFamily="34" charset="-122"/>
                <a:cs typeface="Consolas" pitchFamily="34" charset="-120"/>
              </a:rPr>
              <a:t>// The next production step</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@Transactional</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public DocumentResponse upload(...) {</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    String text = tika.parseToString(file.getInputStream());</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    indexChunks(guid, text);</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    summarizeWithLlama(text);</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    summarizeWithMistral(text);</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    return repository.save(entity);</a:t>
            </a:r>
            <a:endParaRPr lang="en-US" sz="1400" dirty="0"/>
          </a:p>
          <a:p>
            <a:pPr indent="0" marL="0">
              <a:buNone/>
            </a:pPr>
            <a:r>
              <a:rPr lang="en-US" sz="1400" dirty="0">
                <a:solidFill>
                  <a:srgbClr val="D1FAE5"/>
                </a:solidFill>
                <a:latin typeface="Consolas" pitchFamily="34" charset="0"/>
                <a:ea typeface="Consolas" pitchFamily="34" charset="-122"/>
                <a:cs typeface="Consolas" pitchFamily="34" charset="-120"/>
              </a:rPr>
              <a:t>}</a:t>
            </a:r>
            <a:endParaRPr lang="en-US" sz="1400" dirty="0"/>
          </a:p>
        </p:txBody>
      </p:sp>
      <p:sp>
        <p:nvSpPr>
          <p:cNvPr id="9" name="Shape 7"/>
          <p:cNvSpPr/>
          <p:nvPr/>
        </p:nvSpPr>
        <p:spPr>
          <a:xfrm>
            <a:off x="3611880" y="5650992"/>
            <a:ext cx="2926080" cy="310896"/>
          </a:xfrm>
          <a:prstGeom prst="roundRect">
            <a:avLst>
              <a:gd name="adj" fmla="val 44118"/>
            </a:avLst>
          </a:prstGeom>
          <a:solidFill>
            <a:srgbClr val="FEF3C7"/>
          </a:solidFill>
          <a:ln w="12700">
            <a:solidFill>
              <a:srgbClr val="FEF3C7"/>
            </a:solidFill>
            <a:prstDash val="solid"/>
          </a:ln>
        </p:spPr>
      </p:sp>
      <p:sp>
        <p:nvSpPr>
          <p:cNvPr id="10" name="Text 8"/>
          <p:cNvSpPr/>
          <p:nvPr/>
        </p:nvSpPr>
        <p:spPr>
          <a:xfrm>
            <a:off x="3611880" y="5669280"/>
            <a:ext cx="2926080" cy="182880"/>
          </a:xfrm>
          <a:prstGeom prst="rect">
            <a:avLst/>
          </a:prstGeom>
          <a:noFill/>
          <a:ln/>
        </p:spPr>
        <p:txBody>
          <a:bodyPr wrap="square" lIns="0" tIns="0" rIns="0" bIns="0" rtlCol="0" anchor="ctr">
            <a:normAutofit/>
          </a:bodyPr>
          <a:lstStyle/>
          <a:p>
            <a:pPr algn="ctr" indent="0" marL="0">
              <a:buNone/>
            </a:pPr>
            <a:r>
              <a:rPr lang="en-US" sz="900" b="1" dirty="0">
                <a:solidFill>
                  <a:srgbClr val="B45309"/>
                </a:solidFill>
                <a:latin typeface="Aptos" pitchFamily="34" charset="0"/>
                <a:ea typeface="Aptos" pitchFamily="34" charset="-122"/>
                <a:cs typeface="Aptos" pitchFamily="34" charset="-120"/>
              </a:rPr>
              <a:t>DOCUMENTED POLICY ≠ ENFORCED POLICY</a:t>
            </a:r>
            <a:endParaRPr lang="en-US" sz="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640080" y="960120"/>
            <a:ext cx="109728" cy="4480560"/>
          </a:xfrm>
          <a:prstGeom prst="rect">
            <a:avLst/>
          </a:prstGeom>
          <a:solidFill>
            <a:srgbClr val="B45309"/>
          </a:solidFill>
          <a:ln w="12700">
            <a:solidFill>
              <a:srgbClr val="B45309"/>
            </a:solidFill>
            <a:prstDash val="solid"/>
          </a:ln>
        </p:spPr>
      </p:sp>
      <p:sp>
        <p:nvSpPr>
          <p:cNvPr id="4" name="Text 2"/>
          <p:cNvSpPr/>
          <p:nvPr/>
        </p:nvSpPr>
        <p:spPr>
          <a:xfrm>
            <a:off x="1024128" y="960120"/>
            <a:ext cx="2011680" cy="1097280"/>
          </a:xfrm>
          <a:prstGeom prst="rect">
            <a:avLst/>
          </a:prstGeom>
          <a:noFill/>
          <a:ln/>
        </p:spPr>
        <p:txBody>
          <a:bodyPr wrap="square" lIns="0" tIns="0" rIns="0" bIns="0" rtlCol="0" anchor="ctr">
            <a:normAutofit/>
          </a:bodyPr>
          <a:lstStyle/>
          <a:p>
            <a:pPr indent="0" marL="0">
              <a:buNone/>
            </a:pPr>
            <a:r>
              <a:rPr lang="en-US" sz="5800" b="1" dirty="0">
                <a:solidFill>
                  <a:srgbClr val="B45309"/>
                </a:solidFill>
                <a:latin typeface="Aptos" pitchFamily="34" charset="0"/>
                <a:ea typeface="Aptos" pitchFamily="34" charset="-122"/>
                <a:cs typeface="Aptos" pitchFamily="34" charset="-120"/>
              </a:rPr>
              <a:t>04</a:t>
            </a:r>
            <a:endParaRPr lang="en-US" sz="5800" dirty="0"/>
          </a:p>
        </p:txBody>
      </p:sp>
      <p:sp>
        <p:nvSpPr>
          <p:cNvPr id="5" name="Text 3"/>
          <p:cNvSpPr/>
          <p:nvPr/>
        </p:nvSpPr>
        <p:spPr>
          <a:xfrm>
            <a:off x="1024128" y="2148840"/>
            <a:ext cx="9784080" cy="100584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pitchFamily="34" charset="0"/>
                <a:ea typeface="Aptos" pitchFamily="34" charset="-122"/>
                <a:cs typeface="Aptos" pitchFamily="34" charset="-120"/>
              </a:rPr>
              <a:t>RAG from Kansas: beginner intuition to advanced retrieval</a:t>
            </a:r>
            <a:endParaRPr lang="en-US" sz="3200" dirty="0"/>
          </a:p>
        </p:txBody>
      </p:sp>
      <p:sp>
        <p:nvSpPr>
          <p:cNvPr id="6" name="Text 4"/>
          <p:cNvSpPr/>
          <p:nvPr/>
        </p:nvSpPr>
        <p:spPr>
          <a:xfrm>
            <a:off x="1060704" y="4645152"/>
            <a:ext cx="8595360" cy="658368"/>
          </a:xfrm>
          <a:prstGeom prst="rect">
            <a:avLst/>
          </a:prstGeom>
          <a:noFill/>
          <a:ln/>
        </p:spPr>
        <p:txBody>
          <a:bodyPr wrap="square" lIns="0" tIns="0" rIns="0" bIns="0" rtlCol="0" anchor="ctr">
            <a:normAutofit/>
          </a:bodyPr>
          <a:lstStyle/>
          <a:p>
            <a:pPr indent="0" marL="0">
              <a:buNone/>
            </a:pPr>
            <a:r>
              <a:rPr lang="en-US" sz="1900" i="1" dirty="0">
                <a:solidFill>
                  <a:srgbClr val="E2E8F0"/>
                </a:solidFill>
                <a:latin typeface="Aptos" pitchFamily="34" charset="0"/>
                <a:ea typeface="Aptos" pitchFamily="34" charset="-122"/>
                <a:cs typeface="Aptos" pitchFamily="34" charset="-120"/>
              </a:rPr>
              <a:t>The goal is not to make the model sound confident.</a:t>
            </a:r>
            <a:endParaRPr lang="en-US" sz="1900" dirty="0"/>
          </a:p>
          <a:p>
            <a:pPr indent="0" marL="0">
              <a:buNone/>
            </a:pPr>
            <a:r>
              <a:rPr lang="en-US" sz="1900" i="1" dirty="0">
                <a:solidFill>
                  <a:srgbClr val="E2E8F0"/>
                </a:solidFill>
                <a:latin typeface="Aptos" pitchFamily="34" charset="0"/>
                <a:ea typeface="Aptos" pitchFamily="34" charset="-122"/>
                <a:cs typeface="Aptos" pitchFamily="34" charset="-120"/>
              </a:rPr>
              <a:t>The goal is to make the system useful, inspectable, and honest.</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BEGINNER RAG</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tiny-desk / super-librarian example</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An LLM with a limited desk should not be handed an entire library and asked to remember page 420.</a:t>
            </a:r>
            <a:endParaRPr lang="en-US" sz="1200" dirty="0"/>
          </a:p>
        </p:txBody>
      </p:sp>
      <p:sp>
        <p:nvSpPr>
          <p:cNvPr id="5" name="Shape 3"/>
          <p:cNvSpPr/>
          <p:nvPr/>
        </p:nvSpPr>
        <p:spPr>
          <a:xfrm>
            <a:off x="685800" y="1737360"/>
            <a:ext cx="4846320" cy="3474720"/>
          </a:xfrm>
          <a:prstGeom prst="roundRect">
            <a:avLst>
              <a:gd name="adj" fmla="val 2105"/>
            </a:avLst>
          </a:prstGeom>
          <a:solidFill>
            <a:srgbClr val="FFFFFF"/>
          </a:solidFill>
          <a:ln w="12700">
            <a:solidFill>
              <a:srgbClr val="CBD5E1"/>
            </a:solidFill>
            <a:prstDash val="solid"/>
          </a:ln>
        </p:spPr>
      </p:sp>
      <p:sp>
        <p:nvSpPr>
          <p:cNvPr id="6" name="Text 4"/>
          <p:cNvSpPr/>
          <p:nvPr/>
        </p:nvSpPr>
        <p:spPr>
          <a:xfrm>
            <a:off x="960120" y="2057400"/>
            <a:ext cx="4297680" cy="274320"/>
          </a:xfrm>
          <a:prstGeom prst="rect">
            <a:avLst/>
          </a:prstGeom>
          <a:noFill/>
          <a:ln/>
        </p:spPr>
        <p:txBody>
          <a:bodyPr wrap="square" lIns="0" tIns="0" rIns="0" bIns="0" rtlCol="0" anchor="ctr">
            <a:normAutofit/>
          </a:bodyPr>
          <a:lstStyle/>
          <a:p>
            <a:pPr algn="ctr" indent="0" marL="0">
              <a:buNone/>
            </a:pPr>
            <a:r>
              <a:rPr lang="en-US" sz="2200" b="1" dirty="0">
                <a:solidFill>
                  <a:srgbClr val="B91C1C"/>
                </a:solidFill>
                <a:latin typeface="Aptos" pitchFamily="34" charset="0"/>
                <a:ea typeface="Aptos" pitchFamily="34" charset="-122"/>
                <a:cs typeface="Aptos" pitchFamily="34" charset="-120"/>
              </a:rPr>
              <a:t>Closed-book exam</a:t>
            </a:r>
            <a:endParaRPr lang="en-US" sz="2200" dirty="0"/>
          </a:p>
        </p:txBody>
      </p:sp>
      <p:sp>
        <p:nvSpPr>
          <p:cNvPr id="7" name="Text 5"/>
          <p:cNvSpPr/>
          <p:nvPr/>
        </p:nvSpPr>
        <p:spPr>
          <a:xfrm>
            <a:off x="960120" y="2743200"/>
            <a:ext cx="4297680" cy="1554480"/>
          </a:xfrm>
          <a:prstGeom prst="rect">
            <a:avLst/>
          </a:prstGeom>
          <a:noFill/>
          <a:ln/>
        </p:spPr>
        <p:txBody>
          <a:bodyPr wrap="square" lIns="0" tIns="0" rIns="0" bIns="0" rtlCol="0" anchor="ctr">
            <a:normAutofit/>
          </a:bodyPr>
          <a:lstStyle/>
          <a:p>
            <a:pPr algn="ctr" indent="0" marL="0">
              <a:buNone/>
            </a:pPr>
            <a:r>
              <a:rPr lang="en-US" sz="1900" dirty="0">
                <a:solidFill>
                  <a:srgbClr val="0F172A"/>
                </a:solidFill>
                <a:latin typeface="Aptos" pitchFamily="34" charset="0"/>
                <a:ea typeface="Aptos" pitchFamily="34" charset="-122"/>
                <a:cs typeface="Aptos" pitchFamily="34" charset="-120"/>
              </a:rPr>
              <a:t>Question:</a:t>
            </a:r>
            <a:endParaRPr lang="en-US" sz="1900" dirty="0"/>
          </a:p>
          <a:p>
            <a:pPr algn="ctr" indent="0" marL="0">
              <a:buNone/>
            </a:pPr>
            <a:r>
              <a:rPr lang="en-US" sz="1900" dirty="0">
                <a:solidFill>
                  <a:srgbClr val="0F172A"/>
                </a:solidFill>
                <a:latin typeface="Aptos" pitchFamily="34" charset="0"/>
                <a:ea typeface="Aptos" pitchFamily="34" charset="-122"/>
                <a:cs typeface="Aptos" pitchFamily="34" charset="-120"/>
              </a:rPr>
              <a:t>“Why do visitors wear green spectacles?”</a:t>
            </a:r>
            <a:endParaRPr lang="en-US" sz="1900" dirty="0"/>
          </a:p>
          <a:p>
            <a:pPr algn="ctr" indent="0" marL="0">
              <a:buNone/>
            </a:pPr>
            <a:endParaRPr lang="en-US" sz="1900" dirty="0"/>
          </a:p>
          <a:p>
            <a:pPr algn="ctr" indent="0" marL="0">
              <a:buNone/>
            </a:pPr>
            <a:r>
              <a:rPr lang="en-US" sz="1900" dirty="0">
                <a:solidFill>
                  <a:srgbClr val="0F172A"/>
                </a:solidFill>
                <a:latin typeface="Aptos" pitchFamily="34" charset="0"/>
                <a:ea typeface="Aptos" pitchFamily="34" charset="-122"/>
                <a:cs typeface="Aptos" pitchFamily="34" charset="-120"/>
              </a:rPr>
              <a:t>Model guesses from patterns</a:t>
            </a:r>
            <a:endParaRPr lang="en-US" sz="1900" dirty="0"/>
          </a:p>
          <a:p>
            <a:pPr algn="ctr" indent="0" marL="0">
              <a:buNone/>
            </a:pPr>
            <a:r>
              <a:rPr lang="en-US" sz="1900" dirty="0">
                <a:solidFill>
                  <a:srgbClr val="0F172A"/>
                </a:solidFill>
                <a:latin typeface="Aptos" pitchFamily="34" charset="0"/>
                <a:ea typeface="Aptos" pitchFamily="34" charset="-122"/>
                <a:cs typeface="Aptos" pitchFamily="34" charset="-120"/>
              </a:rPr>
              <a:t>→ confident but unverifiable answer</a:t>
            </a:r>
            <a:endParaRPr lang="en-US" sz="1900" dirty="0"/>
          </a:p>
        </p:txBody>
      </p:sp>
      <p:sp>
        <p:nvSpPr>
          <p:cNvPr id="8" name="Shape 6"/>
          <p:cNvSpPr/>
          <p:nvPr/>
        </p:nvSpPr>
        <p:spPr>
          <a:xfrm>
            <a:off x="6537960" y="1737360"/>
            <a:ext cx="4846320" cy="3474720"/>
          </a:xfrm>
          <a:prstGeom prst="roundRect">
            <a:avLst>
              <a:gd name="adj" fmla="val 2105"/>
            </a:avLst>
          </a:prstGeom>
          <a:solidFill>
            <a:srgbClr val="CCFBF1"/>
          </a:solidFill>
          <a:ln w="12700">
            <a:solidFill>
              <a:srgbClr val="0F766E"/>
            </a:solidFill>
            <a:prstDash val="solid"/>
          </a:ln>
        </p:spPr>
      </p:sp>
      <p:sp>
        <p:nvSpPr>
          <p:cNvPr id="9" name="Text 7"/>
          <p:cNvSpPr/>
          <p:nvPr/>
        </p:nvSpPr>
        <p:spPr>
          <a:xfrm>
            <a:off x="6812280" y="2057400"/>
            <a:ext cx="4297680" cy="274320"/>
          </a:xfrm>
          <a:prstGeom prst="rect">
            <a:avLst/>
          </a:prstGeom>
          <a:noFill/>
          <a:ln/>
        </p:spPr>
        <p:txBody>
          <a:bodyPr wrap="square" lIns="0" tIns="0" rIns="0" bIns="0" rtlCol="0" anchor="ctr">
            <a:normAutofit/>
          </a:bodyPr>
          <a:lstStyle/>
          <a:p>
            <a:pPr algn="ctr" indent="0" marL="0">
              <a:buNone/>
            </a:pPr>
            <a:r>
              <a:rPr lang="en-US" sz="2200" b="1" dirty="0">
                <a:solidFill>
                  <a:srgbClr val="0F766E"/>
                </a:solidFill>
                <a:latin typeface="Aptos" pitchFamily="34" charset="0"/>
                <a:ea typeface="Aptos" pitchFamily="34" charset="-122"/>
                <a:cs typeface="Aptos" pitchFamily="34" charset="-120"/>
              </a:rPr>
              <a:t>Open-book exam</a:t>
            </a:r>
            <a:endParaRPr lang="en-US" sz="2200" dirty="0"/>
          </a:p>
        </p:txBody>
      </p:sp>
      <p:sp>
        <p:nvSpPr>
          <p:cNvPr id="10" name="Text 8"/>
          <p:cNvSpPr/>
          <p:nvPr/>
        </p:nvSpPr>
        <p:spPr>
          <a:xfrm>
            <a:off x="6812280" y="2743200"/>
            <a:ext cx="4297680" cy="1554480"/>
          </a:xfrm>
          <a:prstGeom prst="rect">
            <a:avLst/>
          </a:prstGeom>
          <a:noFill/>
          <a:ln/>
        </p:spPr>
        <p:txBody>
          <a:bodyPr wrap="square" lIns="0" tIns="0" rIns="0" bIns="0" rtlCol="0" anchor="ctr">
            <a:normAutofit/>
          </a:bodyPr>
          <a:lstStyle/>
          <a:p>
            <a:pPr algn="ctr" indent="0" marL="0">
              <a:buNone/>
            </a:pPr>
            <a:r>
              <a:rPr lang="en-US" sz="1900" dirty="0">
                <a:solidFill>
                  <a:srgbClr val="0F172A"/>
                </a:solidFill>
                <a:latin typeface="Aptos" pitchFamily="34" charset="0"/>
                <a:ea typeface="Aptos" pitchFamily="34" charset="-122"/>
                <a:cs typeface="Aptos" pitchFamily="34" charset="-120"/>
              </a:rPr>
              <a:t>Question</a:t>
            </a:r>
            <a:endParaRPr lang="en-US" sz="1900" dirty="0"/>
          </a:p>
          <a:p>
            <a:pPr algn="ctr" indent="0" marL="0">
              <a:buNone/>
            </a:pPr>
            <a:r>
              <a:rPr lang="en-US" sz="1900" dirty="0">
                <a:solidFill>
                  <a:srgbClr val="0F172A"/>
                </a:solidFill>
                <a:latin typeface="Aptos" pitchFamily="34" charset="0"/>
                <a:ea typeface="Aptos" pitchFamily="34" charset="-122"/>
                <a:cs typeface="Aptos" pitchFamily="34" charset="-120"/>
              </a:rPr>
              <a:t>→ librarian finds the relevant passage</a:t>
            </a:r>
            <a:endParaRPr lang="en-US" sz="1900" dirty="0"/>
          </a:p>
          <a:p>
            <a:pPr algn="ctr" indent="0" marL="0">
              <a:buNone/>
            </a:pPr>
            <a:r>
              <a:rPr lang="en-US" sz="1900" dirty="0">
                <a:solidFill>
                  <a:srgbClr val="0F172A"/>
                </a:solidFill>
                <a:latin typeface="Aptos" pitchFamily="34" charset="0"/>
                <a:ea typeface="Aptos" pitchFamily="34" charset="-122"/>
                <a:cs typeface="Aptos" pitchFamily="34" charset="-120"/>
              </a:rPr>
              <a:t>→ model answers from the passage</a:t>
            </a:r>
            <a:endParaRPr lang="en-US" sz="1900" dirty="0"/>
          </a:p>
          <a:p>
            <a:pPr algn="ctr" indent="0" marL="0">
              <a:buNone/>
            </a:pPr>
            <a:r>
              <a:rPr lang="en-US" sz="1900" dirty="0">
                <a:solidFill>
                  <a:srgbClr val="0F172A"/>
                </a:solidFill>
                <a:latin typeface="Aptos" pitchFamily="34" charset="0"/>
                <a:ea typeface="Aptos" pitchFamily="34" charset="-122"/>
                <a:cs typeface="Aptos" pitchFamily="34" charset="-120"/>
              </a:rPr>
              <a:t>→ reader can inspect the excerpt</a:t>
            </a:r>
            <a:endParaRPr lang="en-US" sz="1900" dirty="0"/>
          </a:p>
        </p:txBody>
      </p:sp>
      <p:sp>
        <p:nvSpPr>
          <p:cNvPr id="11" name="Text 9"/>
          <p:cNvSpPr/>
          <p:nvPr/>
        </p:nvSpPr>
        <p:spPr>
          <a:xfrm>
            <a:off x="822960" y="5650992"/>
            <a:ext cx="10561320" cy="347472"/>
          </a:xfrm>
          <a:prstGeom prst="rect">
            <a:avLst/>
          </a:prstGeom>
          <a:noFill/>
          <a:ln/>
        </p:spPr>
        <p:txBody>
          <a:bodyPr wrap="square" lIns="0" tIns="0" rIns="0" bIns="0" rtlCol="0" anchor="ctr">
            <a:normAutofit/>
          </a:bodyPr>
          <a:lstStyle/>
          <a:p>
            <a:pPr algn="ctr" indent="0" marL="0">
              <a:buNone/>
            </a:pPr>
            <a:r>
              <a:rPr lang="en-US" sz="1900" b="1" dirty="0">
                <a:solidFill>
                  <a:srgbClr val="0F172A"/>
                </a:solidFill>
                <a:latin typeface="Aptos" pitchFamily="34" charset="0"/>
                <a:ea typeface="Aptos" pitchFamily="34" charset="-122"/>
                <a:cs typeface="Aptos" pitchFamily="34" charset="-120"/>
              </a:rPr>
              <a:t>RAG is not a smarter model. It is a better evidence workflow around a model.</a:t>
            </a:r>
            <a:endParaRPr lang="en-US" sz="1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ADVANCED RAG</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same story as a retrieval pipeline</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This implementation is strong in grounding and traceability, while still leaving clear upgrade paths.</a:t>
            </a:r>
            <a:endParaRPr lang="en-US" sz="1200" dirty="0"/>
          </a:p>
        </p:txBody>
      </p:sp>
      <p:sp>
        <p:nvSpPr>
          <p:cNvPr id="5" name="Shape 3"/>
          <p:cNvSpPr/>
          <p:nvPr/>
        </p:nvSpPr>
        <p:spPr>
          <a:xfrm>
            <a:off x="502920" y="1874520"/>
            <a:ext cx="1920240" cy="2011680"/>
          </a:xfrm>
          <a:prstGeom prst="roundRect">
            <a:avLst>
              <a:gd name="adj" fmla="val 3810"/>
            </a:avLst>
          </a:prstGeom>
          <a:solidFill>
            <a:srgbClr val="FFFFFF"/>
          </a:solidFill>
          <a:ln w="12700">
            <a:solidFill>
              <a:srgbClr val="CBD5E1"/>
            </a:solidFill>
            <a:prstDash val="solid"/>
          </a:ln>
        </p:spPr>
      </p:sp>
      <p:sp>
        <p:nvSpPr>
          <p:cNvPr id="6" name="Text 4"/>
          <p:cNvSpPr/>
          <p:nvPr/>
        </p:nvSpPr>
        <p:spPr>
          <a:xfrm>
            <a:off x="640080" y="2084832"/>
            <a:ext cx="32004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1</a:t>
            </a:r>
            <a:endParaRPr lang="en-US" sz="2200" dirty="0"/>
          </a:p>
        </p:txBody>
      </p:sp>
      <p:sp>
        <p:nvSpPr>
          <p:cNvPr id="7" name="Text 5"/>
          <p:cNvSpPr/>
          <p:nvPr/>
        </p:nvSpPr>
        <p:spPr>
          <a:xfrm>
            <a:off x="640080" y="2542032"/>
            <a:ext cx="1600200" cy="25603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Extract</a:t>
            </a:r>
            <a:endParaRPr lang="en-US" sz="1700" dirty="0"/>
          </a:p>
        </p:txBody>
      </p:sp>
      <p:sp>
        <p:nvSpPr>
          <p:cNvPr id="8" name="Text 6"/>
          <p:cNvSpPr/>
          <p:nvPr/>
        </p:nvSpPr>
        <p:spPr>
          <a:xfrm>
            <a:off x="658368" y="3063240"/>
            <a:ext cx="1572768" cy="548640"/>
          </a:xfrm>
          <a:prstGeom prst="rect">
            <a:avLst/>
          </a:prstGeom>
          <a:noFill/>
          <a:ln/>
        </p:spPr>
        <p:txBody>
          <a:bodyPr wrap="square" lIns="0" tIns="0" rIns="0" bIns="0" rtlCol="0" anchor="ctr">
            <a:normAutofit/>
          </a:bodyPr>
          <a:lstStyle/>
          <a:p>
            <a:pPr algn="ctr" indent="0" marL="0">
              <a:buNone/>
            </a:pPr>
            <a:r>
              <a:rPr lang="en-US" sz="1200" dirty="0">
                <a:solidFill>
                  <a:srgbClr val="334155"/>
                </a:solidFill>
                <a:latin typeface="Aptos" pitchFamily="34" charset="0"/>
                <a:ea typeface="Aptos" pitchFamily="34" charset="-122"/>
                <a:cs typeface="Aptos" pitchFamily="34" charset="-120"/>
              </a:rPr>
              <a:t>PDF text via Tika / pdf-parse</a:t>
            </a:r>
            <a:endParaRPr lang="en-US" sz="1200" dirty="0"/>
          </a:p>
        </p:txBody>
      </p:sp>
      <p:sp>
        <p:nvSpPr>
          <p:cNvPr id="9" name="Shape 7"/>
          <p:cNvSpPr/>
          <p:nvPr/>
        </p:nvSpPr>
        <p:spPr>
          <a:xfrm>
            <a:off x="2441448" y="2852928"/>
            <a:ext cx="301752" cy="0"/>
          </a:xfrm>
          <a:prstGeom prst="line">
            <a:avLst/>
          </a:prstGeom>
          <a:noFill/>
          <a:ln w="25400">
            <a:solidFill>
              <a:srgbClr val="0F766E"/>
            </a:solidFill>
            <a:prstDash val="solid"/>
            <a:headEnd type="none"/>
            <a:tailEnd type="triangle"/>
          </a:ln>
        </p:spPr>
      </p:sp>
      <p:sp>
        <p:nvSpPr>
          <p:cNvPr id="10" name="Shape 8"/>
          <p:cNvSpPr/>
          <p:nvPr/>
        </p:nvSpPr>
        <p:spPr>
          <a:xfrm>
            <a:off x="2834640" y="1874520"/>
            <a:ext cx="1920240" cy="2011680"/>
          </a:xfrm>
          <a:prstGeom prst="roundRect">
            <a:avLst>
              <a:gd name="adj" fmla="val 3810"/>
            </a:avLst>
          </a:prstGeom>
          <a:solidFill>
            <a:srgbClr val="FFFFFF"/>
          </a:solidFill>
          <a:ln w="12700">
            <a:solidFill>
              <a:srgbClr val="CBD5E1"/>
            </a:solidFill>
            <a:prstDash val="solid"/>
          </a:ln>
        </p:spPr>
      </p:sp>
      <p:sp>
        <p:nvSpPr>
          <p:cNvPr id="11" name="Text 9"/>
          <p:cNvSpPr/>
          <p:nvPr/>
        </p:nvSpPr>
        <p:spPr>
          <a:xfrm>
            <a:off x="2971800" y="2084832"/>
            <a:ext cx="32004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2</a:t>
            </a:r>
            <a:endParaRPr lang="en-US" sz="2200" dirty="0"/>
          </a:p>
        </p:txBody>
      </p:sp>
      <p:sp>
        <p:nvSpPr>
          <p:cNvPr id="12" name="Text 10"/>
          <p:cNvSpPr/>
          <p:nvPr/>
        </p:nvSpPr>
        <p:spPr>
          <a:xfrm>
            <a:off x="2971800" y="2542032"/>
            <a:ext cx="1600200" cy="25603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Chunk</a:t>
            </a:r>
            <a:endParaRPr lang="en-US" sz="1700" dirty="0"/>
          </a:p>
        </p:txBody>
      </p:sp>
      <p:sp>
        <p:nvSpPr>
          <p:cNvPr id="13" name="Text 11"/>
          <p:cNvSpPr/>
          <p:nvPr/>
        </p:nvSpPr>
        <p:spPr>
          <a:xfrm>
            <a:off x="2990088" y="3063240"/>
            <a:ext cx="1572768" cy="548640"/>
          </a:xfrm>
          <a:prstGeom prst="rect">
            <a:avLst/>
          </a:prstGeom>
          <a:noFill/>
          <a:ln/>
        </p:spPr>
        <p:txBody>
          <a:bodyPr wrap="square" lIns="0" tIns="0" rIns="0" bIns="0" rtlCol="0" anchor="ctr">
            <a:normAutofit/>
          </a:bodyPr>
          <a:lstStyle/>
          <a:p>
            <a:pPr algn="ctr" indent="0" marL="0">
              <a:buNone/>
            </a:pPr>
            <a:r>
              <a:rPr lang="en-US" sz="1200" dirty="0">
                <a:solidFill>
                  <a:srgbClr val="334155"/>
                </a:solidFill>
                <a:latin typeface="Aptos" pitchFamily="34" charset="0"/>
                <a:ea typeface="Aptos" pitchFamily="34" charset="-122"/>
                <a:cs typeface="Aptos" pitchFamily="34" charset="-120"/>
              </a:rPr>
              <a:t>paragraph-aligned, ~400 chars</a:t>
            </a:r>
            <a:endParaRPr lang="en-US" sz="1200" dirty="0"/>
          </a:p>
        </p:txBody>
      </p:sp>
      <p:sp>
        <p:nvSpPr>
          <p:cNvPr id="14" name="Shape 12"/>
          <p:cNvSpPr/>
          <p:nvPr/>
        </p:nvSpPr>
        <p:spPr>
          <a:xfrm>
            <a:off x="4773168" y="2852928"/>
            <a:ext cx="301752" cy="0"/>
          </a:xfrm>
          <a:prstGeom prst="line">
            <a:avLst/>
          </a:prstGeom>
          <a:noFill/>
          <a:ln w="25400">
            <a:solidFill>
              <a:srgbClr val="0F766E"/>
            </a:solidFill>
            <a:prstDash val="solid"/>
            <a:headEnd type="none"/>
            <a:tailEnd type="triangle"/>
          </a:ln>
        </p:spPr>
      </p:sp>
      <p:sp>
        <p:nvSpPr>
          <p:cNvPr id="15" name="Shape 13"/>
          <p:cNvSpPr/>
          <p:nvPr/>
        </p:nvSpPr>
        <p:spPr>
          <a:xfrm>
            <a:off x="5166360" y="1874520"/>
            <a:ext cx="1920240" cy="2011680"/>
          </a:xfrm>
          <a:prstGeom prst="roundRect">
            <a:avLst>
              <a:gd name="adj" fmla="val 3810"/>
            </a:avLst>
          </a:prstGeom>
          <a:solidFill>
            <a:srgbClr val="FFFFFF"/>
          </a:solidFill>
          <a:ln w="12700">
            <a:solidFill>
              <a:srgbClr val="CBD5E1"/>
            </a:solidFill>
            <a:prstDash val="solid"/>
          </a:ln>
        </p:spPr>
      </p:sp>
      <p:sp>
        <p:nvSpPr>
          <p:cNvPr id="16" name="Text 14"/>
          <p:cNvSpPr/>
          <p:nvPr/>
        </p:nvSpPr>
        <p:spPr>
          <a:xfrm>
            <a:off x="5303520" y="2084832"/>
            <a:ext cx="32004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3</a:t>
            </a:r>
            <a:endParaRPr lang="en-US" sz="2200" dirty="0"/>
          </a:p>
        </p:txBody>
      </p:sp>
      <p:sp>
        <p:nvSpPr>
          <p:cNvPr id="17" name="Text 15"/>
          <p:cNvSpPr/>
          <p:nvPr/>
        </p:nvSpPr>
        <p:spPr>
          <a:xfrm>
            <a:off x="5303520" y="2542032"/>
            <a:ext cx="1600200" cy="25603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Embed</a:t>
            </a:r>
            <a:endParaRPr lang="en-US" sz="1700" dirty="0"/>
          </a:p>
        </p:txBody>
      </p:sp>
      <p:sp>
        <p:nvSpPr>
          <p:cNvPr id="18" name="Text 16"/>
          <p:cNvSpPr/>
          <p:nvPr/>
        </p:nvSpPr>
        <p:spPr>
          <a:xfrm>
            <a:off x="5321808" y="3063240"/>
            <a:ext cx="1572768" cy="548640"/>
          </a:xfrm>
          <a:prstGeom prst="rect">
            <a:avLst/>
          </a:prstGeom>
          <a:noFill/>
          <a:ln/>
        </p:spPr>
        <p:txBody>
          <a:bodyPr wrap="square" lIns="0" tIns="0" rIns="0" bIns="0" rtlCol="0" anchor="ctr">
            <a:normAutofit/>
          </a:bodyPr>
          <a:lstStyle/>
          <a:p>
            <a:pPr algn="ctr" indent="0" marL="0">
              <a:buNone/>
            </a:pPr>
            <a:r>
              <a:rPr lang="en-US" sz="1200" dirty="0">
                <a:solidFill>
                  <a:srgbClr val="334155"/>
                </a:solidFill>
                <a:latin typeface="Aptos" pitchFamily="34" charset="0"/>
                <a:ea typeface="Aptos" pitchFamily="34" charset="-122"/>
                <a:cs typeface="Aptos" pitchFamily="34" charset="-120"/>
              </a:rPr>
              <a:t>nomic-embed-text, 768-D</a:t>
            </a:r>
            <a:endParaRPr lang="en-US" sz="1200" dirty="0"/>
          </a:p>
        </p:txBody>
      </p:sp>
      <p:sp>
        <p:nvSpPr>
          <p:cNvPr id="19" name="Shape 17"/>
          <p:cNvSpPr/>
          <p:nvPr/>
        </p:nvSpPr>
        <p:spPr>
          <a:xfrm>
            <a:off x="7104888" y="2852928"/>
            <a:ext cx="301752" cy="0"/>
          </a:xfrm>
          <a:prstGeom prst="line">
            <a:avLst/>
          </a:prstGeom>
          <a:noFill/>
          <a:ln w="25400">
            <a:solidFill>
              <a:srgbClr val="0F766E"/>
            </a:solidFill>
            <a:prstDash val="solid"/>
            <a:headEnd type="none"/>
            <a:tailEnd type="triangle"/>
          </a:ln>
        </p:spPr>
      </p:sp>
      <p:sp>
        <p:nvSpPr>
          <p:cNvPr id="20" name="Shape 18"/>
          <p:cNvSpPr/>
          <p:nvPr/>
        </p:nvSpPr>
        <p:spPr>
          <a:xfrm>
            <a:off x="7498080" y="1874520"/>
            <a:ext cx="1920240" cy="2011680"/>
          </a:xfrm>
          <a:prstGeom prst="roundRect">
            <a:avLst>
              <a:gd name="adj" fmla="val 3810"/>
            </a:avLst>
          </a:prstGeom>
          <a:solidFill>
            <a:srgbClr val="EDE9FE"/>
          </a:solidFill>
          <a:ln w="12700">
            <a:solidFill>
              <a:srgbClr val="6D28D9"/>
            </a:solidFill>
            <a:prstDash val="solid"/>
          </a:ln>
        </p:spPr>
      </p:sp>
      <p:sp>
        <p:nvSpPr>
          <p:cNvPr id="21" name="Text 19"/>
          <p:cNvSpPr/>
          <p:nvPr/>
        </p:nvSpPr>
        <p:spPr>
          <a:xfrm>
            <a:off x="7635240" y="2084832"/>
            <a:ext cx="32004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4</a:t>
            </a:r>
            <a:endParaRPr lang="en-US" sz="2200" dirty="0"/>
          </a:p>
        </p:txBody>
      </p:sp>
      <p:sp>
        <p:nvSpPr>
          <p:cNvPr id="22" name="Text 20"/>
          <p:cNvSpPr/>
          <p:nvPr/>
        </p:nvSpPr>
        <p:spPr>
          <a:xfrm>
            <a:off x="7635240" y="2542032"/>
            <a:ext cx="1600200" cy="25603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Retrieve</a:t>
            </a:r>
            <a:endParaRPr lang="en-US" sz="1700" dirty="0"/>
          </a:p>
        </p:txBody>
      </p:sp>
      <p:sp>
        <p:nvSpPr>
          <p:cNvPr id="23" name="Text 21"/>
          <p:cNvSpPr/>
          <p:nvPr/>
        </p:nvSpPr>
        <p:spPr>
          <a:xfrm>
            <a:off x="7653528" y="3063240"/>
            <a:ext cx="1572768" cy="548640"/>
          </a:xfrm>
          <a:prstGeom prst="rect">
            <a:avLst/>
          </a:prstGeom>
          <a:noFill/>
          <a:ln/>
        </p:spPr>
        <p:txBody>
          <a:bodyPr wrap="square" lIns="0" tIns="0" rIns="0" bIns="0" rtlCol="0" anchor="ctr">
            <a:normAutofit/>
          </a:bodyPr>
          <a:lstStyle/>
          <a:p>
            <a:pPr algn="ctr" indent="0" marL="0">
              <a:buNone/>
            </a:pPr>
            <a:r>
              <a:rPr lang="en-US" sz="1200" dirty="0">
                <a:solidFill>
                  <a:srgbClr val="334155"/>
                </a:solidFill>
                <a:latin typeface="Aptos" pitchFamily="34" charset="0"/>
                <a:ea typeface="Aptos" pitchFamily="34" charset="-122"/>
                <a:cs typeface="Aptos" pitchFamily="34" charset="-120"/>
              </a:rPr>
              <a:t>Qdrant cosine, top-k, GUID filter</a:t>
            </a:r>
            <a:endParaRPr lang="en-US" sz="1200" dirty="0"/>
          </a:p>
        </p:txBody>
      </p:sp>
      <p:sp>
        <p:nvSpPr>
          <p:cNvPr id="24" name="Shape 22"/>
          <p:cNvSpPr/>
          <p:nvPr/>
        </p:nvSpPr>
        <p:spPr>
          <a:xfrm>
            <a:off x="9436608" y="2852928"/>
            <a:ext cx="301752" cy="0"/>
          </a:xfrm>
          <a:prstGeom prst="line">
            <a:avLst/>
          </a:prstGeom>
          <a:noFill/>
          <a:ln w="25400">
            <a:solidFill>
              <a:srgbClr val="0F766E"/>
            </a:solidFill>
            <a:prstDash val="solid"/>
            <a:headEnd type="none"/>
            <a:tailEnd type="triangle"/>
          </a:ln>
        </p:spPr>
      </p:sp>
      <p:sp>
        <p:nvSpPr>
          <p:cNvPr id="25" name="Shape 23"/>
          <p:cNvSpPr/>
          <p:nvPr/>
        </p:nvSpPr>
        <p:spPr>
          <a:xfrm>
            <a:off x="9829800" y="1874520"/>
            <a:ext cx="1920240" cy="2011680"/>
          </a:xfrm>
          <a:prstGeom prst="roundRect">
            <a:avLst>
              <a:gd name="adj" fmla="val 3810"/>
            </a:avLst>
          </a:prstGeom>
          <a:solidFill>
            <a:srgbClr val="FFFFFF"/>
          </a:solidFill>
          <a:ln w="12700">
            <a:solidFill>
              <a:srgbClr val="CBD5E1"/>
            </a:solidFill>
            <a:prstDash val="solid"/>
          </a:ln>
        </p:spPr>
      </p:sp>
      <p:sp>
        <p:nvSpPr>
          <p:cNvPr id="26" name="Text 24"/>
          <p:cNvSpPr/>
          <p:nvPr/>
        </p:nvSpPr>
        <p:spPr>
          <a:xfrm>
            <a:off x="9966960" y="2084832"/>
            <a:ext cx="320040" cy="320040"/>
          </a:xfrm>
          <a:prstGeom prst="rect">
            <a:avLst/>
          </a:prstGeom>
          <a:noFill/>
          <a:ln/>
        </p:spPr>
        <p:txBody>
          <a:bodyPr wrap="square" lIns="0" tIns="0" rIns="0" bIns="0" rtlCol="0" anchor="ctr">
            <a:normAutofit/>
          </a:bodyPr>
          <a:lstStyle/>
          <a:p>
            <a:pPr indent="0" marL="0">
              <a:buNone/>
            </a:pPr>
            <a:r>
              <a:rPr lang="en-US" sz="2200" b="1" dirty="0">
                <a:solidFill>
                  <a:srgbClr val="0F766E"/>
                </a:solidFill>
                <a:latin typeface="Aptos" pitchFamily="34" charset="0"/>
                <a:ea typeface="Aptos" pitchFamily="34" charset="-122"/>
                <a:cs typeface="Aptos" pitchFamily="34" charset="-120"/>
              </a:rPr>
              <a:t>5</a:t>
            </a:r>
            <a:endParaRPr lang="en-US" sz="2200" dirty="0"/>
          </a:p>
        </p:txBody>
      </p:sp>
      <p:sp>
        <p:nvSpPr>
          <p:cNvPr id="27" name="Text 25"/>
          <p:cNvSpPr/>
          <p:nvPr/>
        </p:nvSpPr>
        <p:spPr>
          <a:xfrm>
            <a:off x="9966960" y="2542032"/>
            <a:ext cx="1600200" cy="256032"/>
          </a:xfrm>
          <a:prstGeom prst="rect">
            <a:avLst/>
          </a:prstGeom>
          <a:noFill/>
          <a:ln/>
        </p:spPr>
        <p:txBody>
          <a:bodyPr wrap="square" lIns="0" tIns="0" rIns="0" bIns="0" rtlCol="0" anchor="ctr">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Generate</a:t>
            </a:r>
            <a:endParaRPr lang="en-US" sz="1700" dirty="0"/>
          </a:p>
        </p:txBody>
      </p:sp>
      <p:sp>
        <p:nvSpPr>
          <p:cNvPr id="28" name="Text 26"/>
          <p:cNvSpPr/>
          <p:nvPr/>
        </p:nvSpPr>
        <p:spPr>
          <a:xfrm>
            <a:off x="9985248" y="3063240"/>
            <a:ext cx="1572768" cy="548640"/>
          </a:xfrm>
          <a:prstGeom prst="rect">
            <a:avLst/>
          </a:prstGeom>
          <a:noFill/>
          <a:ln/>
        </p:spPr>
        <p:txBody>
          <a:bodyPr wrap="square" lIns="0" tIns="0" rIns="0" bIns="0" rtlCol="0" anchor="ctr">
            <a:normAutofit/>
          </a:bodyPr>
          <a:lstStyle/>
          <a:p>
            <a:pPr algn="ctr" indent="0" marL="0">
              <a:buNone/>
            </a:pPr>
            <a:r>
              <a:rPr lang="en-US" sz="1200" dirty="0">
                <a:solidFill>
                  <a:srgbClr val="334155"/>
                </a:solidFill>
                <a:latin typeface="Aptos" pitchFamily="34" charset="0"/>
                <a:ea typeface="Aptos" pitchFamily="34" charset="-122"/>
                <a:cs typeface="Aptos" pitchFamily="34" charset="-120"/>
              </a:rPr>
              <a:t>Llama grounded prompt + citations</a:t>
            </a:r>
            <a:endParaRPr lang="en-US" sz="1200" dirty="0"/>
          </a:p>
        </p:txBody>
      </p:sp>
      <p:sp>
        <p:nvSpPr>
          <p:cNvPr id="29" name="Text 27"/>
          <p:cNvSpPr/>
          <p:nvPr/>
        </p:nvSpPr>
        <p:spPr>
          <a:xfrm>
            <a:off x="777240" y="4617720"/>
            <a:ext cx="10652760" cy="640080"/>
          </a:xfrm>
          <a:prstGeom prst="rect">
            <a:avLst/>
          </a:prstGeom>
          <a:noFill/>
          <a:ln/>
        </p:spPr>
        <p:txBody>
          <a:bodyPr wrap="square" lIns="0" tIns="0" rIns="0" bIns="0" rtlCol="0" anchor="ctr">
            <a:normAutofit/>
          </a:bodyPr>
          <a:lstStyle/>
          <a:p>
            <a:pPr algn="ctr" indent="0" marL="0">
              <a:buNone/>
            </a:pPr>
            <a:r>
              <a:rPr lang="en-US" sz="1600" dirty="0">
                <a:solidFill>
                  <a:srgbClr val="334155"/>
                </a:solidFill>
                <a:latin typeface="Aptos" pitchFamily="34" charset="0"/>
                <a:ea typeface="Aptos" pitchFamily="34" charset="-122"/>
                <a:cs typeface="Aptos" pitchFamily="34" charset="-120"/>
              </a:rPr>
              <a:t>Reference upgrades not yet implemented: hybrid BM25 + dense search, query rewriting, cross-encoder re-ranking, automated faithfulness evaluation.</a:t>
            </a:r>
            <a:endParaRPr lang="en-US" sz="1600" dirty="0"/>
          </a:p>
        </p:txBody>
      </p:sp>
      <p:sp>
        <p:nvSpPr>
          <p:cNvPr id="30" name="Shape 28"/>
          <p:cNvSpPr/>
          <p:nvPr/>
        </p:nvSpPr>
        <p:spPr>
          <a:xfrm>
            <a:off x="3886200" y="5596128"/>
            <a:ext cx="2971800" cy="310896"/>
          </a:xfrm>
          <a:prstGeom prst="roundRect">
            <a:avLst>
              <a:gd name="adj" fmla="val 44118"/>
            </a:avLst>
          </a:prstGeom>
          <a:solidFill>
            <a:srgbClr val="CCFBF1"/>
          </a:solidFill>
          <a:ln w="12700">
            <a:solidFill>
              <a:srgbClr val="CCFBF1"/>
            </a:solidFill>
            <a:prstDash val="solid"/>
          </a:ln>
        </p:spPr>
      </p:sp>
      <p:sp>
        <p:nvSpPr>
          <p:cNvPr id="31" name="Text 29"/>
          <p:cNvSpPr/>
          <p:nvPr/>
        </p:nvSpPr>
        <p:spPr>
          <a:xfrm>
            <a:off x="3886200" y="5614416"/>
            <a:ext cx="2971800" cy="182880"/>
          </a:xfrm>
          <a:prstGeom prst="rect">
            <a:avLst/>
          </a:prstGeom>
          <a:noFill/>
          <a:ln/>
        </p:spPr>
        <p:txBody>
          <a:bodyPr wrap="square" lIns="0" tIns="0" rIns="0" bIns="0" rtlCol="0" anchor="ctr">
            <a:normAutofit/>
          </a:bodyPr>
          <a:lstStyle/>
          <a:p>
            <a:pPr algn="ctr" indent="0" marL="0">
              <a:buNone/>
            </a:pPr>
            <a:r>
              <a:rPr lang="en-US" sz="900" b="1" dirty="0">
                <a:solidFill>
                  <a:srgbClr val="0F766E"/>
                </a:solidFill>
                <a:latin typeface="Aptos" pitchFamily="34" charset="0"/>
                <a:ea typeface="Aptos" pitchFamily="34" charset="-122"/>
                <a:cs typeface="Aptos" pitchFamily="34" charset="-120"/>
              </a:rPr>
              <a:t>CURRENT: mature advanced-lean RAG</a:t>
            </a:r>
            <a:endParaRPr lang="en-US" sz="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CONCRETE RETRIEVAL CODE</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important line is the boundary filter</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Semantic search without document scoping can leak context across documents.</a:t>
            </a:r>
            <a:endParaRPr lang="en-US" sz="1200" dirty="0"/>
          </a:p>
        </p:txBody>
      </p:sp>
      <p:sp>
        <p:nvSpPr>
          <p:cNvPr id="5" name="Shape 3"/>
          <p:cNvSpPr/>
          <p:nvPr/>
        </p:nvSpPr>
        <p:spPr>
          <a:xfrm>
            <a:off x="731520" y="1737360"/>
            <a:ext cx="5394960" cy="3246120"/>
          </a:xfrm>
          <a:prstGeom prst="roundRect">
            <a:avLst>
              <a:gd name="adj" fmla="val 1690"/>
            </a:avLst>
          </a:prstGeom>
          <a:solidFill>
            <a:srgbClr val="0B1220"/>
          </a:solidFill>
          <a:ln w="12700">
            <a:solidFill>
              <a:srgbClr val="1E293B"/>
            </a:solidFill>
            <a:prstDash val="solid"/>
          </a:ln>
        </p:spPr>
      </p:sp>
      <p:sp>
        <p:nvSpPr>
          <p:cNvPr id="6" name="Text 4"/>
          <p:cNvSpPr/>
          <p:nvPr/>
        </p:nvSpPr>
        <p:spPr>
          <a:xfrm>
            <a:off x="896112" y="1865376"/>
            <a:ext cx="5065776" cy="3026664"/>
          </a:xfrm>
          <a:prstGeom prst="rect">
            <a:avLst/>
          </a:prstGeom>
          <a:noFill/>
          <a:ln/>
        </p:spPr>
        <p:txBody>
          <a:bodyPr wrap="square" lIns="0" tIns="0" rIns="0" bIns="0" rtlCol="0" anchor="t">
            <a:normAutofit/>
          </a:bodyPr>
          <a:lstStyle/>
          <a:p>
            <a:pPr indent="0" marL="0">
              <a:buNone/>
            </a:pPr>
            <a:r>
              <a:rPr lang="en-US" sz="1500" dirty="0">
                <a:solidFill>
                  <a:srgbClr val="D1FAE5"/>
                </a:solidFill>
                <a:latin typeface="Consolas" pitchFamily="34" charset="0"/>
                <a:ea typeface="Consolas" pitchFamily="34" charset="-122"/>
                <a:cs typeface="Consolas" pitchFamily="34" charset="-120"/>
              </a:rPr>
              <a:t>SearchRequest request = SearchRequest</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.query(question)</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.withTopK(4)</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.withFilterExpression(</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"documentGuid == '" + 'guid' + "'"</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a:t>
            </a:r>
            <a:endParaRPr lang="en-US" sz="1500" dirty="0"/>
          </a:p>
          <a:p>
            <a:pPr indent="0" marL="0">
              <a:buNone/>
            </a:pP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List&lt;Document&gt; passages =</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vectorStore.similaritySearch(request);</a:t>
            </a:r>
            <a:endParaRPr lang="en-US" sz="1500" dirty="0"/>
          </a:p>
        </p:txBody>
      </p:sp>
      <p:sp>
        <p:nvSpPr>
          <p:cNvPr id="7" name="Shape 5"/>
          <p:cNvSpPr/>
          <p:nvPr/>
        </p:nvSpPr>
        <p:spPr>
          <a:xfrm>
            <a:off x="6263640" y="1737360"/>
            <a:ext cx="5212080" cy="3246120"/>
          </a:xfrm>
          <a:prstGeom prst="roundRect">
            <a:avLst>
              <a:gd name="adj" fmla="val 1690"/>
            </a:avLst>
          </a:prstGeom>
          <a:solidFill>
            <a:srgbClr val="0B1220"/>
          </a:solidFill>
          <a:ln w="12700">
            <a:solidFill>
              <a:srgbClr val="1E293B"/>
            </a:solidFill>
            <a:prstDash val="solid"/>
          </a:ln>
        </p:spPr>
      </p:sp>
      <p:sp>
        <p:nvSpPr>
          <p:cNvPr id="8" name="Text 6"/>
          <p:cNvSpPr/>
          <p:nvPr/>
        </p:nvSpPr>
        <p:spPr>
          <a:xfrm>
            <a:off x="6428232" y="1865376"/>
            <a:ext cx="4882896" cy="3026664"/>
          </a:xfrm>
          <a:prstGeom prst="rect">
            <a:avLst/>
          </a:prstGeom>
          <a:noFill/>
          <a:ln/>
        </p:spPr>
        <p:txBody>
          <a:bodyPr wrap="square" lIns="0" tIns="0" rIns="0" bIns="0" rtlCol="0" anchor="t">
            <a:normAutofit/>
          </a:bodyPr>
          <a:lstStyle/>
          <a:p>
            <a:pPr indent="0" marL="0">
              <a:buNone/>
            </a:pPr>
            <a:r>
              <a:rPr lang="en-US" sz="1500" dirty="0">
                <a:solidFill>
                  <a:srgbClr val="D1FAE5"/>
                </a:solidFill>
                <a:latin typeface="Consolas" pitchFamily="34" charset="0"/>
                <a:ea typeface="Consolas" pitchFamily="34" charset="-122"/>
                <a:cs typeface="Consolas" pitchFamily="34" charset="-120"/>
              </a:rPr>
              <a:t>String context = passages.stream()</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.map(p -&gt; "[Excerpt] " + p.getContent())</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.collect(Collectors.joining(System.lineSeparator()));</a:t>
            </a:r>
            <a:endParaRPr lang="en-US" sz="1500" dirty="0"/>
          </a:p>
          <a:p>
            <a:pPr indent="0" marL="0">
              <a:buNone/>
            </a:pP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return chatClient.prompt()</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.system(groundedPrompt(context))</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.user(question)</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.call()</a:t>
            </a:r>
            <a:endParaRPr lang="en-US" sz="1500" dirty="0"/>
          </a:p>
          <a:p>
            <a:pPr indent="0" marL="0">
              <a:buNone/>
            </a:pPr>
            <a:r>
              <a:rPr lang="en-US" sz="1500" dirty="0">
                <a:solidFill>
                  <a:srgbClr val="D1FAE5"/>
                </a:solidFill>
                <a:latin typeface="Consolas" pitchFamily="34" charset="0"/>
                <a:ea typeface="Consolas" pitchFamily="34" charset="-122"/>
                <a:cs typeface="Consolas" pitchFamily="34" charset="-120"/>
              </a:rPr>
              <a:t>    .content();</a:t>
            </a:r>
            <a:endParaRPr lang="en-US" sz="1500" dirty="0"/>
          </a:p>
        </p:txBody>
      </p:sp>
      <p:sp>
        <p:nvSpPr>
          <p:cNvPr id="9" name="Shape 7"/>
          <p:cNvSpPr/>
          <p:nvPr/>
        </p:nvSpPr>
        <p:spPr>
          <a:xfrm>
            <a:off x="914400" y="5440680"/>
            <a:ext cx="10241280" cy="594360"/>
          </a:xfrm>
          <a:prstGeom prst="roundRect">
            <a:avLst>
              <a:gd name="adj" fmla="val 12308"/>
            </a:avLst>
          </a:prstGeom>
          <a:solidFill>
            <a:srgbClr val="FEF3C7"/>
          </a:solidFill>
          <a:ln w="12700">
            <a:solidFill>
              <a:srgbClr val="B45309"/>
            </a:solidFill>
            <a:prstDash val="solid"/>
          </a:ln>
        </p:spPr>
      </p:sp>
      <p:sp>
        <p:nvSpPr>
          <p:cNvPr id="10" name="Text 8"/>
          <p:cNvSpPr/>
          <p:nvPr/>
        </p:nvSpPr>
        <p:spPr>
          <a:xfrm>
            <a:off x="1143000" y="5623560"/>
            <a:ext cx="9784080" cy="228600"/>
          </a:xfrm>
          <a:prstGeom prst="rect">
            <a:avLst/>
          </a:prstGeom>
          <a:noFill/>
          <a:ln/>
        </p:spPr>
        <p:txBody>
          <a:bodyPr wrap="square" lIns="0" tIns="0" rIns="0" bIns="0" rtlCol="0" anchor="ctr">
            <a:normAutofit/>
          </a:bodyPr>
          <a:lstStyle/>
          <a:p>
            <a:pPr algn="ctr" indent="0" marL="0">
              <a:buNone/>
            </a:pPr>
            <a:r>
              <a:rPr lang="en-US" sz="1500" b="1" dirty="0">
                <a:solidFill>
                  <a:srgbClr val="B45309"/>
                </a:solidFill>
                <a:latin typeface="Aptos" pitchFamily="34" charset="0"/>
                <a:ea typeface="Aptos" pitchFamily="34" charset="-122"/>
                <a:cs typeface="Aptos" pitchFamily="34" charset="-120"/>
              </a:rPr>
              <a:t>Retrieval answers “which passages are relevant?” — generation answers “how do I explain them?” They are separate failure surfaces.</a:t>
            </a:r>
            <a:endParaRPr lang="en-US" sz="15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RAG LIMITS</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Grounding is necessary, not sufficient</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A retrieved passage can still be irrelevant, incomplete, stale, or misinterpreted.</a:t>
            </a:r>
            <a:endParaRPr lang="en-US" sz="1200" dirty="0"/>
          </a:p>
        </p:txBody>
      </p:sp>
      <p:sp>
        <p:nvSpPr>
          <p:cNvPr id="5" name="Shape 3"/>
          <p:cNvSpPr/>
          <p:nvPr/>
        </p:nvSpPr>
        <p:spPr>
          <a:xfrm>
            <a:off x="640080" y="1783080"/>
            <a:ext cx="5166360" cy="1234440"/>
          </a:xfrm>
          <a:prstGeom prst="roundRect">
            <a:avLst>
              <a:gd name="adj" fmla="val 5926"/>
            </a:avLst>
          </a:prstGeom>
          <a:solidFill>
            <a:srgbClr val="FEE2E2"/>
          </a:solidFill>
          <a:ln w="12700">
            <a:solidFill>
              <a:srgbClr val="B91C1C"/>
            </a:solidFill>
            <a:prstDash val="solid"/>
          </a:ln>
        </p:spPr>
      </p:sp>
      <p:sp>
        <p:nvSpPr>
          <p:cNvPr id="6" name="Text 4"/>
          <p:cNvSpPr/>
          <p:nvPr/>
        </p:nvSpPr>
        <p:spPr>
          <a:xfrm>
            <a:off x="868680" y="1965960"/>
            <a:ext cx="1097280" cy="228600"/>
          </a:xfrm>
          <a:prstGeom prst="rect">
            <a:avLst/>
          </a:prstGeom>
          <a:noFill/>
          <a:ln/>
        </p:spPr>
        <p:txBody>
          <a:bodyPr wrap="square" lIns="0" tIns="0" rIns="0" bIns="0" rtlCol="0" anchor="ctr">
            <a:normAutofit/>
          </a:bodyPr>
          <a:lstStyle/>
          <a:p>
            <a:pPr indent="0" marL="0">
              <a:buNone/>
            </a:pPr>
            <a:r>
              <a:rPr lang="en-US" sz="1700" b="1" dirty="0">
                <a:solidFill>
                  <a:srgbClr val="B91C1C"/>
                </a:solidFill>
                <a:latin typeface="Aptos" pitchFamily="34" charset="0"/>
                <a:ea typeface="Aptos" pitchFamily="34" charset="-122"/>
                <a:cs typeface="Aptos" pitchFamily="34" charset="-120"/>
              </a:rPr>
              <a:t>Recall</a:t>
            </a:r>
            <a:endParaRPr lang="en-US" sz="1700" dirty="0"/>
          </a:p>
        </p:txBody>
      </p:sp>
      <p:sp>
        <p:nvSpPr>
          <p:cNvPr id="7" name="Text 5"/>
          <p:cNvSpPr/>
          <p:nvPr/>
        </p:nvSpPr>
        <p:spPr>
          <a:xfrm>
            <a:off x="2057400" y="1965960"/>
            <a:ext cx="3383280" cy="566928"/>
          </a:xfrm>
          <a:prstGeom prst="rect">
            <a:avLst/>
          </a:prstGeom>
          <a:noFill/>
          <a:ln/>
        </p:spPr>
        <p:txBody>
          <a:bodyPr wrap="square" lIns="0" tIns="0" rIns="0" bIns="0" rtlCol="0" anchor="ctr">
            <a:normAutofit/>
          </a:bodyPr>
          <a:lstStyle/>
          <a:p>
            <a:pPr indent="0" marL="0">
              <a:buNone/>
            </a:pPr>
            <a:r>
              <a:rPr lang="en-US" sz="1500" dirty="0">
                <a:solidFill>
                  <a:srgbClr val="334155"/>
                </a:solidFill>
                <a:latin typeface="Aptos" pitchFamily="34" charset="0"/>
                <a:ea typeface="Aptos" pitchFamily="34" charset="-122"/>
                <a:cs typeface="Aptos" pitchFamily="34" charset="-120"/>
              </a:rPr>
              <a:t>The answer may exist in the PDF but not in top-k.</a:t>
            </a:r>
            <a:endParaRPr lang="en-US" sz="1500" dirty="0"/>
          </a:p>
        </p:txBody>
      </p:sp>
      <p:sp>
        <p:nvSpPr>
          <p:cNvPr id="8" name="Shape 6"/>
          <p:cNvSpPr/>
          <p:nvPr/>
        </p:nvSpPr>
        <p:spPr>
          <a:xfrm>
            <a:off x="6355080" y="1783080"/>
            <a:ext cx="5166360" cy="1234440"/>
          </a:xfrm>
          <a:prstGeom prst="roundRect">
            <a:avLst>
              <a:gd name="adj" fmla="val 5926"/>
            </a:avLst>
          </a:prstGeom>
          <a:solidFill>
            <a:srgbClr val="FEF3C7"/>
          </a:solidFill>
          <a:ln w="12700">
            <a:solidFill>
              <a:srgbClr val="B45309"/>
            </a:solidFill>
            <a:prstDash val="solid"/>
          </a:ln>
        </p:spPr>
      </p:sp>
      <p:sp>
        <p:nvSpPr>
          <p:cNvPr id="9" name="Text 7"/>
          <p:cNvSpPr/>
          <p:nvPr/>
        </p:nvSpPr>
        <p:spPr>
          <a:xfrm>
            <a:off x="6583680" y="1965960"/>
            <a:ext cx="1097280" cy="228600"/>
          </a:xfrm>
          <a:prstGeom prst="rect">
            <a:avLst/>
          </a:prstGeom>
          <a:noFill/>
          <a:ln/>
        </p:spPr>
        <p:txBody>
          <a:bodyPr wrap="square" lIns="0" tIns="0" rIns="0" bIns="0" rtlCol="0" anchor="ctr">
            <a:normAutofit/>
          </a:bodyPr>
          <a:lstStyle/>
          <a:p>
            <a:pPr indent="0" marL="0">
              <a:buNone/>
            </a:pPr>
            <a:r>
              <a:rPr lang="en-US" sz="1700" b="1" dirty="0">
                <a:solidFill>
                  <a:srgbClr val="B45309"/>
                </a:solidFill>
                <a:latin typeface="Aptos" pitchFamily="34" charset="0"/>
                <a:ea typeface="Aptos" pitchFamily="34" charset="-122"/>
                <a:cs typeface="Aptos" pitchFamily="34" charset="-120"/>
              </a:rPr>
              <a:t>Precision</a:t>
            </a:r>
            <a:endParaRPr lang="en-US" sz="1700" dirty="0"/>
          </a:p>
        </p:txBody>
      </p:sp>
      <p:sp>
        <p:nvSpPr>
          <p:cNvPr id="10" name="Text 8"/>
          <p:cNvSpPr/>
          <p:nvPr/>
        </p:nvSpPr>
        <p:spPr>
          <a:xfrm>
            <a:off x="7772400" y="1965960"/>
            <a:ext cx="3383280" cy="566928"/>
          </a:xfrm>
          <a:prstGeom prst="rect">
            <a:avLst/>
          </a:prstGeom>
          <a:noFill/>
          <a:ln/>
        </p:spPr>
        <p:txBody>
          <a:bodyPr wrap="square" lIns="0" tIns="0" rIns="0" bIns="0" rtlCol="0" anchor="ctr">
            <a:normAutofit/>
          </a:bodyPr>
          <a:lstStyle/>
          <a:p>
            <a:pPr indent="0" marL="0">
              <a:buNone/>
            </a:pPr>
            <a:r>
              <a:rPr lang="en-US" sz="1500" dirty="0">
                <a:solidFill>
                  <a:srgbClr val="334155"/>
                </a:solidFill>
                <a:latin typeface="Aptos" pitchFamily="34" charset="0"/>
                <a:ea typeface="Aptos" pitchFamily="34" charset="-122"/>
                <a:cs typeface="Aptos" pitchFamily="34" charset="-120"/>
              </a:rPr>
              <a:t>A semantically similar chunk may not answer the question.</a:t>
            </a:r>
            <a:endParaRPr lang="en-US" sz="1500" dirty="0"/>
          </a:p>
        </p:txBody>
      </p:sp>
      <p:sp>
        <p:nvSpPr>
          <p:cNvPr id="11" name="Shape 9"/>
          <p:cNvSpPr/>
          <p:nvPr/>
        </p:nvSpPr>
        <p:spPr>
          <a:xfrm>
            <a:off x="640080" y="3474720"/>
            <a:ext cx="5166360" cy="1234440"/>
          </a:xfrm>
          <a:prstGeom prst="roundRect">
            <a:avLst>
              <a:gd name="adj" fmla="val 5926"/>
            </a:avLst>
          </a:prstGeom>
          <a:solidFill>
            <a:srgbClr val="EDE9FE"/>
          </a:solidFill>
          <a:ln w="12700">
            <a:solidFill>
              <a:srgbClr val="6D28D9"/>
            </a:solidFill>
            <a:prstDash val="solid"/>
          </a:ln>
        </p:spPr>
      </p:sp>
      <p:sp>
        <p:nvSpPr>
          <p:cNvPr id="12" name="Text 10"/>
          <p:cNvSpPr/>
          <p:nvPr/>
        </p:nvSpPr>
        <p:spPr>
          <a:xfrm>
            <a:off x="868680" y="3657600"/>
            <a:ext cx="1097280" cy="228600"/>
          </a:xfrm>
          <a:prstGeom prst="rect">
            <a:avLst/>
          </a:prstGeom>
          <a:noFill/>
          <a:ln/>
        </p:spPr>
        <p:txBody>
          <a:bodyPr wrap="square" lIns="0" tIns="0" rIns="0" bIns="0" rtlCol="0" anchor="ctr">
            <a:normAutofit/>
          </a:bodyPr>
          <a:lstStyle/>
          <a:p>
            <a:pPr indent="0" marL="0">
              <a:buNone/>
            </a:pPr>
            <a:r>
              <a:rPr lang="en-US" sz="1700" b="1" dirty="0">
                <a:solidFill>
                  <a:srgbClr val="6D28D9"/>
                </a:solidFill>
                <a:latin typeface="Aptos" pitchFamily="34" charset="0"/>
                <a:ea typeface="Aptos" pitchFamily="34" charset="-122"/>
                <a:cs typeface="Aptos" pitchFamily="34" charset="-120"/>
              </a:rPr>
              <a:t>Generation</a:t>
            </a:r>
            <a:endParaRPr lang="en-US" sz="1700" dirty="0"/>
          </a:p>
        </p:txBody>
      </p:sp>
      <p:sp>
        <p:nvSpPr>
          <p:cNvPr id="13" name="Text 11"/>
          <p:cNvSpPr/>
          <p:nvPr/>
        </p:nvSpPr>
        <p:spPr>
          <a:xfrm>
            <a:off x="2057400" y="3657600"/>
            <a:ext cx="3383280" cy="566928"/>
          </a:xfrm>
          <a:prstGeom prst="rect">
            <a:avLst/>
          </a:prstGeom>
          <a:noFill/>
          <a:ln/>
        </p:spPr>
        <p:txBody>
          <a:bodyPr wrap="square" lIns="0" tIns="0" rIns="0" bIns="0" rtlCol="0" anchor="ctr">
            <a:normAutofit/>
          </a:bodyPr>
          <a:lstStyle/>
          <a:p>
            <a:pPr indent="0" marL="0">
              <a:buNone/>
            </a:pPr>
            <a:r>
              <a:rPr lang="en-US" sz="1500" dirty="0">
                <a:solidFill>
                  <a:srgbClr val="334155"/>
                </a:solidFill>
                <a:latin typeface="Aptos" pitchFamily="34" charset="0"/>
                <a:ea typeface="Aptos" pitchFamily="34" charset="-122"/>
                <a:cs typeface="Aptos" pitchFamily="34" charset="-120"/>
              </a:rPr>
              <a:t>The model can still overstate what the evidence supports.</a:t>
            </a:r>
            <a:endParaRPr lang="en-US" sz="1500" dirty="0"/>
          </a:p>
        </p:txBody>
      </p:sp>
      <p:sp>
        <p:nvSpPr>
          <p:cNvPr id="14" name="Shape 12"/>
          <p:cNvSpPr/>
          <p:nvPr/>
        </p:nvSpPr>
        <p:spPr>
          <a:xfrm>
            <a:off x="6355080" y="3474720"/>
            <a:ext cx="5166360" cy="1234440"/>
          </a:xfrm>
          <a:prstGeom prst="roundRect">
            <a:avLst>
              <a:gd name="adj" fmla="val 5926"/>
            </a:avLst>
          </a:prstGeom>
          <a:solidFill>
            <a:srgbClr val="CCFBF1"/>
          </a:solidFill>
          <a:ln w="12700">
            <a:solidFill>
              <a:srgbClr val="0F766E"/>
            </a:solidFill>
            <a:prstDash val="solid"/>
          </a:ln>
        </p:spPr>
      </p:sp>
      <p:sp>
        <p:nvSpPr>
          <p:cNvPr id="15" name="Text 13"/>
          <p:cNvSpPr/>
          <p:nvPr/>
        </p:nvSpPr>
        <p:spPr>
          <a:xfrm>
            <a:off x="6583680" y="3657600"/>
            <a:ext cx="1097280" cy="228600"/>
          </a:xfrm>
          <a:prstGeom prst="rect">
            <a:avLst/>
          </a:prstGeom>
          <a:noFill/>
          <a:ln/>
        </p:spPr>
        <p:txBody>
          <a:bodyPr wrap="square" lIns="0" tIns="0" rIns="0" bIns="0" rtlCol="0" anchor="ctr">
            <a:normAutofit/>
          </a:bodyPr>
          <a:lstStyle/>
          <a:p>
            <a:pPr indent="0" marL="0">
              <a:buNone/>
            </a:pPr>
            <a:r>
              <a:rPr lang="en-US" sz="1700" b="1" dirty="0">
                <a:solidFill>
                  <a:srgbClr val="0F766E"/>
                </a:solidFill>
                <a:latin typeface="Aptos" pitchFamily="34" charset="0"/>
                <a:ea typeface="Aptos" pitchFamily="34" charset="-122"/>
                <a:cs typeface="Aptos" pitchFamily="34" charset="-120"/>
              </a:rPr>
              <a:t>Evaluation</a:t>
            </a:r>
            <a:endParaRPr lang="en-US" sz="1700" dirty="0"/>
          </a:p>
        </p:txBody>
      </p:sp>
      <p:sp>
        <p:nvSpPr>
          <p:cNvPr id="16" name="Text 14"/>
          <p:cNvSpPr/>
          <p:nvPr/>
        </p:nvSpPr>
        <p:spPr>
          <a:xfrm>
            <a:off x="7772400" y="3657600"/>
            <a:ext cx="3383280" cy="566928"/>
          </a:xfrm>
          <a:prstGeom prst="rect">
            <a:avLst/>
          </a:prstGeom>
          <a:noFill/>
          <a:ln/>
        </p:spPr>
        <p:txBody>
          <a:bodyPr wrap="square" lIns="0" tIns="0" rIns="0" bIns="0" rtlCol="0" anchor="ctr">
            <a:normAutofit/>
          </a:bodyPr>
          <a:lstStyle/>
          <a:p>
            <a:pPr indent="0" marL="0">
              <a:buNone/>
            </a:pPr>
            <a:r>
              <a:rPr lang="en-US" sz="1500" dirty="0">
                <a:solidFill>
                  <a:srgbClr val="334155"/>
                </a:solidFill>
                <a:latin typeface="Aptos" pitchFamily="34" charset="0"/>
                <a:ea typeface="Aptos" pitchFamily="34" charset="-122"/>
                <a:cs typeface="Aptos" pitchFamily="34" charset="-120"/>
              </a:rPr>
              <a:t>The current citation score is a hardcoded placeholder.</a:t>
            </a:r>
            <a:endParaRPr lang="en-US" sz="1500" dirty="0"/>
          </a:p>
        </p:txBody>
      </p:sp>
      <p:sp>
        <p:nvSpPr>
          <p:cNvPr id="17" name="Text 15"/>
          <p:cNvSpPr/>
          <p:nvPr/>
        </p:nvSpPr>
        <p:spPr>
          <a:xfrm>
            <a:off x="777240" y="5532120"/>
            <a:ext cx="10652760" cy="457200"/>
          </a:xfrm>
          <a:prstGeom prst="rect">
            <a:avLst/>
          </a:prstGeom>
          <a:noFill/>
          <a:ln/>
        </p:spPr>
        <p:txBody>
          <a:bodyPr wrap="square" lIns="0" tIns="0" rIns="0" bIns="0" rtlCol="0" anchor="ctr">
            <a:normAutofit/>
          </a:bodyPr>
          <a:lstStyle/>
          <a:p>
            <a:pPr algn="ctr" indent="0" marL="0">
              <a:buNone/>
            </a:pPr>
            <a:r>
              <a:rPr lang="en-US" sz="1900" b="1" dirty="0">
                <a:solidFill>
                  <a:srgbClr val="0F172A"/>
                </a:solidFill>
                <a:latin typeface="Aptos" pitchFamily="34" charset="0"/>
                <a:ea typeface="Aptos" pitchFamily="34" charset="-122"/>
                <a:cs typeface="Aptos" pitchFamily="34" charset="-120"/>
              </a:rPr>
              <a:t>The honest claim is not “zero hallucinations.” It is “a smaller, more inspectable surface for unsupported claims.”</a:t>
            </a:r>
            <a:endParaRPr lang="en-US" sz="19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640080" y="960120"/>
            <a:ext cx="109728" cy="4480560"/>
          </a:xfrm>
          <a:prstGeom prst="rect">
            <a:avLst/>
          </a:prstGeom>
          <a:solidFill>
            <a:srgbClr val="0F766E"/>
          </a:solidFill>
          <a:ln w="12700">
            <a:solidFill>
              <a:srgbClr val="0F766E"/>
            </a:solidFill>
            <a:prstDash val="solid"/>
          </a:ln>
        </p:spPr>
      </p:sp>
      <p:sp>
        <p:nvSpPr>
          <p:cNvPr id="4" name="Text 2"/>
          <p:cNvSpPr/>
          <p:nvPr/>
        </p:nvSpPr>
        <p:spPr>
          <a:xfrm>
            <a:off x="1024128" y="960120"/>
            <a:ext cx="2011680" cy="1097280"/>
          </a:xfrm>
          <a:prstGeom prst="rect">
            <a:avLst/>
          </a:prstGeom>
          <a:noFill/>
          <a:ln/>
        </p:spPr>
        <p:txBody>
          <a:bodyPr wrap="square" lIns="0" tIns="0" rIns="0" bIns="0" rtlCol="0" anchor="ctr">
            <a:normAutofit/>
          </a:bodyPr>
          <a:lstStyle/>
          <a:p>
            <a:pPr indent="0" marL="0">
              <a:buNone/>
            </a:pPr>
            <a:r>
              <a:rPr lang="en-US" sz="5800" b="1" dirty="0">
                <a:solidFill>
                  <a:srgbClr val="0F766E"/>
                </a:solidFill>
                <a:latin typeface="Aptos" pitchFamily="34" charset="0"/>
                <a:ea typeface="Aptos" pitchFamily="34" charset="-122"/>
                <a:cs typeface="Aptos" pitchFamily="34" charset="-120"/>
              </a:rPr>
              <a:t>05</a:t>
            </a:r>
            <a:endParaRPr lang="en-US" sz="5800" dirty="0"/>
          </a:p>
        </p:txBody>
      </p:sp>
      <p:sp>
        <p:nvSpPr>
          <p:cNvPr id="5" name="Text 3"/>
          <p:cNvSpPr/>
          <p:nvPr/>
        </p:nvSpPr>
        <p:spPr>
          <a:xfrm>
            <a:off x="1024128" y="2148840"/>
            <a:ext cx="9784080" cy="1005840"/>
          </a:xfrm>
          <a:prstGeom prst="rect">
            <a:avLst/>
          </a:prstGeom>
          <a:noFill/>
          <a:ln/>
        </p:spPr>
        <p:txBody>
          <a:bodyPr wrap="square" lIns="0" tIns="0" rIns="0" bIns="0" rtlCol="0" anchor="ctr">
            <a:normAutofit/>
          </a:bodyPr>
          <a:lstStyle/>
          <a:p>
            <a:pPr indent="0" marL="0">
              <a:buNone/>
            </a:pPr>
            <a:r>
              <a:rPr lang="en-US" sz="3200" b="1" dirty="0">
                <a:solidFill>
                  <a:srgbClr val="FFFFFF"/>
                </a:solidFill>
                <a:latin typeface="Aptos" pitchFamily="34" charset="0"/>
                <a:ea typeface="Aptos" pitchFamily="34" charset="-122"/>
                <a:cs typeface="Aptos" pitchFamily="34" charset="-120"/>
              </a:rPr>
              <a:t>Evidence, economics, and lessons learned</a:t>
            </a:r>
            <a:endParaRPr lang="en-US" sz="3200" dirty="0"/>
          </a:p>
        </p:txBody>
      </p:sp>
      <p:sp>
        <p:nvSpPr>
          <p:cNvPr id="6" name="Text 4"/>
          <p:cNvSpPr/>
          <p:nvPr/>
        </p:nvSpPr>
        <p:spPr>
          <a:xfrm>
            <a:off x="1060704" y="4645152"/>
            <a:ext cx="8595360" cy="658368"/>
          </a:xfrm>
          <a:prstGeom prst="rect">
            <a:avLst/>
          </a:prstGeom>
          <a:noFill/>
          <a:ln/>
        </p:spPr>
        <p:txBody>
          <a:bodyPr wrap="square" lIns="0" tIns="0" rIns="0" bIns="0" rtlCol="0" anchor="ctr">
            <a:normAutofit/>
          </a:bodyPr>
          <a:lstStyle/>
          <a:p>
            <a:pPr indent="0" marL="0">
              <a:buNone/>
            </a:pPr>
            <a:r>
              <a:rPr lang="en-US" sz="1900" i="1" dirty="0">
                <a:solidFill>
                  <a:srgbClr val="E2E8F0"/>
                </a:solidFill>
                <a:latin typeface="Aptos" pitchFamily="34" charset="0"/>
                <a:ea typeface="Aptos" pitchFamily="34" charset="-122"/>
                <a:cs typeface="Aptos" pitchFamily="34" charset="-120"/>
              </a:rPr>
              <a:t>The goal is not to make the model sound confident.</a:t>
            </a:r>
            <a:endParaRPr lang="en-US" sz="1900" dirty="0"/>
          </a:p>
          <a:p>
            <a:pPr indent="0" marL="0">
              <a:buNone/>
            </a:pPr>
            <a:r>
              <a:rPr lang="en-US" sz="1900" i="1" dirty="0">
                <a:solidFill>
                  <a:srgbClr val="E2E8F0"/>
                </a:solidFill>
                <a:latin typeface="Aptos" pitchFamily="34" charset="0"/>
                <a:ea typeface="Aptos" pitchFamily="34" charset="-122"/>
                <a:cs typeface="Aptos" pitchFamily="34" charset="-120"/>
              </a:rPr>
              <a:t>The goal is to make the system useful, inspectable, and honest.</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FINANCIAL LEDGER</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Unified Financial &amp; Consumption Ledger</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Engineering estimate for educational and comparative analysis; values are not audited accounting.</a:t>
            </a:r>
            <a:endParaRPr lang="en-US" sz="1200" dirty="0"/>
          </a:p>
        </p:txBody>
      </p:sp>
      <p:sp>
        <p:nvSpPr>
          <p:cNvPr id="5" name="Text 3"/>
          <p:cNvSpPr/>
          <p:nvPr/>
        </p:nvSpPr>
        <p:spPr>
          <a:xfrm>
            <a:off x="502920" y="1572768"/>
            <a:ext cx="2331720" cy="384048"/>
          </a:xfrm>
          <a:prstGeom prst="rect">
            <a:avLst/>
          </a:prstGeom>
          <a:noFill/>
          <a:ln/>
        </p:spPr>
        <p:txBody>
          <a:bodyPr wrap="square" lIns="0" tIns="0" rIns="0" bIns="0" rtlCol="0" anchor="ctr">
            <a:normAutofit/>
          </a:bodyPr>
          <a:lstStyle/>
          <a:p>
            <a:pPr indent="0" marL="0">
              <a:buNone/>
            </a:pPr>
            <a:r>
              <a:rPr lang="en-US" sz="1100" b="1" dirty="0">
                <a:solidFill>
                  <a:srgbClr val="0F766E"/>
                </a:solidFill>
                <a:latin typeface="Aptos" pitchFamily="34" charset="0"/>
                <a:ea typeface="Aptos" pitchFamily="34" charset="-122"/>
                <a:cs typeface="Aptos" pitchFamily="34" charset="-120"/>
              </a:rPr>
              <a:t>Metric / Parameter</a:t>
            </a:r>
            <a:endParaRPr lang="en-US" sz="1100" dirty="0"/>
          </a:p>
        </p:txBody>
      </p:sp>
      <p:sp>
        <p:nvSpPr>
          <p:cNvPr id="6" name="Text 4"/>
          <p:cNvSpPr/>
          <p:nvPr/>
        </p:nvSpPr>
        <p:spPr>
          <a:xfrm>
            <a:off x="2971800" y="1572768"/>
            <a:ext cx="2148840" cy="384048"/>
          </a:xfrm>
          <a:prstGeom prst="rect">
            <a:avLst/>
          </a:prstGeom>
          <a:noFill/>
          <a:ln/>
        </p:spPr>
        <p:txBody>
          <a:bodyPr wrap="square" lIns="0" tIns="0" rIns="0" bIns="0" rtlCol="0" anchor="ctr">
            <a:normAutofit/>
          </a:bodyPr>
          <a:lstStyle/>
          <a:p>
            <a:pPr indent="0" marL="0">
              <a:buNone/>
            </a:pPr>
            <a:r>
              <a:rPr lang="en-US" sz="1100" b="1" dirty="0">
                <a:solidFill>
                  <a:srgbClr val="0F766E"/>
                </a:solidFill>
                <a:latin typeface="Aptos" pitchFamily="34" charset="0"/>
                <a:ea typeface="Aptos" pitchFamily="34" charset="-122"/>
                <a:cs typeface="Aptos" pitchFamily="34" charset="-120"/>
              </a:rPr>
              <a:t>Consolidated Total</a:t>
            </a:r>
            <a:endParaRPr lang="en-US" sz="1100" dirty="0"/>
          </a:p>
        </p:txBody>
      </p:sp>
      <p:sp>
        <p:nvSpPr>
          <p:cNvPr id="7" name="Text 5"/>
          <p:cNvSpPr/>
          <p:nvPr/>
        </p:nvSpPr>
        <p:spPr>
          <a:xfrm>
            <a:off x="5257800" y="1572768"/>
            <a:ext cx="6720840" cy="384048"/>
          </a:xfrm>
          <a:prstGeom prst="rect">
            <a:avLst/>
          </a:prstGeom>
          <a:noFill/>
          <a:ln/>
        </p:spPr>
        <p:txBody>
          <a:bodyPr wrap="square" lIns="0" tIns="0" rIns="0" bIns="0" rtlCol="0" anchor="ctr">
            <a:normAutofit/>
          </a:bodyPr>
          <a:lstStyle/>
          <a:p>
            <a:pPr indent="0" marL="0">
              <a:buNone/>
            </a:pPr>
            <a:r>
              <a:rPr lang="en-US" sz="1100" b="1" dirty="0">
                <a:solidFill>
                  <a:srgbClr val="0F766E"/>
                </a:solidFill>
                <a:latin typeface="Aptos" pitchFamily="34" charset="0"/>
                <a:ea typeface="Aptos" pitchFamily="34" charset="-122"/>
                <a:cs typeface="Aptos" pitchFamily="34" charset="-120"/>
              </a:rPr>
              <a:t>Measurement Basis &amp; Technical Details</a:t>
            </a:r>
            <a:endParaRPr lang="en-US" sz="1100" dirty="0"/>
          </a:p>
        </p:txBody>
      </p:sp>
      <p:sp>
        <p:nvSpPr>
          <p:cNvPr id="8" name="Shape 6"/>
          <p:cNvSpPr/>
          <p:nvPr/>
        </p:nvSpPr>
        <p:spPr>
          <a:xfrm>
            <a:off x="502920" y="2029968"/>
            <a:ext cx="10972800" cy="512064"/>
          </a:xfrm>
          <a:prstGeom prst="roundRect">
            <a:avLst>
              <a:gd name="adj" fmla="val 14286"/>
            </a:avLst>
          </a:prstGeom>
          <a:solidFill>
            <a:srgbClr val="FFFFFF"/>
          </a:solidFill>
          <a:ln w="12700">
            <a:solidFill>
              <a:srgbClr val="CBD5E1"/>
            </a:solidFill>
            <a:prstDash val="solid"/>
          </a:ln>
        </p:spPr>
      </p:sp>
      <p:sp>
        <p:nvSpPr>
          <p:cNvPr id="9" name="Text 7"/>
          <p:cNvSpPr/>
          <p:nvPr/>
        </p:nvSpPr>
        <p:spPr>
          <a:xfrm>
            <a:off x="612648" y="2121408"/>
            <a:ext cx="2148840" cy="310896"/>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ptos" pitchFamily="34" charset="0"/>
                <a:ea typeface="Aptos" pitchFamily="34" charset="-122"/>
                <a:cs typeface="Aptos" pitchFamily="34" charset="-120"/>
              </a:rPr>
              <a:t>Total Out-of-Pocket Compute Cost</a:t>
            </a:r>
            <a:endParaRPr lang="en-US" sz="1050" dirty="0"/>
          </a:p>
        </p:txBody>
      </p:sp>
      <p:sp>
        <p:nvSpPr>
          <p:cNvPr id="10" name="Text 8"/>
          <p:cNvSpPr/>
          <p:nvPr/>
        </p:nvSpPr>
        <p:spPr>
          <a:xfrm>
            <a:off x="3081528" y="2121408"/>
            <a:ext cx="1965960" cy="310896"/>
          </a:xfrm>
          <a:prstGeom prst="rect">
            <a:avLst/>
          </a:prstGeom>
          <a:noFill/>
          <a:ln/>
        </p:spPr>
        <p:txBody>
          <a:bodyPr wrap="square" lIns="0" tIns="0" rIns="0" bIns="0" rtlCol="0" anchor="ctr">
            <a:normAutofit/>
          </a:bodyPr>
          <a:lstStyle/>
          <a:p>
            <a:pPr indent="0" marL="0">
              <a:buNone/>
            </a:pPr>
            <a:r>
              <a:rPr lang="en-US" sz="1050" b="1" dirty="0">
                <a:solidFill>
                  <a:srgbClr val="1D4ED8"/>
                </a:solidFill>
                <a:latin typeface="Aptos" pitchFamily="34" charset="0"/>
                <a:ea typeface="Aptos" pitchFamily="34" charset="-122"/>
                <a:cs typeface="Aptos" pitchFamily="34" charset="-120"/>
              </a:rPr>
              <a:t>~$210 USD</a:t>
            </a:r>
            <a:endParaRPr lang="en-US" sz="1050" dirty="0"/>
          </a:p>
        </p:txBody>
      </p:sp>
      <p:sp>
        <p:nvSpPr>
          <p:cNvPr id="11" name="Text 9"/>
          <p:cNvSpPr/>
          <p:nvPr/>
        </p:nvSpPr>
        <p:spPr>
          <a:xfrm>
            <a:off x="5367528" y="2103120"/>
            <a:ext cx="6537960" cy="356616"/>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Aptos" pitchFamily="34" charset="0"/>
                <a:ea typeface="Aptos" pitchFamily="34" charset="-122"/>
                <a:cs typeface="Aptos" pitchFamily="34" charset="-120"/>
              </a:rPr>
              <a:t>Direct prepaid balance deductions ($70 USD) + ~14,000 AI developer credits ($140.00 standard valuation)</a:t>
            </a:r>
            <a:endParaRPr lang="en-US" sz="920" dirty="0"/>
          </a:p>
        </p:txBody>
      </p:sp>
      <p:sp>
        <p:nvSpPr>
          <p:cNvPr id="12" name="Shape 10"/>
          <p:cNvSpPr/>
          <p:nvPr/>
        </p:nvSpPr>
        <p:spPr>
          <a:xfrm>
            <a:off x="502920" y="2651760"/>
            <a:ext cx="10972800" cy="512064"/>
          </a:xfrm>
          <a:prstGeom prst="roundRect">
            <a:avLst>
              <a:gd name="adj" fmla="val 14286"/>
            </a:avLst>
          </a:prstGeom>
          <a:solidFill>
            <a:srgbClr val="CCFBF1"/>
          </a:solidFill>
          <a:ln w="12700">
            <a:solidFill>
              <a:srgbClr val="0F766E"/>
            </a:solidFill>
            <a:prstDash val="solid"/>
          </a:ln>
        </p:spPr>
      </p:sp>
      <p:sp>
        <p:nvSpPr>
          <p:cNvPr id="13" name="Text 11"/>
          <p:cNvSpPr/>
          <p:nvPr/>
        </p:nvSpPr>
        <p:spPr>
          <a:xfrm>
            <a:off x="612648" y="2743200"/>
            <a:ext cx="2148840" cy="310896"/>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ptos" pitchFamily="34" charset="0"/>
                <a:ea typeface="Aptos" pitchFamily="34" charset="-122"/>
                <a:cs typeface="Aptos" pitchFamily="34" charset="-120"/>
              </a:rPr>
              <a:t>Gross AI Processing Volume</a:t>
            </a:r>
            <a:endParaRPr lang="en-US" sz="1050" dirty="0"/>
          </a:p>
        </p:txBody>
      </p:sp>
      <p:sp>
        <p:nvSpPr>
          <p:cNvPr id="14" name="Text 12"/>
          <p:cNvSpPr/>
          <p:nvPr/>
        </p:nvSpPr>
        <p:spPr>
          <a:xfrm>
            <a:off x="3081528" y="2743200"/>
            <a:ext cx="1965960" cy="310896"/>
          </a:xfrm>
          <a:prstGeom prst="rect">
            <a:avLst/>
          </a:prstGeom>
          <a:noFill/>
          <a:ln/>
        </p:spPr>
        <p:txBody>
          <a:bodyPr wrap="square" lIns="0" tIns="0" rIns="0" bIns="0" rtlCol="0" anchor="ctr">
            <a:normAutofit/>
          </a:bodyPr>
          <a:lstStyle/>
          <a:p>
            <a:pPr indent="0" marL="0">
              <a:buNone/>
            </a:pPr>
            <a:r>
              <a:rPr lang="en-US" sz="1050" b="1" dirty="0">
                <a:solidFill>
                  <a:srgbClr val="1D4ED8"/>
                </a:solidFill>
                <a:latin typeface="Aptos" pitchFamily="34" charset="0"/>
                <a:ea typeface="Aptos" pitchFamily="34" charset="-122"/>
                <a:cs typeface="Aptos" pitchFamily="34" charset="-120"/>
              </a:rPr>
              <a:t>~45.5M – 47.6M Tokens (estimated)</a:t>
            </a:r>
            <a:endParaRPr lang="en-US" sz="1050" dirty="0"/>
          </a:p>
        </p:txBody>
      </p:sp>
      <p:sp>
        <p:nvSpPr>
          <p:cNvPr id="15" name="Text 13"/>
          <p:cNvSpPr/>
          <p:nvPr/>
        </p:nvSpPr>
        <p:spPr>
          <a:xfrm>
            <a:off x="5367528" y="2724912"/>
            <a:ext cx="6537960" cy="356616"/>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Aptos" pitchFamily="34" charset="0"/>
                <a:ea typeface="Aptos" pitchFamily="34" charset="-122"/>
                <a:cs typeface="Aptos" pitchFamily="34" charset="-120"/>
              </a:rPr>
              <a:t>Prior ~32.5M–34.0M estimate scaled by revised ~14,000-credit usage versus the former 10,000-credit baseline; includes coding-agent context windows, AST refactorings, multi-file inspections, and prompt iteration</a:t>
            </a:r>
            <a:endParaRPr lang="en-US" sz="920" dirty="0"/>
          </a:p>
        </p:txBody>
      </p:sp>
      <p:sp>
        <p:nvSpPr>
          <p:cNvPr id="16" name="Shape 14"/>
          <p:cNvSpPr/>
          <p:nvPr/>
        </p:nvSpPr>
        <p:spPr>
          <a:xfrm>
            <a:off x="502920" y="3273552"/>
            <a:ext cx="10972800" cy="512064"/>
          </a:xfrm>
          <a:prstGeom prst="roundRect">
            <a:avLst>
              <a:gd name="adj" fmla="val 14286"/>
            </a:avLst>
          </a:prstGeom>
          <a:solidFill>
            <a:srgbClr val="FFFFFF"/>
          </a:solidFill>
          <a:ln w="12700">
            <a:solidFill>
              <a:srgbClr val="CBD5E1"/>
            </a:solidFill>
            <a:prstDash val="solid"/>
          </a:ln>
        </p:spPr>
      </p:sp>
      <p:sp>
        <p:nvSpPr>
          <p:cNvPr id="17" name="Text 15"/>
          <p:cNvSpPr/>
          <p:nvPr/>
        </p:nvSpPr>
        <p:spPr>
          <a:xfrm>
            <a:off x="612648" y="3364992"/>
            <a:ext cx="2148840" cy="310896"/>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ptos" pitchFamily="34" charset="0"/>
                <a:ea typeface="Aptos" pitchFamily="34" charset="-122"/>
                <a:cs typeface="Aptos" pitchFamily="34" charset="-120"/>
              </a:rPr>
              <a:t>Application Runtime Inference</a:t>
            </a:r>
            <a:endParaRPr lang="en-US" sz="1050" dirty="0"/>
          </a:p>
        </p:txBody>
      </p:sp>
      <p:sp>
        <p:nvSpPr>
          <p:cNvPr id="18" name="Text 16"/>
          <p:cNvSpPr/>
          <p:nvPr/>
        </p:nvSpPr>
        <p:spPr>
          <a:xfrm>
            <a:off x="3081528" y="3364992"/>
            <a:ext cx="1965960" cy="310896"/>
          </a:xfrm>
          <a:prstGeom prst="rect">
            <a:avLst/>
          </a:prstGeom>
          <a:noFill/>
          <a:ln/>
        </p:spPr>
        <p:txBody>
          <a:bodyPr wrap="square" lIns="0" tIns="0" rIns="0" bIns="0" rtlCol="0" anchor="ctr">
            <a:normAutofit/>
          </a:bodyPr>
          <a:lstStyle/>
          <a:p>
            <a:pPr indent="0" marL="0">
              <a:buNone/>
            </a:pPr>
            <a:r>
              <a:rPr lang="en-US" sz="1050" b="1" dirty="0">
                <a:solidFill>
                  <a:srgbClr val="1D4ED8"/>
                </a:solidFill>
                <a:latin typeface="Aptos" pitchFamily="34" charset="0"/>
                <a:ea typeface="Aptos" pitchFamily="34" charset="-122"/>
                <a:cs typeface="Aptos" pitchFamily="34" charset="-120"/>
              </a:rPr>
              <a:t>102,870 Tokens</a:t>
            </a:r>
            <a:endParaRPr lang="en-US" sz="1050" dirty="0"/>
          </a:p>
        </p:txBody>
      </p:sp>
      <p:sp>
        <p:nvSpPr>
          <p:cNvPr id="19" name="Text 17"/>
          <p:cNvSpPr/>
          <p:nvPr/>
        </p:nvSpPr>
        <p:spPr>
          <a:xfrm>
            <a:off x="5367528" y="3346704"/>
            <a:ext cx="6537960" cy="356616"/>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Aptos" pitchFamily="34" charset="0"/>
                <a:ea typeface="Aptos" pitchFamily="34" charset="-122"/>
                <a:cs typeface="Aptos" pitchFamily="34" charset="-120"/>
              </a:rPr>
              <a:t>In-app user document chat, embeddings (text-embedding-004), and dual-model summarization cascades</a:t>
            </a:r>
            <a:endParaRPr lang="en-US" sz="920" dirty="0"/>
          </a:p>
        </p:txBody>
      </p:sp>
      <p:sp>
        <p:nvSpPr>
          <p:cNvPr id="20" name="Shape 18"/>
          <p:cNvSpPr/>
          <p:nvPr/>
        </p:nvSpPr>
        <p:spPr>
          <a:xfrm>
            <a:off x="502920" y="3895344"/>
            <a:ext cx="10972800" cy="512064"/>
          </a:xfrm>
          <a:prstGeom prst="roundRect">
            <a:avLst>
              <a:gd name="adj" fmla="val 14286"/>
            </a:avLst>
          </a:prstGeom>
          <a:solidFill>
            <a:srgbClr val="FFFFFF"/>
          </a:solidFill>
          <a:ln w="12700">
            <a:solidFill>
              <a:srgbClr val="CBD5E1"/>
            </a:solidFill>
            <a:prstDash val="solid"/>
          </a:ln>
        </p:spPr>
      </p:sp>
      <p:sp>
        <p:nvSpPr>
          <p:cNvPr id="21" name="Text 19"/>
          <p:cNvSpPr/>
          <p:nvPr/>
        </p:nvSpPr>
        <p:spPr>
          <a:xfrm>
            <a:off x="612648" y="3986784"/>
            <a:ext cx="2148840" cy="310896"/>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ptos" pitchFamily="34" charset="0"/>
                <a:ea typeface="Aptos" pitchFamily="34" charset="-122"/>
                <a:cs typeface="Aptos" pitchFamily="34" charset="-120"/>
              </a:rPr>
              <a:t>Total Autonomous Agent Actions</a:t>
            </a:r>
            <a:endParaRPr lang="en-US" sz="1050" dirty="0"/>
          </a:p>
        </p:txBody>
      </p:sp>
      <p:sp>
        <p:nvSpPr>
          <p:cNvPr id="22" name="Text 20"/>
          <p:cNvSpPr/>
          <p:nvPr/>
        </p:nvSpPr>
        <p:spPr>
          <a:xfrm>
            <a:off x="3081528" y="3986784"/>
            <a:ext cx="1965960" cy="310896"/>
          </a:xfrm>
          <a:prstGeom prst="rect">
            <a:avLst/>
          </a:prstGeom>
          <a:noFill/>
          <a:ln/>
        </p:spPr>
        <p:txBody>
          <a:bodyPr wrap="square" lIns="0" tIns="0" rIns="0" bIns="0" rtlCol="0" anchor="ctr">
            <a:normAutofit/>
          </a:bodyPr>
          <a:lstStyle/>
          <a:p>
            <a:pPr indent="0" marL="0">
              <a:buNone/>
            </a:pPr>
            <a:r>
              <a:rPr lang="en-US" sz="1050" b="1" dirty="0">
                <a:solidFill>
                  <a:srgbClr val="1D4ED8"/>
                </a:solidFill>
                <a:latin typeface="Aptos" pitchFamily="34" charset="0"/>
                <a:ea typeface="Aptos" pitchFamily="34" charset="-122"/>
                <a:cs typeface="Aptos" pitchFamily="34" charset="-120"/>
              </a:rPr>
              <a:t>284 Invocations</a:t>
            </a:r>
            <a:endParaRPr lang="en-US" sz="1050" dirty="0"/>
          </a:p>
        </p:txBody>
      </p:sp>
      <p:sp>
        <p:nvSpPr>
          <p:cNvPr id="23" name="Text 21"/>
          <p:cNvSpPr/>
          <p:nvPr/>
        </p:nvSpPr>
        <p:spPr>
          <a:xfrm>
            <a:off x="5367528" y="3968496"/>
            <a:ext cx="6537960" cy="356616"/>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Aptos" pitchFamily="34" charset="0"/>
                <a:ea typeface="Aptos" pitchFamily="34" charset="-122"/>
                <a:cs typeface="Aptos" pitchFamily="34" charset="-120"/>
              </a:rPr>
              <a:t>Compiles, multi-file atomic edits, TypeScript linter executions, AST inspections, and container restarts</a:t>
            </a:r>
            <a:endParaRPr lang="en-US" sz="920" dirty="0"/>
          </a:p>
        </p:txBody>
      </p:sp>
      <p:sp>
        <p:nvSpPr>
          <p:cNvPr id="24" name="Shape 22"/>
          <p:cNvSpPr/>
          <p:nvPr/>
        </p:nvSpPr>
        <p:spPr>
          <a:xfrm>
            <a:off x="502920" y="4517136"/>
            <a:ext cx="10972800" cy="512064"/>
          </a:xfrm>
          <a:prstGeom prst="roundRect">
            <a:avLst>
              <a:gd name="adj" fmla="val 14286"/>
            </a:avLst>
          </a:prstGeom>
          <a:solidFill>
            <a:srgbClr val="FFFFFF"/>
          </a:solidFill>
          <a:ln w="12700">
            <a:solidFill>
              <a:srgbClr val="CBD5E1"/>
            </a:solidFill>
            <a:prstDash val="solid"/>
          </a:ln>
        </p:spPr>
      </p:sp>
      <p:sp>
        <p:nvSpPr>
          <p:cNvPr id="25" name="Text 23"/>
          <p:cNvSpPr/>
          <p:nvPr/>
        </p:nvSpPr>
        <p:spPr>
          <a:xfrm>
            <a:off x="612648" y="4608576"/>
            <a:ext cx="2148840" cy="310896"/>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ptos" pitchFamily="34" charset="0"/>
                <a:ea typeface="Aptos" pitchFamily="34" charset="-122"/>
                <a:cs typeface="Aptos" pitchFamily="34" charset="-120"/>
              </a:rPr>
              <a:t>Active Engineering Turnaround</a:t>
            </a:r>
            <a:endParaRPr lang="en-US" sz="1050" dirty="0"/>
          </a:p>
        </p:txBody>
      </p:sp>
      <p:sp>
        <p:nvSpPr>
          <p:cNvPr id="26" name="Text 24"/>
          <p:cNvSpPr/>
          <p:nvPr/>
        </p:nvSpPr>
        <p:spPr>
          <a:xfrm>
            <a:off x="3081528" y="4608576"/>
            <a:ext cx="1965960" cy="310896"/>
          </a:xfrm>
          <a:prstGeom prst="rect">
            <a:avLst/>
          </a:prstGeom>
          <a:noFill/>
          <a:ln/>
        </p:spPr>
        <p:txBody>
          <a:bodyPr wrap="square" lIns="0" tIns="0" rIns="0" bIns="0" rtlCol="0" anchor="ctr">
            <a:normAutofit/>
          </a:bodyPr>
          <a:lstStyle/>
          <a:p>
            <a:pPr indent="0" marL="0">
              <a:buNone/>
            </a:pPr>
            <a:r>
              <a:rPr lang="en-US" sz="1050" b="1" dirty="0">
                <a:solidFill>
                  <a:srgbClr val="1D4ED8"/>
                </a:solidFill>
                <a:latin typeface="Aptos" pitchFamily="34" charset="0"/>
                <a:ea typeface="Aptos" pitchFamily="34" charset="-122"/>
                <a:cs typeface="Aptos" pitchFamily="34" charset="-120"/>
              </a:rPr>
              <a:t>~14 – 22 Hours</a:t>
            </a:r>
            <a:endParaRPr lang="en-US" sz="1050" dirty="0"/>
          </a:p>
        </p:txBody>
      </p:sp>
      <p:sp>
        <p:nvSpPr>
          <p:cNvPr id="27" name="Text 25"/>
          <p:cNvSpPr/>
          <p:nvPr/>
        </p:nvSpPr>
        <p:spPr>
          <a:xfrm>
            <a:off x="5367528" y="4590288"/>
            <a:ext cx="6537960" cy="356616"/>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Aptos" pitchFamily="34" charset="0"/>
                <a:ea typeface="Aptos" pitchFamily="34" charset="-122"/>
                <a:cs typeface="Aptos" pitchFamily="34" charset="-120"/>
              </a:rPr>
              <a:t>Revised estimate covering total hands-on prompt turns, refactoring cycles, and full integration across sessions</a:t>
            </a:r>
            <a:endParaRPr lang="en-US" sz="920" dirty="0"/>
          </a:p>
        </p:txBody>
      </p:sp>
      <p:sp>
        <p:nvSpPr>
          <p:cNvPr id="28" name="Shape 26"/>
          <p:cNvSpPr/>
          <p:nvPr/>
        </p:nvSpPr>
        <p:spPr>
          <a:xfrm>
            <a:off x="502920" y="5138928"/>
            <a:ext cx="10972800" cy="512064"/>
          </a:xfrm>
          <a:prstGeom prst="roundRect">
            <a:avLst>
              <a:gd name="adj" fmla="val 14286"/>
            </a:avLst>
          </a:prstGeom>
          <a:solidFill>
            <a:srgbClr val="FFFFFF"/>
          </a:solidFill>
          <a:ln w="12700">
            <a:solidFill>
              <a:srgbClr val="CBD5E1"/>
            </a:solidFill>
            <a:prstDash val="solid"/>
          </a:ln>
        </p:spPr>
      </p:sp>
      <p:sp>
        <p:nvSpPr>
          <p:cNvPr id="29" name="Text 27"/>
          <p:cNvSpPr/>
          <p:nvPr/>
        </p:nvSpPr>
        <p:spPr>
          <a:xfrm>
            <a:off x="612648" y="5230368"/>
            <a:ext cx="2148840" cy="310896"/>
          </a:xfrm>
          <a:prstGeom prst="rect">
            <a:avLst/>
          </a:prstGeom>
          <a:noFill/>
          <a:ln/>
        </p:spPr>
        <p:txBody>
          <a:bodyPr wrap="square" lIns="0" tIns="0" rIns="0" bIns="0" rtlCol="0" anchor="ctr">
            <a:normAutofit/>
          </a:bodyPr>
          <a:lstStyle/>
          <a:p>
            <a:pPr indent="0" marL="0">
              <a:buNone/>
            </a:pPr>
            <a:r>
              <a:rPr lang="en-US" sz="1050" b="1" dirty="0">
                <a:solidFill>
                  <a:srgbClr val="0F172A"/>
                </a:solidFill>
                <a:latin typeface="Aptos" pitchFamily="34" charset="0"/>
                <a:ea typeface="Aptos" pitchFamily="34" charset="-122"/>
                <a:cs typeface="Aptos" pitchFamily="34" charset="-120"/>
              </a:rPr>
              <a:t>Container &amp; Hosting Overhead</a:t>
            </a:r>
            <a:endParaRPr lang="en-US" sz="1050" dirty="0"/>
          </a:p>
        </p:txBody>
      </p:sp>
      <p:sp>
        <p:nvSpPr>
          <p:cNvPr id="30" name="Text 28"/>
          <p:cNvSpPr/>
          <p:nvPr/>
        </p:nvSpPr>
        <p:spPr>
          <a:xfrm>
            <a:off x="3081528" y="5230368"/>
            <a:ext cx="1965960" cy="310896"/>
          </a:xfrm>
          <a:prstGeom prst="rect">
            <a:avLst/>
          </a:prstGeom>
          <a:noFill/>
          <a:ln/>
        </p:spPr>
        <p:txBody>
          <a:bodyPr wrap="square" lIns="0" tIns="0" rIns="0" bIns="0" rtlCol="0" anchor="ctr">
            <a:normAutofit/>
          </a:bodyPr>
          <a:lstStyle/>
          <a:p>
            <a:pPr indent="0" marL="0">
              <a:buNone/>
            </a:pPr>
            <a:r>
              <a:rPr lang="en-US" sz="1050" b="1" dirty="0">
                <a:solidFill>
                  <a:srgbClr val="1D4ED8"/>
                </a:solidFill>
                <a:latin typeface="Aptos" pitchFamily="34" charset="0"/>
                <a:ea typeface="Aptos" pitchFamily="34" charset="-122"/>
                <a:cs typeface="Aptos" pitchFamily="34" charset="-120"/>
              </a:rPr>
              <a:t>$2.14 USD</a:t>
            </a:r>
            <a:endParaRPr lang="en-US" sz="1050" dirty="0"/>
          </a:p>
        </p:txBody>
      </p:sp>
      <p:sp>
        <p:nvSpPr>
          <p:cNvPr id="31" name="Text 29"/>
          <p:cNvSpPr/>
          <p:nvPr/>
        </p:nvSpPr>
        <p:spPr>
          <a:xfrm>
            <a:off x="5367528" y="5212080"/>
            <a:ext cx="6537960" cy="356616"/>
          </a:xfrm>
          <a:prstGeom prst="rect">
            <a:avLst/>
          </a:prstGeom>
          <a:noFill/>
          <a:ln/>
        </p:spPr>
        <p:txBody>
          <a:bodyPr wrap="square" lIns="0" tIns="0" rIns="0" bIns="0" rtlCol="0" anchor="ctr">
            <a:normAutofit/>
          </a:bodyPr>
          <a:lstStyle/>
          <a:p>
            <a:pPr indent="0" marL="0">
              <a:buNone/>
            </a:pPr>
            <a:r>
              <a:rPr lang="en-US" sz="920" dirty="0">
                <a:solidFill>
                  <a:srgbClr val="334155"/>
                </a:solidFill>
                <a:latin typeface="Aptos" pitchFamily="34" charset="0"/>
                <a:ea typeface="Aptos" pitchFamily="34" charset="-122"/>
                <a:cs typeface="Aptos" pitchFamily="34" charset="-120"/>
              </a:rPr>
              <a:t>Dual Cloud Run instances (dev &amp; preview applets), 4 Docker images, 6.8 GB Artifact Registry storage</a:t>
            </a:r>
            <a:endParaRPr lang="en-US" sz="92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FINANCIAL LEDGER</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Commercial Valuation &amp; Real-World ROI Analysis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Engineering estimate for educational and comparative analysis; values are not audited accounting.</a:t>
            </a:r>
            <a:endParaRPr lang="en-US" sz="1200" dirty="0"/>
          </a:p>
        </p:txBody>
      </p:sp>
      <p:sp>
        <p:nvSpPr>
          <p:cNvPr id="5" name="Text 3"/>
          <p:cNvSpPr/>
          <p:nvPr/>
        </p:nvSpPr>
        <p:spPr>
          <a:xfrm>
            <a:off x="502920" y="1627632"/>
            <a:ext cx="2423160" cy="393192"/>
          </a:xfrm>
          <a:prstGeom prst="rect">
            <a:avLst/>
          </a:prstGeom>
          <a:noFill/>
          <a:ln/>
        </p:spPr>
        <p:txBody>
          <a:bodyPr wrap="square" lIns="0" tIns="0" rIns="0" bIns="0" rtlCol="0" anchor="ctr">
            <a:normAutofit/>
          </a:bodyPr>
          <a:lstStyle/>
          <a:p>
            <a:pPr indent="0" marL="0">
              <a:buNone/>
            </a:pPr>
            <a:r>
              <a:rPr lang="en-US" sz="1050" b="1" dirty="0">
                <a:solidFill>
                  <a:srgbClr val="0F766E"/>
                </a:solidFill>
                <a:latin typeface="Aptos" pitchFamily="34" charset="0"/>
                <a:ea typeface="Aptos" pitchFamily="34" charset="-122"/>
                <a:cs typeface="Aptos" pitchFamily="34" charset="-120"/>
              </a:rPr>
              <a:t>Development Workflow Model</a:t>
            </a:r>
            <a:endParaRPr lang="en-US" sz="1050" dirty="0"/>
          </a:p>
        </p:txBody>
      </p:sp>
      <p:sp>
        <p:nvSpPr>
          <p:cNvPr id="6" name="Text 4"/>
          <p:cNvSpPr/>
          <p:nvPr/>
        </p:nvSpPr>
        <p:spPr>
          <a:xfrm>
            <a:off x="3063240" y="1627632"/>
            <a:ext cx="1508760" cy="393192"/>
          </a:xfrm>
          <a:prstGeom prst="rect">
            <a:avLst/>
          </a:prstGeom>
          <a:noFill/>
          <a:ln/>
        </p:spPr>
        <p:txBody>
          <a:bodyPr wrap="square" lIns="0" tIns="0" rIns="0" bIns="0" rtlCol="0" anchor="ctr">
            <a:normAutofit/>
          </a:bodyPr>
          <a:lstStyle/>
          <a:p>
            <a:pPr indent="0" marL="0">
              <a:buNone/>
            </a:pPr>
            <a:r>
              <a:rPr lang="en-US" sz="1050" b="1" dirty="0">
                <a:solidFill>
                  <a:srgbClr val="0F766E"/>
                </a:solidFill>
                <a:latin typeface="Aptos" pitchFamily="34" charset="0"/>
                <a:ea typeface="Aptos" pitchFamily="34" charset="-122"/>
                <a:cs typeface="Aptos" pitchFamily="34" charset="-120"/>
              </a:rPr>
              <a:t>Estimated Hours</a:t>
            </a:r>
            <a:endParaRPr lang="en-US" sz="1050" dirty="0"/>
          </a:p>
        </p:txBody>
      </p:sp>
      <p:sp>
        <p:nvSpPr>
          <p:cNvPr id="7" name="Text 5"/>
          <p:cNvSpPr/>
          <p:nvPr/>
        </p:nvSpPr>
        <p:spPr>
          <a:xfrm>
            <a:off x="4709160" y="1627632"/>
            <a:ext cx="1508760" cy="393192"/>
          </a:xfrm>
          <a:prstGeom prst="rect">
            <a:avLst/>
          </a:prstGeom>
          <a:noFill/>
          <a:ln/>
        </p:spPr>
        <p:txBody>
          <a:bodyPr wrap="square" lIns="0" tIns="0" rIns="0" bIns="0" rtlCol="0" anchor="ctr">
            <a:normAutofit/>
          </a:bodyPr>
          <a:lstStyle/>
          <a:p>
            <a:pPr indent="0" marL="0">
              <a:buNone/>
            </a:pPr>
            <a:r>
              <a:rPr lang="en-US" sz="1050" b="1" dirty="0">
                <a:solidFill>
                  <a:srgbClr val="0F766E"/>
                </a:solidFill>
                <a:latin typeface="Aptos" pitchFamily="34" charset="0"/>
                <a:ea typeface="Aptos" pitchFamily="34" charset="-122"/>
                <a:cs typeface="Aptos" pitchFamily="34" charset="-120"/>
              </a:rPr>
              <a:t>Market Labor Rate</a:t>
            </a:r>
            <a:endParaRPr lang="en-US" sz="1050" dirty="0"/>
          </a:p>
        </p:txBody>
      </p:sp>
      <p:sp>
        <p:nvSpPr>
          <p:cNvPr id="8" name="Text 6"/>
          <p:cNvSpPr/>
          <p:nvPr/>
        </p:nvSpPr>
        <p:spPr>
          <a:xfrm>
            <a:off x="6355080" y="1627632"/>
            <a:ext cx="2194560" cy="393192"/>
          </a:xfrm>
          <a:prstGeom prst="rect">
            <a:avLst/>
          </a:prstGeom>
          <a:noFill/>
          <a:ln/>
        </p:spPr>
        <p:txBody>
          <a:bodyPr wrap="square" lIns="0" tIns="0" rIns="0" bIns="0" rtlCol="0" anchor="ctr">
            <a:normAutofit/>
          </a:bodyPr>
          <a:lstStyle/>
          <a:p>
            <a:pPr indent="0" marL="0">
              <a:buNone/>
            </a:pPr>
            <a:r>
              <a:rPr lang="en-US" sz="1050" b="1" dirty="0">
                <a:solidFill>
                  <a:srgbClr val="0F766E"/>
                </a:solidFill>
                <a:latin typeface="Aptos" pitchFamily="34" charset="0"/>
                <a:ea typeface="Aptos" pitchFamily="34" charset="-122"/>
                <a:cs typeface="Aptos" pitchFamily="34" charset="-120"/>
              </a:rPr>
              <a:t>Total Commercial Value</a:t>
            </a:r>
            <a:endParaRPr lang="en-US" sz="1050" dirty="0"/>
          </a:p>
        </p:txBody>
      </p:sp>
      <p:sp>
        <p:nvSpPr>
          <p:cNvPr id="9" name="Text 7"/>
          <p:cNvSpPr/>
          <p:nvPr/>
        </p:nvSpPr>
        <p:spPr>
          <a:xfrm>
            <a:off x="8732520" y="1627632"/>
            <a:ext cx="2697480" cy="393192"/>
          </a:xfrm>
          <a:prstGeom prst="rect">
            <a:avLst/>
          </a:prstGeom>
          <a:noFill/>
          <a:ln/>
        </p:spPr>
        <p:txBody>
          <a:bodyPr wrap="square" lIns="0" tIns="0" rIns="0" bIns="0" rtlCol="0" anchor="ctr">
            <a:normAutofit/>
          </a:bodyPr>
          <a:lstStyle/>
          <a:p>
            <a:pPr indent="0" marL="0">
              <a:buNone/>
            </a:pPr>
            <a:r>
              <a:rPr lang="en-US" sz="1050" b="1" dirty="0">
                <a:solidFill>
                  <a:srgbClr val="0F766E"/>
                </a:solidFill>
                <a:latin typeface="Aptos" pitchFamily="34" charset="0"/>
                <a:ea typeface="Aptos" pitchFamily="34" charset="-122"/>
                <a:cs typeface="Aptos" pitchFamily="34" charset="-120"/>
              </a:rPr>
              <a:t>Net Savings / Multiplier</a:t>
            </a:r>
            <a:endParaRPr lang="en-US" sz="1050" dirty="0"/>
          </a:p>
        </p:txBody>
      </p:sp>
      <p:sp>
        <p:nvSpPr>
          <p:cNvPr id="10" name="Shape 8"/>
          <p:cNvSpPr/>
          <p:nvPr/>
        </p:nvSpPr>
        <p:spPr>
          <a:xfrm>
            <a:off x="502920" y="2331720"/>
            <a:ext cx="10972800" cy="640080"/>
          </a:xfrm>
          <a:prstGeom prst="roundRect">
            <a:avLst>
              <a:gd name="adj" fmla="val 11429"/>
            </a:avLst>
          </a:prstGeom>
          <a:solidFill>
            <a:srgbClr val="FFFFFF"/>
          </a:solidFill>
          <a:ln w="12700">
            <a:solidFill>
              <a:srgbClr val="CBD5E1"/>
            </a:solidFill>
            <a:prstDash val="solid"/>
          </a:ln>
        </p:spPr>
      </p:sp>
      <p:sp>
        <p:nvSpPr>
          <p:cNvPr id="11" name="Text 9"/>
          <p:cNvSpPr/>
          <p:nvPr/>
        </p:nvSpPr>
        <p:spPr>
          <a:xfrm>
            <a:off x="594360" y="2468880"/>
            <a:ext cx="2286000" cy="34747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ptos" pitchFamily="34" charset="0"/>
                <a:ea typeface="Aptos" pitchFamily="34" charset="-122"/>
                <a:cs typeface="Aptos" pitchFamily="34" charset="-120"/>
              </a:rPr>
              <a:t>Traditional Manual Build (No AI)</a:t>
            </a:r>
            <a:endParaRPr lang="en-US" sz="1100" dirty="0"/>
          </a:p>
        </p:txBody>
      </p:sp>
      <p:sp>
        <p:nvSpPr>
          <p:cNvPr id="12" name="Text 10"/>
          <p:cNvSpPr/>
          <p:nvPr/>
        </p:nvSpPr>
        <p:spPr>
          <a:xfrm>
            <a:off x="3154680" y="2468880"/>
            <a:ext cx="1371600" cy="347472"/>
          </a:xfrm>
          <a:prstGeom prst="rect">
            <a:avLst/>
          </a:prstGeom>
          <a:noFill/>
          <a:ln/>
        </p:spPr>
        <p:txBody>
          <a:bodyPr wrap="square" lIns="0" tIns="0" rIns="0" bIns="0" rtlCol="0" anchor="ctr">
            <a:normAutofit/>
          </a:bodyPr>
          <a:lstStyle/>
          <a:p>
            <a:pPr indent="0" marL="0">
              <a:buNone/>
            </a:pPr>
            <a:r>
              <a:rPr lang="en-US" sz="1100" dirty="0">
                <a:solidFill>
                  <a:srgbClr val="1D4ED8"/>
                </a:solidFill>
                <a:latin typeface="Aptos" pitchFamily="34" charset="0"/>
                <a:ea typeface="Aptos" pitchFamily="34" charset="-122"/>
                <a:cs typeface="Aptos" pitchFamily="34" charset="-120"/>
              </a:rPr>
              <a:t>120 – 165 hrs</a:t>
            </a:r>
            <a:endParaRPr lang="en-US" sz="1100" dirty="0"/>
          </a:p>
        </p:txBody>
      </p:sp>
      <p:sp>
        <p:nvSpPr>
          <p:cNvPr id="13" name="Text 11"/>
          <p:cNvSpPr/>
          <p:nvPr/>
        </p:nvSpPr>
        <p:spPr>
          <a:xfrm>
            <a:off x="4800600" y="2468880"/>
            <a:ext cx="1371600" cy="347472"/>
          </a:xfrm>
          <a:prstGeom prst="rect">
            <a:avLst/>
          </a:prstGeom>
          <a:noFill/>
          <a:ln/>
        </p:spPr>
        <p:txBody>
          <a:bodyPr wrap="square" lIns="0" tIns="0" rIns="0" bIns="0" rtlCol="0" anchor="ctr">
            <a:normAutofit/>
          </a:bodyPr>
          <a:lstStyle/>
          <a:p>
            <a:pPr indent="0" marL="0">
              <a:buNone/>
            </a:pPr>
            <a:r>
              <a:rPr lang="en-US" sz="1100" dirty="0">
                <a:solidFill>
                  <a:srgbClr val="1D4ED8"/>
                </a:solidFill>
                <a:latin typeface="Aptos" pitchFamily="34" charset="0"/>
                <a:ea typeface="Aptos" pitchFamily="34" charset="-122"/>
                <a:cs typeface="Aptos" pitchFamily="34" charset="-120"/>
              </a:rPr>
              <a:t>$100 / hr</a:t>
            </a:r>
            <a:endParaRPr lang="en-US" sz="1100" dirty="0"/>
          </a:p>
        </p:txBody>
      </p:sp>
      <p:sp>
        <p:nvSpPr>
          <p:cNvPr id="14" name="Text 12"/>
          <p:cNvSpPr/>
          <p:nvPr/>
        </p:nvSpPr>
        <p:spPr>
          <a:xfrm>
            <a:off x="6446520" y="2468880"/>
            <a:ext cx="2057400" cy="347472"/>
          </a:xfrm>
          <a:prstGeom prst="rect">
            <a:avLst/>
          </a:prstGeom>
          <a:noFill/>
          <a:ln/>
        </p:spPr>
        <p:txBody>
          <a:bodyPr wrap="square" lIns="0" tIns="0" rIns="0" bIns="0" rtlCol="0" anchor="ctr">
            <a:normAutofit/>
          </a:bodyPr>
          <a:lstStyle/>
          <a:p>
            <a:pPr indent="0" marL="0">
              <a:buNone/>
            </a:pPr>
            <a:r>
              <a:rPr lang="en-US" sz="1100" dirty="0">
                <a:solidFill>
                  <a:srgbClr val="1D4ED8"/>
                </a:solidFill>
                <a:latin typeface="Aptos" pitchFamily="34" charset="0"/>
                <a:ea typeface="Aptos" pitchFamily="34" charset="-122"/>
                <a:cs typeface="Aptos" pitchFamily="34" charset="-120"/>
              </a:rPr>
              <a:t>$12,000 – $16,500 USD</a:t>
            </a:r>
            <a:endParaRPr lang="en-US" sz="1100" dirty="0"/>
          </a:p>
        </p:txBody>
      </p:sp>
      <p:sp>
        <p:nvSpPr>
          <p:cNvPr id="15" name="Text 13"/>
          <p:cNvSpPr/>
          <p:nvPr/>
        </p:nvSpPr>
        <p:spPr>
          <a:xfrm>
            <a:off x="8823960" y="2468880"/>
            <a:ext cx="2560320" cy="347472"/>
          </a:xfrm>
          <a:prstGeom prst="rect">
            <a:avLst/>
          </a:prstGeom>
          <a:noFill/>
          <a:ln/>
        </p:spPr>
        <p:txBody>
          <a:bodyPr wrap="square" lIns="0" tIns="0" rIns="0" bIns="0" rtlCol="0" anchor="ctr">
            <a:normAutofit/>
          </a:bodyPr>
          <a:lstStyle/>
          <a:p>
            <a:pPr indent="0" marL="0">
              <a:buNone/>
            </a:pPr>
            <a:r>
              <a:rPr lang="en-US" sz="1100" dirty="0">
                <a:solidFill>
                  <a:srgbClr val="334155"/>
                </a:solidFill>
                <a:latin typeface="Aptos" pitchFamily="34" charset="0"/>
                <a:ea typeface="Aptos" pitchFamily="34" charset="-122"/>
                <a:cs typeface="Aptos" pitchFamily="34" charset="-120"/>
              </a:rPr>
              <a:t>~100x – 140x Cheaper</a:t>
            </a:r>
            <a:endParaRPr lang="en-US" sz="1100" dirty="0"/>
          </a:p>
        </p:txBody>
      </p:sp>
      <p:sp>
        <p:nvSpPr>
          <p:cNvPr id="16" name="Shape 14"/>
          <p:cNvSpPr/>
          <p:nvPr/>
        </p:nvSpPr>
        <p:spPr>
          <a:xfrm>
            <a:off x="502920" y="3127248"/>
            <a:ext cx="10972800" cy="640080"/>
          </a:xfrm>
          <a:prstGeom prst="roundRect">
            <a:avLst>
              <a:gd name="adj" fmla="val 11429"/>
            </a:avLst>
          </a:prstGeom>
          <a:solidFill>
            <a:srgbClr val="FFFFFF"/>
          </a:solidFill>
          <a:ln w="12700">
            <a:solidFill>
              <a:srgbClr val="CBD5E1"/>
            </a:solidFill>
            <a:prstDash val="solid"/>
          </a:ln>
        </p:spPr>
      </p:sp>
      <p:sp>
        <p:nvSpPr>
          <p:cNvPr id="17" name="Text 15"/>
          <p:cNvSpPr/>
          <p:nvPr/>
        </p:nvSpPr>
        <p:spPr>
          <a:xfrm>
            <a:off x="594360" y="3264408"/>
            <a:ext cx="2286000" cy="34747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ptos" pitchFamily="34" charset="0"/>
                <a:ea typeface="Aptos" pitchFamily="34" charset="-122"/>
                <a:cs typeface="Aptos" pitchFamily="34" charset="-120"/>
              </a:rPr>
              <a:t>Senior Engineer (with AI Copilot)</a:t>
            </a:r>
            <a:endParaRPr lang="en-US" sz="1100" dirty="0"/>
          </a:p>
        </p:txBody>
      </p:sp>
      <p:sp>
        <p:nvSpPr>
          <p:cNvPr id="18" name="Text 16"/>
          <p:cNvSpPr/>
          <p:nvPr/>
        </p:nvSpPr>
        <p:spPr>
          <a:xfrm>
            <a:off x="3154680" y="3264408"/>
            <a:ext cx="1371600" cy="347472"/>
          </a:xfrm>
          <a:prstGeom prst="rect">
            <a:avLst/>
          </a:prstGeom>
          <a:noFill/>
          <a:ln/>
        </p:spPr>
        <p:txBody>
          <a:bodyPr wrap="square" lIns="0" tIns="0" rIns="0" bIns="0" rtlCol="0" anchor="ctr">
            <a:normAutofit/>
          </a:bodyPr>
          <a:lstStyle/>
          <a:p>
            <a:pPr indent="0" marL="0">
              <a:buNone/>
            </a:pPr>
            <a:r>
              <a:rPr lang="en-US" sz="1100" dirty="0">
                <a:solidFill>
                  <a:srgbClr val="1D4ED8"/>
                </a:solidFill>
                <a:latin typeface="Aptos" pitchFamily="34" charset="0"/>
                <a:ea typeface="Aptos" pitchFamily="34" charset="-122"/>
                <a:cs typeface="Aptos" pitchFamily="34" charset="-120"/>
              </a:rPr>
              <a:t>55 – 70 hrs</a:t>
            </a:r>
            <a:endParaRPr lang="en-US" sz="1100" dirty="0"/>
          </a:p>
        </p:txBody>
      </p:sp>
      <p:sp>
        <p:nvSpPr>
          <p:cNvPr id="19" name="Text 17"/>
          <p:cNvSpPr/>
          <p:nvPr/>
        </p:nvSpPr>
        <p:spPr>
          <a:xfrm>
            <a:off x="4800600" y="3264408"/>
            <a:ext cx="1371600" cy="347472"/>
          </a:xfrm>
          <a:prstGeom prst="rect">
            <a:avLst/>
          </a:prstGeom>
          <a:noFill/>
          <a:ln/>
        </p:spPr>
        <p:txBody>
          <a:bodyPr wrap="square" lIns="0" tIns="0" rIns="0" bIns="0" rtlCol="0" anchor="ctr">
            <a:normAutofit/>
          </a:bodyPr>
          <a:lstStyle/>
          <a:p>
            <a:pPr indent="0" marL="0">
              <a:buNone/>
            </a:pPr>
            <a:r>
              <a:rPr lang="en-US" sz="1100" dirty="0">
                <a:solidFill>
                  <a:srgbClr val="1D4ED8"/>
                </a:solidFill>
                <a:latin typeface="Aptos" pitchFamily="34" charset="0"/>
                <a:ea typeface="Aptos" pitchFamily="34" charset="-122"/>
                <a:cs typeface="Aptos" pitchFamily="34" charset="-120"/>
              </a:rPr>
              <a:t>$100 / hr</a:t>
            </a:r>
            <a:endParaRPr lang="en-US" sz="1100" dirty="0"/>
          </a:p>
        </p:txBody>
      </p:sp>
      <p:sp>
        <p:nvSpPr>
          <p:cNvPr id="20" name="Text 18"/>
          <p:cNvSpPr/>
          <p:nvPr/>
        </p:nvSpPr>
        <p:spPr>
          <a:xfrm>
            <a:off x="6446520" y="3264408"/>
            <a:ext cx="2057400" cy="347472"/>
          </a:xfrm>
          <a:prstGeom prst="rect">
            <a:avLst/>
          </a:prstGeom>
          <a:noFill/>
          <a:ln/>
        </p:spPr>
        <p:txBody>
          <a:bodyPr wrap="square" lIns="0" tIns="0" rIns="0" bIns="0" rtlCol="0" anchor="ctr">
            <a:normAutofit/>
          </a:bodyPr>
          <a:lstStyle/>
          <a:p>
            <a:pPr indent="0" marL="0">
              <a:buNone/>
            </a:pPr>
            <a:r>
              <a:rPr lang="en-US" sz="1100" dirty="0">
                <a:solidFill>
                  <a:srgbClr val="1D4ED8"/>
                </a:solidFill>
                <a:latin typeface="Aptos" pitchFamily="34" charset="0"/>
                <a:ea typeface="Aptos" pitchFamily="34" charset="-122"/>
                <a:cs typeface="Aptos" pitchFamily="34" charset="-120"/>
              </a:rPr>
              <a:t>$5,500 – $7,000 USD</a:t>
            </a:r>
            <a:endParaRPr lang="en-US" sz="1100" dirty="0"/>
          </a:p>
        </p:txBody>
      </p:sp>
      <p:sp>
        <p:nvSpPr>
          <p:cNvPr id="21" name="Text 19"/>
          <p:cNvSpPr/>
          <p:nvPr/>
        </p:nvSpPr>
        <p:spPr>
          <a:xfrm>
            <a:off x="8823960" y="3264408"/>
            <a:ext cx="2560320" cy="347472"/>
          </a:xfrm>
          <a:prstGeom prst="rect">
            <a:avLst/>
          </a:prstGeom>
          <a:noFill/>
          <a:ln/>
        </p:spPr>
        <p:txBody>
          <a:bodyPr wrap="square" lIns="0" tIns="0" rIns="0" bIns="0" rtlCol="0" anchor="ctr">
            <a:normAutofit/>
          </a:bodyPr>
          <a:lstStyle/>
          <a:p>
            <a:pPr indent="0" marL="0">
              <a:buNone/>
            </a:pPr>
            <a:r>
              <a:rPr lang="en-US" sz="1100" dirty="0">
                <a:solidFill>
                  <a:srgbClr val="334155"/>
                </a:solidFill>
                <a:latin typeface="Aptos" pitchFamily="34" charset="0"/>
                <a:ea typeface="Aptos" pitchFamily="34" charset="-122"/>
                <a:cs typeface="Aptos" pitchFamily="34" charset="-120"/>
              </a:rPr>
              <a:t>~45x – 60x Cheaper</a:t>
            </a:r>
            <a:endParaRPr lang="en-US" sz="1100" dirty="0"/>
          </a:p>
        </p:txBody>
      </p:sp>
      <p:sp>
        <p:nvSpPr>
          <p:cNvPr id="22" name="Shape 20"/>
          <p:cNvSpPr/>
          <p:nvPr/>
        </p:nvSpPr>
        <p:spPr>
          <a:xfrm>
            <a:off x="502920" y="3922776"/>
            <a:ext cx="10972800" cy="640080"/>
          </a:xfrm>
          <a:prstGeom prst="roundRect">
            <a:avLst>
              <a:gd name="adj" fmla="val 11429"/>
            </a:avLst>
          </a:prstGeom>
          <a:solidFill>
            <a:srgbClr val="CCFBF1"/>
          </a:solidFill>
          <a:ln w="12700">
            <a:solidFill>
              <a:srgbClr val="0F766E"/>
            </a:solidFill>
            <a:prstDash val="solid"/>
          </a:ln>
        </p:spPr>
      </p:sp>
      <p:sp>
        <p:nvSpPr>
          <p:cNvPr id="23" name="Text 21"/>
          <p:cNvSpPr/>
          <p:nvPr/>
        </p:nvSpPr>
        <p:spPr>
          <a:xfrm>
            <a:off x="594360" y="4059936"/>
            <a:ext cx="2286000" cy="347472"/>
          </a:xfrm>
          <a:prstGeom prst="rect">
            <a:avLst/>
          </a:prstGeom>
          <a:noFill/>
          <a:ln/>
        </p:spPr>
        <p:txBody>
          <a:bodyPr wrap="square" lIns="0" tIns="0" rIns="0" bIns="0" rtlCol="0" anchor="ctr">
            <a:normAutofit/>
          </a:bodyPr>
          <a:lstStyle/>
          <a:p>
            <a:pPr indent="0" marL="0">
              <a:buNone/>
            </a:pPr>
            <a:r>
              <a:rPr lang="en-US" sz="1100" b="1" dirty="0">
                <a:solidFill>
                  <a:srgbClr val="0F172A"/>
                </a:solidFill>
                <a:latin typeface="Aptos" pitchFamily="34" charset="0"/>
                <a:ea typeface="Aptos" pitchFamily="34" charset="-122"/>
                <a:cs typeface="Aptos" pitchFamily="34" charset="-120"/>
              </a:rPr>
              <a:t>Autonomous Agent Build (This Project)</a:t>
            </a:r>
            <a:endParaRPr lang="en-US" sz="1100" dirty="0"/>
          </a:p>
        </p:txBody>
      </p:sp>
      <p:sp>
        <p:nvSpPr>
          <p:cNvPr id="24" name="Text 22"/>
          <p:cNvSpPr/>
          <p:nvPr/>
        </p:nvSpPr>
        <p:spPr>
          <a:xfrm>
            <a:off x="3154680" y="4059936"/>
            <a:ext cx="1371600" cy="347472"/>
          </a:xfrm>
          <a:prstGeom prst="rect">
            <a:avLst/>
          </a:prstGeom>
          <a:noFill/>
          <a:ln/>
        </p:spPr>
        <p:txBody>
          <a:bodyPr wrap="square" lIns="0" tIns="0" rIns="0" bIns="0" rtlCol="0" anchor="ctr">
            <a:normAutofit/>
          </a:bodyPr>
          <a:lstStyle/>
          <a:p>
            <a:pPr indent="0" marL="0">
              <a:buNone/>
            </a:pPr>
            <a:r>
              <a:rPr lang="en-US" sz="1100" b="1" dirty="0">
                <a:solidFill>
                  <a:srgbClr val="1D4ED8"/>
                </a:solidFill>
                <a:latin typeface="Aptos" pitchFamily="34" charset="0"/>
                <a:ea typeface="Aptos" pitchFamily="34" charset="-122"/>
                <a:cs typeface="Aptos" pitchFamily="34" charset="-120"/>
              </a:rPr>
              <a:t>~14 – 22 hrs</a:t>
            </a:r>
            <a:endParaRPr lang="en-US" sz="1100" dirty="0"/>
          </a:p>
        </p:txBody>
      </p:sp>
      <p:sp>
        <p:nvSpPr>
          <p:cNvPr id="25" name="Text 23"/>
          <p:cNvSpPr/>
          <p:nvPr/>
        </p:nvSpPr>
        <p:spPr>
          <a:xfrm>
            <a:off x="4800600" y="4059936"/>
            <a:ext cx="1371600" cy="347472"/>
          </a:xfrm>
          <a:prstGeom prst="rect">
            <a:avLst/>
          </a:prstGeom>
          <a:noFill/>
          <a:ln/>
        </p:spPr>
        <p:txBody>
          <a:bodyPr wrap="square" lIns="0" tIns="0" rIns="0" bIns="0" rtlCol="0" anchor="ctr">
            <a:normAutofit/>
          </a:bodyPr>
          <a:lstStyle/>
          <a:p>
            <a:pPr indent="0" marL="0">
              <a:buNone/>
            </a:pPr>
            <a:r>
              <a:rPr lang="en-US" sz="1100" b="1" dirty="0">
                <a:solidFill>
                  <a:srgbClr val="1D4ED8"/>
                </a:solidFill>
                <a:latin typeface="Aptos" pitchFamily="34" charset="0"/>
                <a:ea typeface="Aptos" pitchFamily="34" charset="-122"/>
                <a:cs typeface="Aptos" pitchFamily="34" charset="-120"/>
              </a:rPr>
              <a:t>Direct Compute</a:t>
            </a:r>
            <a:endParaRPr lang="en-US" sz="1100" dirty="0"/>
          </a:p>
        </p:txBody>
      </p:sp>
      <p:sp>
        <p:nvSpPr>
          <p:cNvPr id="26" name="Text 24"/>
          <p:cNvSpPr/>
          <p:nvPr/>
        </p:nvSpPr>
        <p:spPr>
          <a:xfrm>
            <a:off x="6446520" y="4059936"/>
            <a:ext cx="2057400" cy="347472"/>
          </a:xfrm>
          <a:prstGeom prst="rect">
            <a:avLst/>
          </a:prstGeom>
          <a:noFill/>
          <a:ln/>
        </p:spPr>
        <p:txBody>
          <a:bodyPr wrap="square" lIns="0" tIns="0" rIns="0" bIns="0" rtlCol="0" anchor="ctr">
            <a:normAutofit/>
          </a:bodyPr>
          <a:lstStyle/>
          <a:p>
            <a:pPr indent="0" marL="0">
              <a:buNone/>
            </a:pPr>
            <a:r>
              <a:rPr lang="en-US" sz="1100" b="1" dirty="0">
                <a:solidFill>
                  <a:srgbClr val="1D4ED8"/>
                </a:solidFill>
                <a:latin typeface="Aptos" pitchFamily="34" charset="0"/>
                <a:ea typeface="Aptos" pitchFamily="34" charset="-122"/>
                <a:cs typeface="Aptos" pitchFamily="34" charset="-120"/>
              </a:rPr>
              <a:t>~$210 USD</a:t>
            </a:r>
            <a:endParaRPr lang="en-US" sz="1100" dirty="0"/>
          </a:p>
        </p:txBody>
      </p:sp>
      <p:sp>
        <p:nvSpPr>
          <p:cNvPr id="27" name="Text 25"/>
          <p:cNvSpPr/>
          <p:nvPr/>
        </p:nvSpPr>
        <p:spPr>
          <a:xfrm>
            <a:off x="8823960" y="4059936"/>
            <a:ext cx="2560320" cy="347472"/>
          </a:xfrm>
          <a:prstGeom prst="rect">
            <a:avLst/>
          </a:prstGeom>
          <a:noFill/>
          <a:ln/>
        </p:spPr>
        <p:txBody>
          <a:bodyPr wrap="square" lIns="0" tIns="0" rIns="0" bIns="0" rtlCol="0" anchor="ctr">
            <a:normAutofit/>
          </a:bodyPr>
          <a:lstStyle/>
          <a:p>
            <a:pPr indent="0" marL="0">
              <a:buNone/>
            </a:pPr>
            <a:r>
              <a:rPr lang="en-US" sz="1100" b="1" dirty="0">
                <a:solidFill>
                  <a:srgbClr val="334155"/>
                </a:solidFill>
                <a:latin typeface="Aptos" pitchFamily="34" charset="0"/>
                <a:ea typeface="Aptos" pitchFamily="34" charset="-122"/>
                <a:cs typeface="Aptos" pitchFamily="34" charset="-120"/>
              </a:rPr>
              <a:t>Baseline Direct Cost</a:t>
            </a:r>
            <a:endParaRPr lang="en-US" sz="1100" dirty="0"/>
          </a:p>
        </p:txBody>
      </p:sp>
      <p:sp>
        <p:nvSpPr>
          <p:cNvPr id="28" name="Shape 26"/>
          <p:cNvSpPr/>
          <p:nvPr/>
        </p:nvSpPr>
        <p:spPr>
          <a:xfrm>
            <a:off x="822960" y="5074920"/>
            <a:ext cx="10515600" cy="658368"/>
          </a:xfrm>
          <a:prstGeom prst="roundRect">
            <a:avLst>
              <a:gd name="adj" fmla="val 11111"/>
            </a:avLst>
          </a:prstGeom>
          <a:solidFill>
            <a:srgbClr val="FEF3C7"/>
          </a:solidFill>
          <a:ln w="12700">
            <a:solidFill>
              <a:srgbClr val="B45309"/>
            </a:solidFill>
            <a:prstDash val="solid"/>
          </a:ln>
        </p:spPr>
      </p:sp>
      <p:sp>
        <p:nvSpPr>
          <p:cNvPr id="29" name="Text 27"/>
          <p:cNvSpPr/>
          <p:nvPr/>
        </p:nvSpPr>
        <p:spPr>
          <a:xfrm>
            <a:off x="1097280" y="5276088"/>
            <a:ext cx="9966960" cy="228600"/>
          </a:xfrm>
          <a:prstGeom prst="rect">
            <a:avLst/>
          </a:prstGeom>
          <a:noFill/>
          <a:ln/>
        </p:spPr>
        <p:txBody>
          <a:bodyPr wrap="square" lIns="0" tIns="0" rIns="0" bIns="0" rtlCol="0" anchor="ctr">
            <a:normAutofit/>
          </a:bodyPr>
          <a:lstStyle/>
          <a:p>
            <a:pPr algn="ctr" indent="0" marL="0">
              <a:buNone/>
            </a:pPr>
            <a:r>
              <a:rPr lang="en-US" sz="1400" b="1" dirty="0">
                <a:solidFill>
                  <a:srgbClr val="B45309"/>
                </a:solidFill>
                <a:latin typeface="Aptos" pitchFamily="34" charset="0"/>
                <a:ea typeface="Aptos" pitchFamily="34" charset="-122"/>
                <a:cs typeface="Aptos" pitchFamily="34" charset="-120"/>
              </a:rPr>
              <a:t>Capital Efficiency: ~$210 USD represents approximately 98%–99% savings compared with conventional contractor or agency rates.</a:t>
            </a:r>
            <a:endParaRPr lang="en-US" sz="1400" dirty="0"/>
          </a:p>
        </p:txBody>
      </p:sp>
      <p:sp>
        <p:nvSpPr>
          <p:cNvPr id="30" name="Text 28"/>
          <p:cNvSpPr/>
          <p:nvPr/>
        </p:nvSpPr>
        <p:spPr>
          <a:xfrm>
            <a:off x="822960" y="5925312"/>
            <a:ext cx="10515600" cy="256032"/>
          </a:xfrm>
          <a:prstGeom prst="rect">
            <a:avLst/>
          </a:prstGeom>
          <a:noFill/>
          <a:ln/>
        </p:spPr>
        <p:txBody>
          <a:bodyPr wrap="square" lIns="0" tIns="0" rIns="0" bIns="0" rtlCol="0" anchor="ctr">
            <a:normAutofit/>
          </a:bodyPr>
          <a:lstStyle/>
          <a:p>
            <a:pPr algn="ctr" indent="0" marL="0">
              <a:buNone/>
            </a:pPr>
            <a:r>
              <a:rPr lang="en-US" sz="1100" b="1" dirty="0">
                <a:solidFill>
                  <a:srgbClr val="64748B"/>
                </a:solidFill>
                <a:latin typeface="Aptos" pitchFamily="34" charset="0"/>
                <a:ea typeface="Aptos" pitchFamily="34" charset="-122"/>
                <a:cs typeface="Aptos" pitchFamily="34" charset="-120"/>
              </a:rPr>
              <a:t>Overall confidence: approximately 90% accurate as an engineering estimate; direct costs and recorded credits are stronger than reconstructed ROI and time figures.</a:t>
            </a:r>
            <a:endParaRPr lang="en-US" sz="11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LESSONS LEARNED</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Five rules for building applications with AI</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A short checklist to take back to the next project.</a:t>
            </a:r>
            <a:endParaRPr lang="en-US" sz="1200" dirty="0"/>
          </a:p>
        </p:txBody>
      </p:sp>
      <p:sp>
        <p:nvSpPr>
          <p:cNvPr id="5" name="Text 3"/>
          <p:cNvSpPr/>
          <p:nvPr/>
        </p:nvSpPr>
        <p:spPr>
          <a:xfrm>
            <a:off x="822960" y="1664208"/>
            <a:ext cx="384048" cy="320040"/>
          </a:xfrm>
          <a:prstGeom prst="rect">
            <a:avLst/>
          </a:prstGeom>
          <a:noFill/>
          <a:ln/>
        </p:spPr>
        <p:txBody>
          <a:bodyPr wrap="square" lIns="0" tIns="0" rIns="0" bIns="0" rtlCol="0" anchor="ctr">
            <a:normAutofit/>
          </a:bodyPr>
          <a:lstStyle/>
          <a:p>
            <a:pPr algn="ctr" indent="0" marL="0">
              <a:buNone/>
            </a:pPr>
            <a:r>
              <a:rPr lang="en-US" sz="2100" b="1" dirty="0">
                <a:solidFill>
                  <a:srgbClr val="0F766E"/>
                </a:solidFill>
                <a:latin typeface="Aptos" pitchFamily="34" charset="0"/>
                <a:ea typeface="Aptos" pitchFamily="34" charset="-122"/>
                <a:cs typeface="Aptos" pitchFamily="34" charset="-120"/>
              </a:rPr>
              <a:t>1</a:t>
            </a:r>
            <a:endParaRPr lang="en-US" sz="2100" dirty="0"/>
          </a:p>
        </p:txBody>
      </p:sp>
      <p:sp>
        <p:nvSpPr>
          <p:cNvPr id="6" name="Shape 4"/>
          <p:cNvSpPr/>
          <p:nvPr/>
        </p:nvSpPr>
        <p:spPr>
          <a:xfrm>
            <a:off x="1417320" y="1956816"/>
            <a:ext cx="9418320" cy="0"/>
          </a:xfrm>
          <a:prstGeom prst="line">
            <a:avLst/>
          </a:prstGeom>
          <a:noFill/>
          <a:ln w="12700">
            <a:solidFill>
              <a:srgbClr val="CBD5E1"/>
            </a:solidFill>
            <a:prstDash val="solid"/>
          </a:ln>
        </p:spPr>
      </p:sp>
      <p:sp>
        <p:nvSpPr>
          <p:cNvPr id="7" name="Text 5"/>
          <p:cNvSpPr/>
          <p:nvPr/>
        </p:nvSpPr>
        <p:spPr>
          <a:xfrm>
            <a:off x="1691640" y="1664208"/>
            <a:ext cx="8961120" cy="32004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Specify the architecture before asking for implementation.</a:t>
            </a:r>
            <a:endParaRPr lang="en-US" sz="1700" dirty="0"/>
          </a:p>
        </p:txBody>
      </p:sp>
      <p:sp>
        <p:nvSpPr>
          <p:cNvPr id="8" name="Text 6"/>
          <p:cNvSpPr/>
          <p:nvPr/>
        </p:nvSpPr>
        <p:spPr>
          <a:xfrm>
            <a:off x="822960" y="2414016"/>
            <a:ext cx="384048" cy="320040"/>
          </a:xfrm>
          <a:prstGeom prst="rect">
            <a:avLst/>
          </a:prstGeom>
          <a:noFill/>
          <a:ln/>
        </p:spPr>
        <p:txBody>
          <a:bodyPr wrap="square" lIns="0" tIns="0" rIns="0" bIns="0" rtlCol="0" anchor="ctr">
            <a:normAutofit/>
          </a:bodyPr>
          <a:lstStyle/>
          <a:p>
            <a:pPr algn="ctr" indent="0" marL="0">
              <a:buNone/>
            </a:pPr>
            <a:r>
              <a:rPr lang="en-US" sz="2100" b="1" dirty="0">
                <a:solidFill>
                  <a:srgbClr val="0F766E"/>
                </a:solidFill>
                <a:latin typeface="Aptos" pitchFamily="34" charset="0"/>
                <a:ea typeface="Aptos" pitchFamily="34" charset="-122"/>
                <a:cs typeface="Aptos" pitchFamily="34" charset="-120"/>
              </a:rPr>
              <a:t>2</a:t>
            </a:r>
            <a:endParaRPr lang="en-US" sz="2100" dirty="0"/>
          </a:p>
        </p:txBody>
      </p:sp>
      <p:sp>
        <p:nvSpPr>
          <p:cNvPr id="9" name="Shape 7"/>
          <p:cNvSpPr/>
          <p:nvPr/>
        </p:nvSpPr>
        <p:spPr>
          <a:xfrm>
            <a:off x="1417320" y="2706624"/>
            <a:ext cx="9418320" cy="0"/>
          </a:xfrm>
          <a:prstGeom prst="line">
            <a:avLst/>
          </a:prstGeom>
          <a:noFill/>
          <a:ln w="12700">
            <a:solidFill>
              <a:srgbClr val="CBD5E1"/>
            </a:solidFill>
            <a:prstDash val="solid"/>
          </a:ln>
        </p:spPr>
      </p:sp>
      <p:sp>
        <p:nvSpPr>
          <p:cNvPr id="10" name="Text 8"/>
          <p:cNvSpPr/>
          <p:nvPr/>
        </p:nvSpPr>
        <p:spPr>
          <a:xfrm>
            <a:off x="1691640" y="2414016"/>
            <a:ext cx="8961120" cy="32004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Make acceptance criteria executable: builds, type checks, endpoint checks, and document audits.</a:t>
            </a:r>
            <a:endParaRPr lang="en-US" sz="1700" dirty="0"/>
          </a:p>
        </p:txBody>
      </p:sp>
      <p:sp>
        <p:nvSpPr>
          <p:cNvPr id="11" name="Text 9"/>
          <p:cNvSpPr/>
          <p:nvPr/>
        </p:nvSpPr>
        <p:spPr>
          <a:xfrm>
            <a:off x="822960" y="3163824"/>
            <a:ext cx="384048" cy="320040"/>
          </a:xfrm>
          <a:prstGeom prst="rect">
            <a:avLst/>
          </a:prstGeom>
          <a:noFill/>
          <a:ln/>
        </p:spPr>
        <p:txBody>
          <a:bodyPr wrap="square" lIns="0" tIns="0" rIns="0" bIns="0" rtlCol="0" anchor="ctr">
            <a:normAutofit/>
          </a:bodyPr>
          <a:lstStyle/>
          <a:p>
            <a:pPr algn="ctr" indent="0" marL="0">
              <a:buNone/>
            </a:pPr>
            <a:r>
              <a:rPr lang="en-US" sz="2100" b="1" dirty="0">
                <a:solidFill>
                  <a:srgbClr val="0F766E"/>
                </a:solidFill>
                <a:latin typeface="Aptos" pitchFamily="34" charset="0"/>
                <a:ea typeface="Aptos" pitchFamily="34" charset="-122"/>
                <a:cs typeface="Aptos" pitchFamily="34" charset="-120"/>
              </a:rPr>
              <a:t>3</a:t>
            </a:r>
            <a:endParaRPr lang="en-US" sz="2100" dirty="0"/>
          </a:p>
        </p:txBody>
      </p:sp>
      <p:sp>
        <p:nvSpPr>
          <p:cNvPr id="12" name="Shape 10"/>
          <p:cNvSpPr/>
          <p:nvPr/>
        </p:nvSpPr>
        <p:spPr>
          <a:xfrm>
            <a:off x="1417320" y="3456432"/>
            <a:ext cx="9418320" cy="0"/>
          </a:xfrm>
          <a:prstGeom prst="line">
            <a:avLst/>
          </a:prstGeom>
          <a:noFill/>
          <a:ln w="12700">
            <a:solidFill>
              <a:srgbClr val="CBD5E1"/>
            </a:solidFill>
            <a:prstDash val="solid"/>
          </a:ln>
        </p:spPr>
      </p:sp>
      <p:sp>
        <p:nvSpPr>
          <p:cNvPr id="13" name="Text 11"/>
          <p:cNvSpPr/>
          <p:nvPr/>
        </p:nvSpPr>
        <p:spPr>
          <a:xfrm>
            <a:off x="1691640" y="3163824"/>
            <a:ext cx="8961120" cy="32004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Inspect plausible output; the most dangerous errors often look professional.</a:t>
            </a:r>
            <a:endParaRPr lang="en-US" sz="1700" dirty="0"/>
          </a:p>
        </p:txBody>
      </p:sp>
      <p:sp>
        <p:nvSpPr>
          <p:cNvPr id="14" name="Text 12"/>
          <p:cNvSpPr/>
          <p:nvPr/>
        </p:nvSpPr>
        <p:spPr>
          <a:xfrm>
            <a:off x="822960" y="3913632"/>
            <a:ext cx="384048" cy="320040"/>
          </a:xfrm>
          <a:prstGeom prst="rect">
            <a:avLst/>
          </a:prstGeom>
          <a:noFill/>
          <a:ln/>
        </p:spPr>
        <p:txBody>
          <a:bodyPr wrap="square" lIns="0" tIns="0" rIns="0" bIns="0" rtlCol="0" anchor="ctr">
            <a:normAutofit/>
          </a:bodyPr>
          <a:lstStyle/>
          <a:p>
            <a:pPr algn="ctr" indent="0" marL="0">
              <a:buNone/>
            </a:pPr>
            <a:r>
              <a:rPr lang="en-US" sz="2100" b="1" dirty="0">
                <a:solidFill>
                  <a:srgbClr val="0F766E"/>
                </a:solidFill>
                <a:latin typeface="Aptos" pitchFamily="34" charset="0"/>
                <a:ea typeface="Aptos" pitchFamily="34" charset="-122"/>
                <a:cs typeface="Aptos" pitchFamily="34" charset="-120"/>
              </a:rPr>
              <a:t>4</a:t>
            </a:r>
            <a:endParaRPr lang="en-US" sz="2100" dirty="0"/>
          </a:p>
        </p:txBody>
      </p:sp>
      <p:sp>
        <p:nvSpPr>
          <p:cNvPr id="15" name="Shape 13"/>
          <p:cNvSpPr/>
          <p:nvPr/>
        </p:nvSpPr>
        <p:spPr>
          <a:xfrm>
            <a:off x="1417320" y="4206240"/>
            <a:ext cx="9418320" cy="0"/>
          </a:xfrm>
          <a:prstGeom prst="line">
            <a:avLst/>
          </a:prstGeom>
          <a:noFill/>
          <a:ln w="12700">
            <a:solidFill>
              <a:srgbClr val="CBD5E1"/>
            </a:solidFill>
            <a:prstDash val="solid"/>
          </a:ln>
        </p:spPr>
      </p:sp>
      <p:sp>
        <p:nvSpPr>
          <p:cNvPr id="16" name="Text 14"/>
          <p:cNvSpPr/>
          <p:nvPr/>
        </p:nvSpPr>
        <p:spPr>
          <a:xfrm>
            <a:off x="1691640" y="3913632"/>
            <a:ext cx="8961120" cy="32004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Separate implemented behavior from planned behavior and documentation artifacts.</a:t>
            </a:r>
            <a:endParaRPr lang="en-US" sz="1700" dirty="0"/>
          </a:p>
        </p:txBody>
      </p:sp>
      <p:sp>
        <p:nvSpPr>
          <p:cNvPr id="17" name="Text 15"/>
          <p:cNvSpPr/>
          <p:nvPr/>
        </p:nvSpPr>
        <p:spPr>
          <a:xfrm>
            <a:off x="822960" y="4663440"/>
            <a:ext cx="384048" cy="320040"/>
          </a:xfrm>
          <a:prstGeom prst="rect">
            <a:avLst/>
          </a:prstGeom>
          <a:noFill/>
          <a:ln/>
        </p:spPr>
        <p:txBody>
          <a:bodyPr wrap="square" lIns="0" tIns="0" rIns="0" bIns="0" rtlCol="0" anchor="ctr">
            <a:normAutofit/>
          </a:bodyPr>
          <a:lstStyle/>
          <a:p>
            <a:pPr algn="ctr" indent="0" marL="0">
              <a:buNone/>
            </a:pPr>
            <a:r>
              <a:rPr lang="en-US" sz="2100" b="1" dirty="0">
                <a:solidFill>
                  <a:srgbClr val="0F766E"/>
                </a:solidFill>
                <a:latin typeface="Aptos" pitchFamily="34" charset="0"/>
                <a:ea typeface="Aptos" pitchFamily="34" charset="-122"/>
                <a:cs typeface="Aptos" pitchFamily="34" charset="-120"/>
              </a:rPr>
              <a:t>5</a:t>
            </a:r>
            <a:endParaRPr lang="en-US" sz="2100" dirty="0"/>
          </a:p>
        </p:txBody>
      </p:sp>
      <p:sp>
        <p:nvSpPr>
          <p:cNvPr id="18" name="Shape 16"/>
          <p:cNvSpPr/>
          <p:nvPr/>
        </p:nvSpPr>
        <p:spPr>
          <a:xfrm>
            <a:off x="1417320" y="4956048"/>
            <a:ext cx="9418320" cy="0"/>
          </a:xfrm>
          <a:prstGeom prst="line">
            <a:avLst/>
          </a:prstGeom>
          <a:noFill/>
          <a:ln w="12700">
            <a:solidFill>
              <a:srgbClr val="CBD5E1"/>
            </a:solidFill>
            <a:prstDash val="solid"/>
          </a:ln>
        </p:spPr>
      </p:sp>
      <p:sp>
        <p:nvSpPr>
          <p:cNvPr id="19" name="Text 17"/>
          <p:cNvSpPr/>
          <p:nvPr/>
        </p:nvSpPr>
        <p:spPr>
          <a:xfrm>
            <a:off x="1691640" y="4663440"/>
            <a:ext cx="8961120" cy="320040"/>
          </a:xfrm>
          <a:prstGeom prst="rect">
            <a:avLst/>
          </a:prstGeom>
          <a:noFill/>
          <a:ln/>
        </p:spPr>
        <p:txBody>
          <a:bodyPr wrap="square" lIns="0" tIns="0" rIns="0" bIns="0" rtlCol="0" anchor="ctr">
            <a:normAutofit/>
          </a:bodyPr>
          <a:lstStyle/>
          <a:p>
            <a:pPr indent="0" marL="0">
              <a:buNone/>
            </a:pPr>
            <a:r>
              <a:rPr lang="en-US" sz="1700" dirty="0">
                <a:solidFill>
                  <a:srgbClr val="0F172A"/>
                </a:solidFill>
                <a:latin typeface="Aptos" pitchFamily="34" charset="0"/>
                <a:ea typeface="Aptos" pitchFamily="34" charset="-122"/>
                <a:cs typeface="Aptos" pitchFamily="34" charset="-120"/>
              </a:rPr>
              <a:t>Use retrieval, citations, and abstention to narrow the model’s responsibility.</a:t>
            </a:r>
            <a:endParaRPr lang="en-US" sz="1700" dirty="0"/>
          </a:p>
        </p:txBody>
      </p:sp>
      <p:sp>
        <p:nvSpPr>
          <p:cNvPr id="20" name="Shape 18"/>
          <p:cNvSpPr/>
          <p:nvPr/>
        </p:nvSpPr>
        <p:spPr>
          <a:xfrm>
            <a:off x="960120" y="5486400"/>
            <a:ext cx="10149840" cy="566928"/>
          </a:xfrm>
          <a:prstGeom prst="roundRect">
            <a:avLst>
              <a:gd name="adj" fmla="val 12903"/>
            </a:avLst>
          </a:prstGeom>
          <a:solidFill>
            <a:srgbClr val="0F172A"/>
          </a:solidFill>
          <a:ln w="12700">
            <a:solidFill>
              <a:srgbClr val="0F172A"/>
            </a:solidFill>
            <a:prstDash val="solid"/>
          </a:ln>
        </p:spPr>
      </p:sp>
      <p:sp>
        <p:nvSpPr>
          <p:cNvPr id="21" name="Text 19"/>
          <p:cNvSpPr/>
          <p:nvPr/>
        </p:nvSpPr>
        <p:spPr>
          <a:xfrm>
            <a:off x="1188720" y="5650992"/>
            <a:ext cx="9692640" cy="228600"/>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Human-in-the-loop curiosity · lateral thinking · identifying the business challenges truly worth solving</a:t>
            </a:r>
            <a:endParaRPr lang="en-US" sz="14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CLOSING IDEA</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The model can accelerate the build.</a:t>
            </a:r>
            <a:endParaRPr lang="en-US" sz="2700" dirty="0"/>
          </a:p>
          <a:p>
            <a:pPr indent="0" marL="0">
              <a:buNone/>
            </a:pPr>
            <a:r>
              <a:rPr lang="en-US" sz="2700" b="1" dirty="0">
                <a:solidFill>
                  <a:srgbClr val="0F172A"/>
                </a:solidFill>
                <a:latin typeface="Aptos" pitchFamily="34" charset="0"/>
                <a:ea typeface="Aptos" pitchFamily="34" charset="-122"/>
                <a:cs typeface="Aptos" pitchFamily="34" charset="-120"/>
              </a:rPr>
              <a:t>It cannot choose the problem.</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Keep this slide on screen as the transition into Q&amp;A.</a:t>
            </a:r>
            <a:endParaRPr lang="en-US" sz="1200" dirty="0"/>
          </a:p>
        </p:txBody>
      </p:sp>
      <p:sp>
        <p:nvSpPr>
          <p:cNvPr id="5" name="Text 3"/>
          <p:cNvSpPr/>
          <p:nvPr/>
        </p:nvSpPr>
        <p:spPr>
          <a:xfrm>
            <a:off x="914400" y="1828800"/>
            <a:ext cx="10332720" cy="1234440"/>
          </a:xfrm>
          <a:prstGeom prst="rect">
            <a:avLst/>
          </a:prstGeom>
          <a:noFill/>
          <a:ln/>
        </p:spPr>
        <p:txBody>
          <a:bodyPr wrap="square" lIns="0" tIns="0" rIns="0" bIns="0" rtlCol="0" anchor="ctr">
            <a:normAutofit/>
          </a:bodyPr>
          <a:lstStyle/>
          <a:p>
            <a:pPr algn="ctr" indent="0" marL="0">
              <a:buNone/>
            </a:pPr>
            <a:r>
              <a:rPr lang="en-US" sz="2400" b="1" i="1" dirty="0">
                <a:solidFill>
                  <a:srgbClr val="0F172A"/>
                </a:solidFill>
                <a:latin typeface="Aptos" pitchFamily="34" charset="0"/>
                <a:ea typeface="Aptos" pitchFamily="34" charset="-122"/>
                <a:cs typeface="Aptos" pitchFamily="34" charset="-120"/>
              </a:rPr>
              <a:t>“As AI increasingly commoditizes execution, leadership differentiation comes from human-in-the-loop curiosity, lateral thinking, and identifying the business challenges truly worth solving.”</a:t>
            </a:r>
            <a:endParaRPr lang="en-US" sz="2400" dirty="0"/>
          </a:p>
        </p:txBody>
      </p:sp>
      <p:sp>
        <p:nvSpPr>
          <p:cNvPr id="6" name="Text 4"/>
          <p:cNvSpPr/>
          <p:nvPr/>
        </p:nvSpPr>
        <p:spPr>
          <a:xfrm>
            <a:off x="1005840" y="3794760"/>
            <a:ext cx="10149840" cy="658368"/>
          </a:xfrm>
          <a:prstGeom prst="rect">
            <a:avLst/>
          </a:prstGeom>
          <a:noFill/>
          <a:ln/>
        </p:spPr>
        <p:txBody>
          <a:bodyPr wrap="square" lIns="0" tIns="0" rIns="0" bIns="0" rtlCol="0" anchor="ctr">
            <a:normAutofit/>
          </a:bodyPr>
          <a:lstStyle/>
          <a:p>
            <a:pPr algn="ctr" indent="0" marL="0">
              <a:buNone/>
            </a:pPr>
            <a:r>
              <a:rPr lang="en-US" sz="2000" b="1" dirty="0">
                <a:solidFill>
                  <a:srgbClr val="0F766E"/>
                </a:solidFill>
                <a:latin typeface="Aptos" pitchFamily="34" charset="0"/>
                <a:ea typeface="Aptos" pitchFamily="34" charset="-122"/>
                <a:cs typeface="Aptos" pitchFamily="34" charset="-120"/>
              </a:rPr>
              <a:t>Beyond prompting is not less engineering. It is engineering with a larger responsibility for intent, evidence, and consequences.</a:t>
            </a:r>
            <a:endParaRPr lang="en-US" sz="20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OPEN QUESTIONS</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Challenge the assumptions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Suggested prompts for the room — not a scripted Q&amp;A.</a:t>
            </a:r>
            <a:endParaRPr lang="en-US" sz="1200" dirty="0"/>
          </a:p>
        </p:txBody>
      </p:sp>
      <p:sp>
        <p:nvSpPr>
          <p:cNvPr id="5" name="Shape 3"/>
          <p:cNvSpPr/>
          <p:nvPr/>
        </p:nvSpPr>
        <p:spPr>
          <a:xfrm>
            <a:off x="777240" y="1737360"/>
            <a:ext cx="5074920" cy="777240"/>
          </a:xfrm>
          <a:prstGeom prst="roundRect">
            <a:avLst>
              <a:gd name="adj" fmla="val 9412"/>
            </a:avLst>
          </a:prstGeom>
          <a:solidFill>
            <a:srgbClr val="FFFFFF"/>
          </a:solidFill>
          <a:ln w="12700">
            <a:solidFill>
              <a:srgbClr val="CBD5E1"/>
            </a:solidFill>
            <a:prstDash val="solid"/>
          </a:ln>
        </p:spPr>
      </p:sp>
      <p:sp>
        <p:nvSpPr>
          <p:cNvPr id="6" name="Text 4"/>
          <p:cNvSpPr/>
          <p:nvPr/>
        </p:nvSpPr>
        <p:spPr>
          <a:xfrm>
            <a:off x="960120" y="1938528"/>
            <a:ext cx="36576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Aptos" pitchFamily="34" charset="0"/>
                <a:ea typeface="Aptos" pitchFamily="34" charset="-122"/>
                <a:cs typeface="Aptos" pitchFamily="34" charset="-120"/>
              </a:rPr>
              <a:t>1.</a:t>
            </a:r>
            <a:endParaRPr lang="en-US" sz="1600" dirty="0"/>
          </a:p>
        </p:txBody>
      </p:sp>
      <p:sp>
        <p:nvSpPr>
          <p:cNvPr id="7" name="Text 5"/>
          <p:cNvSpPr/>
          <p:nvPr/>
        </p:nvSpPr>
        <p:spPr>
          <a:xfrm>
            <a:off x="1463040" y="1901952"/>
            <a:ext cx="4069080" cy="411480"/>
          </a:xfrm>
          <a:prstGeom prst="rect">
            <a:avLst/>
          </a:prstGeom>
          <a:noFill/>
          <a:ln/>
        </p:spPr>
        <p:txBody>
          <a:bodyPr wrap="square" lIns="0" tIns="0" rIns="0" bIns="0" rtlCol="0" anchor="ctr">
            <a:normAutofit/>
          </a:bodyPr>
          <a:lstStyle/>
          <a:p>
            <a:pPr indent="0" marL="0">
              <a:buNone/>
            </a:pPr>
            <a:r>
              <a:rPr lang="en-US" sz="1400" dirty="0">
                <a:solidFill>
                  <a:srgbClr val="0F172A"/>
                </a:solidFill>
                <a:latin typeface="Aptos" pitchFamily="34" charset="0"/>
                <a:ea typeface="Aptos" pitchFamily="34" charset="-122"/>
                <a:cs typeface="Aptos" pitchFamily="34" charset="-120"/>
              </a:rPr>
              <a:t>Where should a local-first RAG system draw its trust boundary?</a:t>
            </a:r>
            <a:endParaRPr lang="en-US" sz="1400" dirty="0"/>
          </a:p>
        </p:txBody>
      </p:sp>
      <p:sp>
        <p:nvSpPr>
          <p:cNvPr id="8" name="Shape 6"/>
          <p:cNvSpPr/>
          <p:nvPr/>
        </p:nvSpPr>
        <p:spPr>
          <a:xfrm>
            <a:off x="6400800" y="1737360"/>
            <a:ext cx="5074920" cy="777240"/>
          </a:xfrm>
          <a:prstGeom prst="roundRect">
            <a:avLst>
              <a:gd name="adj" fmla="val 9412"/>
            </a:avLst>
          </a:prstGeom>
          <a:solidFill>
            <a:srgbClr val="FFFFFF"/>
          </a:solidFill>
          <a:ln w="12700">
            <a:solidFill>
              <a:srgbClr val="CBD5E1"/>
            </a:solidFill>
            <a:prstDash val="solid"/>
          </a:ln>
        </p:spPr>
      </p:sp>
      <p:sp>
        <p:nvSpPr>
          <p:cNvPr id="9" name="Text 7"/>
          <p:cNvSpPr/>
          <p:nvPr/>
        </p:nvSpPr>
        <p:spPr>
          <a:xfrm>
            <a:off x="6583680" y="1938528"/>
            <a:ext cx="36576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Aptos" pitchFamily="34" charset="0"/>
                <a:ea typeface="Aptos" pitchFamily="34" charset="-122"/>
                <a:cs typeface="Aptos" pitchFamily="34" charset="-120"/>
              </a:rPr>
              <a:t>2.</a:t>
            </a:r>
            <a:endParaRPr lang="en-US" sz="1600" dirty="0"/>
          </a:p>
        </p:txBody>
      </p:sp>
      <p:sp>
        <p:nvSpPr>
          <p:cNvPr id="10" name="Text 8"/>
          <p:cNvSpPr/>
          <p:nvPr/>
        </p:nvSpPr>
        <p:spPr>
          <a:xfrm>
            <a:off x="7086600" y="1901952"/>
            <a:ext cx="4069080" cy="411480"/>
          </a:xfrm>
          <a:prstGeom prst="rect">
            <a:avLst/>
          </a:prstGeom>
          <a:noFill/>
          <a:ln/>
        </p:spPr>
        <p:txBody>
          <a:bodyPr wrap="square" lIns="0" tIns="0" rIns="0" bIns="0" rtlCol="0" anchor="ctr">
            <a:normAutofit/>
          </a:bodyPr>
          <a:lstStyle/>
          <a:p>
            <a:pPr indent="0" marL="0">
              <a:buNone/>
            </a:pPr>
            <a:r>
              <a:rPr lang="en-US" sz="1400" dirty="0">
                <a:solidFill>
                  <a:srgbClr val="0F172A"/>
                </a:solidFill>
                <a:latin typeface="Aptos" pitchFamily="34" charset="0"/>
                <a:ea typeface="Aptos" pitchFamily="34" charset="-122"/>
                <a:cs typeface="Aptos" pitchFamily="34" charset="-120"/>
              </a:rPr>
              <a:t>When is dense retrieval enough, and when do you need hybrid search or re-ranking?</a:t>
            </a:r>
            <a:endParaRPr lang="en-US" sz="1400" dirty="0"/>
          </a:p>
        </p:txBody>
      </p:sp>
      <p:sp>
        <p:nvSpPr>
          <p:cNvPr id="11" name="Shape 9"/>
          <p:cNvSpPr/>
          <p:nvPr/>
        </p:nvSpPr>
        <p:spPr>
          <a:xfrm>
            <a:off x="777240" y="2880360"/>
            <a:ext cx="5074920" cy="777240"/>
          </a:xfrm>
          <a:prstGeom prst="roundRect">
            <a:avLst>
              <a:gd name="adj" fmla="val 9412"/>
            </a:avLst>
          </a:prstGeom>
          <a:solidFill>
            <a:srgbClr val="FFFFFF"/>
          </a:solidFill>
          <a:ln w="12700">
            <a:solidFill>
              <a:srgbClr val="CBD5E1"/>
            </a:solidFill>
            <a:prstDash val="solid"/>
          </a:ln>
        </p:spPr>
      </p:sp>
      <p:sp>
        <p:nvSpPr>
          <p:cNvPr id="12" name="Text 10"/>
          <p:cNvSpPr/>
          <p:nvPr/>
        </p:nvSpPr>
        <p:spPr>
          <a:xfrm>
            <a:off x="960120" y="3081528"/>
            <a:ext cx="36576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Aptos" pitchFamily="34" charset="0"/>
                <a:ea typeface="Aptos" pitchFamily="34" charset="-122"/>
                <a:cs typeface="Aptos" pitchFamily="34" charset="-120"/>
              </a:rPr>
              <a:t>3.</a:t>
            </a:r>
            <a:endParaRPr lang="en-US" sz="1600" dirty="0"/>
          </a:p>
        </p:txBody>
      </p:sp>
      <p:sp>
        <p:nvSpPr>
          <p:cNvPr id="13" name="Text 11"/>
          <p:cNvSpPr/>
          <p:nvPr/>
        </p:nvSpPr>
        <p:spPr>
          <a:xfrm>
            <a:off x="1463040" y="3044952"/>
            <a:ext cx="4069080" cy="411480"/>
          </a:xfrm>
          <a:prstGeom prst="rect">
            <a:avLst/>
          </a:prstGeom>
          <a:noFill/>
          <a:ln/>
        </p:spPr>
        <p:txBody>
          <a:bodyPr wrap="square" lIns="0" tIns="0" rIns="0" bIns="0" rtlCol="0" anchor="ctr">
            <a:normAutofit/>
          </a:bodyPr>
          <a:lstStyle/>
          <a:p>
            <a:pPr indent="0" marL="0">
              <a:buNone/>
            </a:pPr>
            <a:r>
              <a:rPr lang="en-US" sz="1400" dirty="0">
                <a:solidFill>
                  <a:srgbClr val="0F172A"/>
                </a:solidFill>
                <a:latin typeface="Aptos" pitchFamily="34" charset="0"/>
                <a:ea typeface="Aptos" pitchFamily="34" charset="-122"/>
                <a:cs typeface="Aptos" pitchFamily="34" charset="-120"/>
              </a:rPr>
              <a:t>How would you verify faithfulness beyond a citation drawer?</a:t>
            </a:r>
            <a:endParaRPr lang="en-US" sz="1400" dirty="0"/>
          </a:p>
        </p:txBody>
      </p:sp>
      <p:sp>
        <p:nvSpPr>
          <p:cNvPr id="14" name="Shape 12"/>
          <p:cNvSpPr/>
          <p:nvPr/>
        </p:nvSpPr>
        <p:spPr>
          <a:xfrm>
            <a:off x="6400800" y="2880360"/>
            <a:ext cx="5074920" cy="777240"/>
          </a:xfrm>
          <a:prstGeom prst="roundRect">
            <a:avLst>
              <a:gd name="adj" fmla="val 9412"/>
            </a:avLst>
          </a:prstGeom>
          <a:solidFill>
            <a:srgbClr val="FFFFFF"/>
          </a:solidFill>
          <a:ln w="12700">
            <a:solidFill>
              <a:srgbClr val="CBD5E1"/>
            </a:solidFill>
            <a:prstDash val="solid"/>
          </a:ln>
        </p:spPr>
      </p:sp>
      <p:sp>
        <p:nvSpPr>
          <p:cNvPr id="15" name="Text 13"/>
          <p:cNvSpPr/>
          <p:nvPr/>
        </p:nvSpPr>
        <p:spPr>
          <a:xfrm>
            <a:off x="6583680" y="3081528"/>
            <a:ext cx="36576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Aptos" pitchFamily="34" charset="0"/>
                <a:ea typeface="Aptos" pitchFamily="34" charset="-122"/>
                <a:cs typeface="Aptos" pitchFamily="34" charset="-120"/>
              </a:rPr>
              <a:t>4.</a:t>
            </a:r>
            <a:endParaRPr lang="en-US" sz="1600" dirty="0"/>
          </a:p>
        </p:txBody>
      </p:sp>
      <p:sp>
        <p:nvSpPr>
          <p:cNvPr id="16" name="Text 14"/>
          <p:cNvSpPr/>
          <p:nvPr/>
        </p:nvSpPr>
        <p:spPr>
          <a:xfrm>
            <a:off x="7086600" y="3044952"/>
            <a:ext cx="4069080" cy="411480"/>
          </a:xfrm>
          <a:prstGeom prst="rect">
            <a:avLst/>
          </a:prstGeom>
          <a:noFill/>
          <a:ln/>
        </p:spPr>
        <p:txBody>
          <a:bodyPr wrap="square" lIns="0" tIns="0" rIns="0" bIns="0" rtlCol="0" anchor="ctr">
            <a:normAutofit/>
          </a:bodyPr>
          <a:lstStyle/>
          <a:p>
            <a:pPr indent="0" marL="0">
              <a:buNone/>
            </a:pPr>
            <a:r>
              <a:rPr lang="en-US" sz="1400" dirty="0">
                <a:solidFill>
                  <a:srgbClr val="0F172A"/>
                </a:solidFill>
                <a:latin typeface="Aptos" pitchFamily="34" charset="0"/>
                <a:ea typeface="Aptos" pitchFamily="34" charset="-122"/>
                <a:cs typeface="Aptos" pitchFamily="34" charset="-120"/>
              </a:rPr>
              <a:t>What should become an executing workflow engine first?</a:t>
            </a:r>
            <a:endParaRPr lang="en-US" sz="1400" dirty="0"/>
          </a:p>
        </p:txBody>
      </p:sp>
      <p:sp>
        <p:nvSpPr>
          <p:cNvPr id="17" name="Shape 15"/>
          <p:cNvSpPr/>
          <p:nvPr/>
        </p:nvSpPr>
        <p:spPr>
          <a:xfrm>
            <a:off x="777240" y="4023360"/>
            <a:ext cx="5074920" cy="777240"/>
          </a:xfrm>
          <a:prstGeom prst="roundRect">
            <a:avLst>
              <a:gd name="adj" fmla="val 9412"/>
            </a:avLst>
          </a:prstGeom>
          <a:solidFill>
            <a:srgbClr val="FFFFFF"/>
          </a:solidFill>
          <a:ln w="12700">
            <a:solidFill>
              <a:srgbClr val="CBD5E1"/>
            </a:solidFill>
            <a:prstDash val="solid"/>
          </a:ln>
        </p:spPr>
      </p:sp>
      <p:sp>
        <p:nvSpPr>
          <p:cNvPr id="18" name="Text 16"/>
          <p:cNvSpPr/>
          <p:nvPr/>
        </p:nvSpPr>
        <p:spPr>
          <a:xfrm>
            <a:off x="960120" y="4224528"/>
            <a:ext cx="36576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Aptos" pitchFamily="34" charset="0"/>
                <a:ea typeface="Aptos" pitchFamily="34" charset="-122"/>
                <a:cs typeface="Aptos" pitchFamily="34" charset="-120"/>
              </a:rPr>
              <a:t>5.</a:t>
            </a:r>
            <a:endParaRPr lang="en-US" sz="1600" dirty="0"/>
          </a:p>
        </p:txBody>
      </p:sp>
      <p:sp>
        <p:nvSpPr>
          <p:cNvPr id="19" name="Text 17"/>
          <p:cNvSpPr/>
          <p:nvPr/>
        </p:nvSpPr>
        <p:spPr>
          <a:xfrm>
            <a:off x="1463040" y="4187952"/>
            <a:ext cx="4069080" cy="411480"/>
          </a:xfrm>
          <a:prstGeom prst="rect">
            <a:avLst/>
          </a:prstGeom>
          <a:noFill/>
          <a:ln/>
        </p:spPr>
        <p:txBody>
          <a:bodyPr wrap="square" lIns="0" tIns="0" rIns="0" bIns="0" rtlCol="0" anchor="ctr">
            <a:normAutofit/>
          </a:bodyPr>
          <a:lstStyle/>
          <a:p>
            <a:pPr indent="0" marL="0">
              <a:buNone/>
            </a:pPr>
            <a:r>
              <a:rPr lang="en-US" sz="1400" dirty="0">
                <a:solidFill>
                  <a:srgbClr val="0F172A"/>
                </a:solidFill>
                <a:latin typeface="Aptos" pitchFamily="34" charset="0"/>
                <a:ea typeface="Aptos" pitchFamily="34" charset="-122"/>
                <a:cs typeface="Aptos" pitchFamily="34" charset="-120"/>
              </a:rPr>
              <a:t>What would you change in the architecture for production scale?</a:t>
            </a:r>
            <a:endParaRPr lang="en-US" sz="1400" dirty="0"/>
          </a:p>
        </p:txBody>
      </p:sp>
      <p:sp>
        <p:nvSpPr>
          <p:cNvPr id="20" name="Shape 18"/>
          <p:cNvSpPr/>
          <p:nvPr/>
        </p:nvSpPr>
        <p:spPr>
          <a:xfrm>
            <a:off x="6400800" y="4023360"/>
            <a:ext cx="5074920" cy="777240"/>
          </a:xfrm>
          <a:prstGeom prst="roundRect">
            <a:avLst>
              <a:gd name="adj" fmla="val 9412"/>
            </a:avLst>
          </a:prstGeom>
          <a:solidFill>
            <a:srgbClr val="CCFBF1"/>
          </a:solidFill>
          <a:ln w="12700">
            <a:solidFill>
              <a:srgbClr val="0F766E"/>
            </a:solidFill>
            <a:prstDash val="solid"/>
          </a:ln>
        </p:spPr>
      </p:sp>
      <p:sp>
        <p:nvSpPr>
          <p:cNvPr id="21" name="Text 19"/>
          <p:cNvSpPr/>
          <p:nvPr/>
        </p:nvSpPr>
        <p:spPr>
          <a:xfrm>
            <a:off x="6583680" y="4224528"/>
            <a:ext cx="365760" cy="256032"/>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Aptos" pitchFamily="34" charset="0"/>
                <a:ea typeface="Aptos" pitchFamily="34" charset="-122"/>
                <a:cs typeface="Aptos" pitchFamily="34" charset="-120"/>
              </a:rPr>
              <a:t>6.</a:t>
            </a:r>
            <a:endParaRPr lang="en-US" sz="1600" dirty="0"/>
          </a:p>
        </p:txBody>
      </p:sp>
      <p:sp>
        <p:nvSpPr>
          <p:cNvPr id="22" name="Text 20"/>
          <p:cNvSpPr/>
          <p:nvPr/>
        </p:nvSpPr>
        <p:spPr>
          <a:xfrm>
            <a:off x="7086600" y="4187952"/>
            <a:ext cx="4069080" cy="411480"/>
          </a:xfrm>
          <a:prstGeom prst="rect">
            <a:avLst/>
          </a:prstGeom>
          <a:noFill/>
          <a:ln/>
        </p:spPr>
        <p:txBody>
          <a:bodyPr wrap="square" lIns="0" tIns="0" rIns="0" bIns="0" rtlCol="0" anchor="ctr">
            <a:normAutofit/>
          </a:bodyPr>
          <a:lstStyle/>
          <a:p>
            <a:pPr indent="0" marL="0">
              <a:buNone/>
            </a:pPr>
            <a:r>
              <a:rPr lang="en-US" sz="1400" dirty="0">
                <a:solidFill>
                  <a:srgbClr val="0F172A"/>
                </a:solidFill>
                <a:latin typeface="Aptos" pitchFamily="34" charset="0"/>
                <a:ea typeface="Aptos" pitchFamily="34" charset="-122"/>
                <a:cs typeface="Aptos" pitchFamily="34" charset="-120"/>
              </a:rPr>
              <a:t>Which business problem is worth building next?</a:t>
            </a:r>
            <a:endParaRPr lang="en-US" sz="14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TAKE THE PROJECT FURTHER</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Repository, technical documentation, and references</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Keep these links in the final deck and in the eventual GitHub Pages documentation site.</a:t>
            </a:r>
            <a:endParaRPr lang="en-US" sz="1200" dirty="0"/>
          </a:p>
        </p:txBody>
      </p:sp>
      <p:sp>
        <p:nvSpPr>
          <p:cNvPr id="5" name="Text 3"/>
          <p:cNvSpPr/>
          <p:nvPr/>
        </p:nvSpPr>
        <p:spPr>
          <a:xfrm>
            <a:off x="914400" y="1627632"/>
            <a:ext cx="2057400" cy="228600"/>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Project</a:t>
            </a:r>
            <a:endParaRPr lang="en-US" sz="1500" dirty="0"/>
          </a:p>
        </p:txBody>
      </p:sp>
      <p:sp>
        <p:nvSpPr>
          <p:cNvPr id="6" name="Text 4"/>
          <p:cNvSpPr/>
          <p:nvPr/>
        </p:nvSpPr>
        <p:spPr>
          <a:xfrm>
            <a:off x="2971800" y="1627632"/>
            <a:ext cx="8046720" cy="228600"/>
          </a:xfrm>
          <a:prstGeom prst="rect">
            <a:avLst/>
          </a:prstGeom>
          <a:noFill/>
          <a:ln/>
        </p:spPr>
        <p:txBody>
          <a:bodyPr wrap="square" lIns="0" tIns="0" rIns="0" bIns="0" rtlCol="0" anchor="ctr">
            <a:normAutofit/>
          </a:bodyPr>
          <a:lstStyle/>
          <a:p>
            <a:pPr indent="0" marL="0">
              <a:buNone/>
            </a:pPr>
            <a:r>
              <a:rPr lang="en-US" sz="1400" dirty="0">
                <a:solidFill>
                  <a:srgbClr val="1D4ED8"/>
                </a:solidFill>
                <a:latin typeface="Aptos" pitchFamily="34" charset="0"/>
                <a:ea typeface="Aptos" pitchFamily="34" charset="-122"/>
                <a:cs typeface="Aptos" pitchFamily="34" charset="-120"/>
              </a:rPr>
              <a:t>https://github.com/epascalau/personal-library</a:t>
            </a:r>
            <a:endParaRPr lang="en-US" sz="1400" dirty="0"/>
          </a:p>
        </p:txBody>
      </p:sp>
      <p:sp>
        <p:nvSpPr>
          <p:cNvPr id="7" name="Text 5"/>
          <p:cNvSpPr/>
          <p:nvPr/>
        </p:nvSpPr>
        <p:spPr>
          <a:xfrm>
            <a:off x="914400" y="2194560"/>
            <a:ext cx="2057400" cy="228600"/>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Frontend architecture</a:t>
            </a:r>
            <a:endParaRPr lang="en-US" sz="1500" dirty="0"/>
          </a:p>
        </p:txBody>
      </p:sp>
      <p:sp>
        <p:nvSpPr>
          <p:cNvPr id="8" name="Text 6"/>
          <p:cNvSpPr/>
          <p:nvPr/>
        </p:nvSpPr>
        <p:spPr>
          <a:xfrm>
            <a:off x="2971800" y="2194560"/>
            <a:ext cx="8046720" cy="228600"/>
          </a:xfrm>
          <a:prstGeom prst="rect">
            <a:avLst/>
          </a:prstGeom>
          <a:noFill/>
          <a:ln/>
        </p:spPr>
        <p:txBody>
          <a:bodyPr wrap="square" lIns="0" tIns="0" rIns="0" bIns="0" rtlCol="0" anchor="ctr">
            <a:normAutofit/>
          </a:bodyPr>
          <a:lstStyle/>
          <a:p>
            <a:pPr indent="0" marL="0">
              <a:buNone/>
            </a:pPr>
            <a:r>
              <a:rPr lang="en-US" sz="1400" dirty="0">
                <a:solidFill>
                  <a:srgbClr val="1D4ED8"/>
                </a:solidFill>
                <a:latin typeface="Aptos" pitchFamily="34" charset="0"/>
                <a:ea typeface="Aptos" pitchFamily="34" charset="-122"/>
                <a:cs typeface="Aptos" pitchFamily="34" charset="-120"/>
              </a:rPr>
              <a:t>docs/FRONTEND_ARCHITECTURE.md</a:t>
            </a:r>
            <a:endParaRPr lang="en-US" sz="1400" dirty="0"/>
          </a:p>
        </p:txBody>
      </p:sp>
      <p:sp>
        <p:nvSpPr>
          <p:cNvPr id="9" name="Text 7"/>
          <p:cNvSpPr/>
          <p:nvPr/>
        </p:nvSpPr>
        <p:spPr>
          <a:xfrm>
            <a:off x="914400" y="2761488"/>
            <a:ext cx="2057400" cy="228600"/>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Backend architecture</a:t>
            </a:r>
            <a:endParaRPr lang="en-US" sz="1500" dirty="0"/>
          </a:p>
        </p:txBody>
      </p:sp>
      <p:sp>
        <p:nvSpPr>
          <p:cNvPr id="10" name="Text 8"/>
          <p:cNvSpPr/>
          <p:nvPr/>
        </p:nvSpPr>
        <p:spPr>
          <a:xfrm>
            <a:off x="2971800" y="2761488"/>
            <a:ext cx="8046720" cy="228600"/>
          </a:xfrm>
          <a:prstGeom prst="rect">
            <a:avLst/>
          </a:prstGeom>
          <a:noFill/>
          <a:ln/>
        </p:spPr>
        <p:txBody>
          <a:bodyPr wrap="square" lIns="0" tIns="0" rIns="0" bIns="0" rtlCol="0" anchor="ctr">
            <a:normAutofit/>
          </a:bodyPr>
          <a:lstStyle/>
          <a:p>
            <a:pPr indent="0" marL="0">
              <a:buNone/>
            </a:pPr>
            <a:r>
              <a:rPr lang="en-US" sz="1400" dirty="0">
                <a:solidFill>
                  <a:srgbClr val="1D4ED8"/>
                </a:solidFill>
                <a:latin typeface="Aptos" pitchFamily="34" charset="0"/>
                <a:ea typeface="Aptos" pitchFamily="34" charset="-122"/>
                <a:cs typeface="Aptos" pitchFamily="34" charset="-120"/>
              </a:rPr>
              <a:t>docs/BACKEND_ARCHITECTURE.md</a:t>
            </a:r>
            <a:endParaRPr lang="en-US" sz="1400" dirty="0"/>
          </a:p>
        </p:txBody>
      </p:sp>
      <p:sp>
        <p:nvSpPr>
          <p:cNvPr id="11" name="Text 9"/>
          <p:cNvSpPr/>
          <p:nvPr/>
        </p:nvSpPr>
        <p:spPr>
          <a:xfrm>
            <a:off x="914400" y="3328416"/>
            <a:ext cx="2057400" cy="228600"/>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DevOps guide</a:t>
            </a:r>
            <a:endParaRPr lang="en-US" sz="1500" dirty="0"/>
          </a:p>
        </p:txBody>
      </p:sp>
      <p:sp>
        <p:nvSpPr>
          <p:cNvPr id="12" name="Text 10"/>
          <p:cNvSpPr/>
          <p:nvPr/>
        </p:nvSpPr>
        <p:spPr>
          <a:xfrm>
            <a:off x="2971800" y="3328416"/>
            <a:ext cx="8046720" cy="228600"/>
          </a:xfrm>
          <a:prstGeom prst="rect">
            <a:avLst/>
          </a:prstGeom>
          <a:noFill/>
          <a:ln/>
        </p:spPr>
        <p:txBody>
          <a:bodyPr wrap="square" lIns="0" tIns="0" rIns="0" bIns="0" rtlCol="0" anchor="ctr">
            <a:normAutofit/>
          </a:bodyPr>
          <a:lstStyle/>
          <a:p>
            <a:pPr indent="0" marL="0">
              <a:buNone/>
            </a:pPr>
            <a:r>
              <a:rPr lang="en-US" sz="1400" dirty="0">
                <a:solidFill>
                  <a:srgbClr val="1D4ED8"/>
                </a:solidFill>
                <a:latin typeface="Aptos" pitchFamily="34" charset="0"/>
                <a:ea typeface="Aptos" pitchFamily="34" charset="-122"/>
                <a:cs typeface="Aptos" pitchFamily="34" charset="-120"/>
              </a:rPr>
              <a:t>docs/DEVOPS_GUIDE.md</a:t>
            </a:r>
            <a:endParaRPr lang="en-US" sz="1400" dirty="0"/>
          </a:p>
        </p:txBody>
      </p:sp>
      <p:sp>
        <p:nvSpPr>
          <p:cNvPr id="13" name="Text 11"/>
          <p:cNvSpPr/>
          <p:nvPr/>
        </p:nvSpPr>
        <p:spPr>
          <a:xfrm>
            <a:off x="914400" y="3895344"/>
            <a:ext cx="2057400" cy="228600"/>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RAG comparison</a:t>
            </a:r>
            <a:endParaRPr lang="en-US" sz="1500" dirty="0"/>
          </a:p>
        </p:txBody>
      </p:sp>
      <p:sp>
        <p:nvSpPr>
          <p:cNvPr id="14" name="Text 12"/>
          <p:cNvSpPr/>
          <p:nvPr/>
        </p:nvSpPr>
        <p:spPr>
          <a:xfrm>
            <a:off x="2971800" y="3895344"/>
            <a:ext cx="8046720" cy="228600"/>
          </a:xfrm>
          <a:prstGeom prst="rect">
            <a:avLst/>
          </a:prstGeom>
          <a:noFill/>
          <a:ln/>
        </p:spPr>
        <p:txBody>
          <a:bodyPr wrap="square" lIns="0" tIns="0" rIns="0" bIns="0" rtlCol="0" anchor="ctr">
            <a:normAutofit/>
          </a:bodyPr>
          <a:lstStyle/>
          <a:p>
            <a:pPr indent="0" marL="0">
              <a:buNone/>
            </a:pPr>
            <a:r>
              <a:rPr lang="en-US" sz="1400" dirty="0">
                <a:solidFill>
                  <a:srgbClr val="1D4ED8"/>
                </a:solidFill>
                <a:latin typeface="Aptos" pitchFamily="34" charset="0"/>
                <a:ea typeface="Aptos" pitchFamily="34" charset="-122"/>
                <a:cs typeface="Aptos" pitchFamily="34" charset="-120"/>
              </a:rPr>
              <a:t>docs/RAG_ARCHITECTURE_COMPARISON.md</a:t>
            </a:r>
            <a:endParaRPr lang="en-US" sz="1400" dirty="0"/>
          </a:p>
        </p:txBody>
      </p:sp>
      <p:sp>
        <p:nvSpPr>
          <p:cNvPr id="15" name="Text 13"/>
          <p:cNvSpPr/>
          <p:nvPr/>
        </p:nvSpPr>
        <p:spPr>
          <a:xfrm>
            <a:off x="914400" y="4462272"/>
            <a:ext cx="2057400" cy="228600"/>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CS PhD perspective</a:t>
            </a:r>
            <a:endParaRPr lang="en-US" sz="1500" dirty="0"/>
          </a:p>
        </p:txBody>
      </p:sp>
      <p:sp>
        <p:nvSpPr>
          <p:cNvPr id="16" name="Text 14"/>
          <p:cNvSpPr/>
          <p:nvPr/>
        </p:nvSpPr>
        <p:spPr>
          <a:xfrm>
            <a:off x="2971800" y="4462272"/>
            <a:ext cx="8046720" cy="228600"/>
          </a:xfrm>
          <a:prstGeom prst="rect">
            <a:avLst/>
          </a:prstGeom>
          <a:noFill/>
          <a:ln/>
        </p:spPr>
        <p:txBody>
          <a:bodyPr wrap="square" lIns="0" tIns="0" rIns="0" bIns="0" rtlCol="0" anchor="ctr">
            <a:normAutofit/>
          </a:bodyPr>
          <a:lstStyle/>
          <a:p>
            <a:pPr indent="0" marL="0">
              <a:buNone/>
            </a:pPr>
            <a:r>
              <a:rPr lang="en-US" sz="1400" dirty="0">
                <a:solidFill>
                  <a:srgbClr val="1D4ED8"/>
                </a:solidFill>
                <a:latin typeface="Aptos" pitchFamily="34" charset="0"/>
                <a:ea typeface="Aptos" pitchFamily="34" charset="-122"/>
                <a:cs typeface="Aptos" pitchFamily="34" charset="-120"/>
              </a:rPr>
              <a:t>docs/CS_PHD_PERSPECTIVE.md</a:t>
            </a:r>
            <a:endParaRPr lang="en-US" sz="1400" dirty="0"/>
          </a:p>
        </p:txBody>
      </p:sp>
      <p:sp>
        <p:nvSpPr>
          <p:cNvPr id="17" name="Shape 15"/>
          <p:cNvSpPr/>
          <p:nvPr/>
        </p:nvSpPr>
        <p:spPr>
          <a:xfrm>
            <a:off x="914400" y="5394960"/>
            <a:ext cx="10195560" cy="658368"/>
          </a:xfrm>
          <a:prstGeom prst="roundRect">
            <a:avLst>
              <a:gd name="adj" fmla="val 11111"/>
            </a:avLst>
          </a:prstGeom>
          <a:solidFill>
            <a:srgbClr val="E2E8F0"/>
          </a:solidFill>
          <a:ln w="12700">
            <a:solidFill>
              <a:srgbClr val="CBD5E1"/>
            </a:solidFill>
            <a:prstDash val="solid"/>
          </a:ln>
        </p:spPr>
      </p:sp>
      <p:sp>
        <p:nvSpPr>
          <p:cNvPr id="18" name="Text 16"/>
          <p:cNvSpPr/>
          <p:nvPr/>
        </p:nvSpPr>
        <p:spPr>
          <a:xfrm>
            <a:off x="1188720" y="5577840"/>
            <a:ext cx="9646920" cy="274320"/>
          </a:xfrm>
          <a:prstGeom prst="rect">
            <a:avLst/>
          </a:prstGeom>
          <a:noFill/>
          <a:ln/>
        </p:spPr>
        <p:txBody>
          <a:bodyPr wrap="square" lIns="0" tIns="0" rIns="0" bIns="0" rtlCol="0" anchor="ctr">
            <a:normAutofit/>
          </a:bodyPr>
          <a:lstStyle/>
          <a:p>
            <a:pPr algn="ctr" indent="0" marL="0">
              <a:buNone/>
            </a:pPr>
            <a:r>
              <a:rPr lang="en-US" sz="1400" b="1" dirty="0">
                <a:solidFill>
                  <a:srgbClr val="334155"/>
                </a:solidFill>
                <a:latin typeface="Aptos" pitchFamily="34" charset="0"/>
                <a:ea typeface="Aptos" pitchFamily="34" charset="-122"/>
                <a:cs typeface="Aptos" pitchFamily="34" charset="-120"/>
              </a:rPr>
              <a:t>Planned final release: publish the versioned docs/ collection through GitHub Pages; keep the repository Markdown as the source of truth.</a:t>
            </a:r>
            <a:endParaRPr lang="en-US" sz="14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92608"/>
            <a:ext cx="4114800" cy="201168"/>
          </a:xfrm>
          <a:prstGeom prst="rect">
            <a:avLst/>
          </a:prstGeom>
          <a:noFill/>
          <a:ln/>
        </p:spPr>
        <p:txBody>
          <a:bodyPr wrap="square" lIns="0" tIns="0" rIns="0" bIns="0" rtlCol="0" anchor="ctr">
            <a:normAutofit/>
          </a:bodyPr>
          <a:lstStyle/>
          <a:p>
            <a:pPr indent="0" marL="0">
              <a:buNone/>
            </a:pPr>
            <a:r>
              <a:rPr lang="en-US" sz="900" b="1" spc="110" kern="0" dirty="0">
                <a:solidFill>
                  <a:srgbClr val="0F766E"/>
                </a:solidFill>
                <a:latin typeface="Aptos" pitchFamily="34" charset="0"/>
                <a:ea typeface="Aptos" pitchFamily="34" charset="-122"/>
                <a:cs typeface="Aptos" pitchFamily="34" charset="-120"/>
              </a:rPr>
              <a:t>SELECTED BIBLIOGRAPHY</a:t>
            </a:r>
            <a:endParaRPr lang="en-US" sz="900" dirty="0"/>
          </a:p>
        </p:txBody>
      </p:sp>
      <p:sp>
        <p:nvSpPr>
          <p:cNvPr id="3" name="Text 1"/>
          <p:cNvSpPr/>
          <p:nvPr/>
        </p:nvSpPr>
        <p:spPr>
          <a:xfrm>
            <a:off x="502920" y="594360"/>
            <a:ext cx="11109960" cy="530352"/>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Aptos" pitchFamily="34" charset="0"/>
                <a:ea typeface="Aptos" pitchFamily="34" charset="-122"/>
                <a:cs typeface="Aptos" pitchFamily="34" charset="-120"/>
              </a:rPr>
              <a:t>Start with the ideas behind the implementation</a:t>
            </a:r>
            <a:endParaRPr lang="en-US" sz="2700" dirty="0"/>
          </a:p>
        </p:txBody>
      </p:sp>
      <p:sp>
        <p:nvSpPr>
          <p:cNvPr id="4" name="Text 2"/>
          <p:cNvSpPr/>
          <p:nvPr/>
        </p:nvSpPr>
        <p:spPr>
          <a:xfrm>
            <a:off x="530352" y="1188720"/>
            <a:ext cx="10881360" cy="347472"/>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Aptos" pitchFamily="34" charset="0"/>
                <a:ea typeface="Aptos" pitchFamily="34" charset="-122"/>
                <a:cs typeface="Aptos" pitchFamily="34" charset="-120"/>
              </a:rPr>
              <a:t>The full bibliography remains in the repository learning and RAG documents.</a:t>
            </a:r>
            <a:endParaRPr lang="en-US" sz="1200" dirty="0"/>
          </a:p>
        </p:txBody>
      </p:sp>
      <p:sp>
        <p:nvSpPr>
          <p:cNvPr id="5" name="Text 3"/>
          <p:cNvSpPr/>
          <p:nvPr/>
        </p:nvSpPr>
        <p:spPr>
          <a:xfrm>
            <a:off x="868680" y="1600200"/>
            <a:ext cx="2331720"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Lewis et al. (2020)</a:t>
            </a:r>
            <a:endParaRPr lang="en-US" sz="1500" dirty="0"/>
          </a:p>
        </p:txBody>
      </p:sp>
      <p:sp>
        <p:nvSpPr>
          <p:cNvPr id="6" name="Text 4"/>
          <p:cNvSpPr/>
          <p:nvPr/>
        </p:nvSpPr>
        <p:spPr>
          <a:xfrm>
            <a:off x="3383280" y="1600200"/>
            <a:ext cx="7772400" cy="256032"/>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Retrieval-Augmented Generation for Knowledge-Intensive NLP Tasks</a:t>
            </a:r>
            <a:endParaRPr lang="en-US" sz="1400" dirty="0"/>
          </a:p>
        </p:txBody>
      </p:sp>
      <p:sp>
        <p:nvSpPr>
          <p:cNvPr id="7" name="Text 5"/>
          <p:cNvSpPr/>
          <p:nvPr/>
        </p:nvSpPr>
        <p:spPr>
          <a:xfrm>
            <a:off x="868680" y="2221992"/>
            <a:ext cx="2331720"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Gao et al. (2024)</a:t>
            </a:r>
            <a:endParaRPr lang="en-US" sz="1500" dirty="0"/>
          </a:p>
        </p:txBody>
      </p:sp>
      <p:sp>
        <p:nvSpPr>
          <p:cNvPr id="8" name="Text 6"/>
          <p:cNvSpPr/>
          <p:nvPr/>
        </p:nvSpPr>
        <p:spPr>
          <a:xfrm>
            <a:off x="3383280" y="2221992"/>
            <a:ext cx="7772400" cy="256032"/>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Retrieval-Augmented Generation for Large Language Models: A Survey</a:t>
            </a:r>
            <a:endParaRPr lang="en-US" sz="1400" dirty="0"/>
          </a:p>
        </p:txBody>
      </p:sp>
      <p:sp>
        <p:nvSpPr>
          <p:cNvPr id="9" name="Text 7"/>
          <p:cNvSpPr/>
          <p:nvPr/>
        </p:nvSpPr>
        <p:spPr>
          <a:xfrm>
            <a:off x="868680" y="2843784"/>
            <a:ext cx="2331720"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Vaswani et al. (2017)</a:t>
            </a:r>
            <a:endParaRPr lang="en-US" sz="1500" dirty="0"/>
          </a:p>
        </p:txBody>
      </p:sp>
      <p:sp>
        <p:nvSpPr>
          <p:cNvPr id="10" name="Text 8"/>
          <p:cNvSpPr/>
          <p:nvPr/>
        </p:nvSpPr>
        <p:spPr>
          <a:xfrm>
            <a:off x="3383280" y="2843784"/>
            <a:ext cx="7772400" cy="256032"/>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Attention Is All You Need</a:t>
            </a:r>
            <a:endParaRPr lang="en-US" sz="1400" dirty="0"/>
          </a:p>
        </p:txBody>
      </p:sp>
      <p:sp>
        <p:nvSpPr>
          <p:cNvPr id="11" name="Text 9"/>
          <p:cNvSpPr/>
          <p:nvPr/>
        </p:nvSpPr>
        <p:spPr>
          <a:xfrm>
            <a:off x="868680" y="3465576"/>
            <a:ext cx="2331720"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Qdrant documentation</a:t>
            </a:r>
            <a:endParaRPr lang="en-US" sz="1500" dirty="0"/>
          </a:p>
        </p:txBody>
      </p:sp>
      <p:sp>
        <p:nvSpPr>
          <p:cNvPr id="12" name="Text 10"/>
          <p:cNvSpPr/>
          <p:nvPr/>
        </p:nvSpPr>
        <p:spPr>
          <a:xfrm>
            <a:off x="3383280" y="3465576"/>
            <a:ext cx="7772400" cy="256032"/>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Vector search, payload filtering, and HNSW indexing</a:t>
            </a:r>
            <a:endParaRPr lang="en-US" sz="1400" dirty="0"/>
          </a:p>
        </p:txBody>
      </p:sp>
      <p:sp>
        <p:nvSpPr>
          <p:cNvPr id="13" name="Text 11"/>
          <p:cNvSpPr/>
          <p:nvPr/>
        </p:nvSpPr>
        <p:spPr>
          <a:xfrm>
            <a:off x="868680" y="4087368"/>
            <a:ext cx="2331720"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Spring AI documentation</a:t>
            </a:r>
            <a:endParaRPr lang="en-US" sz="1500" dirty="0"/>
          </a:p>
        </p:txBody>
      </p:sp>
      <p:sp>
        <p:nvSpPr>
          <p:cNvPr id="14" name="Text 12"/>
          <p:cNvSpPr/>
          <p:nvPr/>
        </p:nvSpPr>
        <p:spPr>
          <a:xfrm>
            <a:off x="3383280" y="4087368"/>
            <a:ext cx="7772400" cy="256032"/>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Chat clients, Ollama integration, and vector stores</a:t>
            </a:r>
            <a:endParaRPr lang="en-US" sz="1400" dirty="0"/>
          </a:p>
        </p:txBody>
      </p:sp>
      <p:sp>
        <p:nvSpPr>
          <p:cNvPr id="15" name="Text 13"/>
          <p:cNvSpPr/>
          <p:nvPr/>
        </p:nvSpPr>
        <p:spPr>
          <a:xfrm>
            <a:off x="868680" y="4709160"/>
            <a:ext cx="2331720" cy="256032"/>
          </a:xfrm>
          <a:prstGeom prst="rect">
            <a:avLst/>
          </a:prstGeom>
          <a:noFill/>
          <a:ln/>
        </p:spPr>
        <p:txBody>
          <a:bodyPr wrap="square" lIns="0" tIns="0" rIns="0" bIns="0" rtlCol="0" anchor="ctr">
            <a:normAutofit/>
          </a:bodyPr>
          <a:lstStyle/>
          <a:p>
            <a:pPr indent="0" marL="0">
              <a:buNone/>
            </a:pPr>
            <a:r>
              <a:rPr lang="en-US" sz="1500" b="1" dirty="0">
                <a:solidFill>
                  <a:srgbClr val="0F766E"/>
                </a:solidFill>
                <a:latin typeface="Aptos" pitchFamily="34" charset="0"/>
                <a:ea typeface="Aptos" pitchFamily="34" charset="-122"/>
                <a:cs typeface="Aptos" pitchFamily="34" charset="-120"/>
              </a:rPr>
              <a:t>SAP UI5 Web Components</a:t>
            </a:r>
            <a:endParaRPr lang="en-US" sz="1500" dirty="0"/>
          </a:p>
        </p:txBody>
      </p:sp>
      <p:sp>
        <p:nvSpPr>
          <p:cNvPr id="16" name="Text 14"/>
          <p:cNvSpPr/>
          <p:nvPr/>
        </p:nvSpPr>
        <p:spPr>
          <a:xfrm>
            <a:off x="3383280" y="4709160"/>
            <a:ext cx="7772400" cy="256032"/>
          </a:xfrm>
          <a:prstGeom prst="rect">
            <a:avLst/>
          </a:prstGeom>
          <a:noFill/>
          <a:ln/>
        </p:spPr>
        <p:txBody>
          <a:bodyPr wrap="square" lIns="0" tIns="0" rIns="0" bIns="0" rtlCol="0" anchor="ctr">
            <a:normAutofit/>
          </a:bodyPr>
          <a:lstStyle/>
          <a:p>
            <a:pPr indent="0" marL="0">
              <a:buNone/>
            </a:pPr>
            <a:r>
              <a:rPr lang="en-US" sz="1400" dirty="0">
                <a:solidFill>
                  <a:srgbClr val="334155"/>
                </a:solidFill>
                <a:latin typeface="Aptos" pitchFamily="34" charset="0"/>
                <a:ea typeface="Aptos" pitchFamily="34" charset="-122"/>
                <a:cs typeface="Aptos" pitchFamily="34" charset="-120"/>
              </a:rPr>
              <a:t>Enterprise design system and accessible web components</a:t>
            </a:r>
            <a:endParaRPr lang="en-US" sz="1400" dirty="0"/>
          </a:p>
        </p:txBody>
      </p:sp>
      <p:sp>
        <p:nvSpPr>
          <p:cNvPr id="17" name="Text 15"/>
          <p:cNvSpPr/>
          <p:nvPr/>
        </p:nvSpPr>
        <p:spPr>
          <a:xfrm>
            <a:off x="4800600" y="5623560"/>
            <a:ext cx="2560320" cy="347472"/>
          </a:xfrm>
          <a:prstGeom prst="rect">
            <a:avLst/>
          </a:prstGeom>
          <a:noFill/>
          <a:ln/>
        </p:spPr>
        <p:txBody>
          <a:bodyPr wrap="square" lIns="0" tIns="0" rIns="0" bIns="0" rtlCol="0" anchor="ctr">
            <a:normAutofit/>
          </a:bodyPr>
          <a:lstStyle/>
          <a:p>
            <a:pPr algn="ctr" indent="0" marL="0">
              <a:buNone/>
            </a:pPr>
            <a:r>
              <a:rPr lang="en-US" sz="2500" b="1" dirty="0">
                <a:solidFill>
                  <a:srgbClr val="0F172A"/>
                </a:solidFill>
                <a:latin typeface="Aptos" pitchFamily="34" charset="0"/>
                <a:ea typeface="Aptos" pitchFamily="34" charset="-122"/>
                <a:cs typeface="Aptos" pitchFamily="34" charset="-120"/>
              </a:rPr>
              <a:t>Thank you</a:t>
            </a:r>
            <a:endParaRPr lang="en-US" sz="2500" dirty="0"/>
          </a:p>
        </p:txBody>
      </p:sp>
      <p:sp>
        <p:nvSpPr>
          <p:cNvPr id="25" name="Slide Number Placeholder 0"/>
          <p:cNvSpPr>
            <a:spLocks noGrp="1"/>
          </p:cNvSpPr>
          <p:nvPr>
            <p:ph type="sldNum" sz="quarter" idx="4294967295"/>
          </p:nvPr>
        </p:nvSpPr>
        <p:spPr>
          <a:xfrm>
            <a:off x="11503152" y="6437376"/>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4748B"/>
                </a:solidFill>
                <a:latin typeface="Aptos"/>
                <a:ea typeface="Aptos"/>
                <a:cs typeface="Aptos"/>
              </a:defRPr>
            </a:lvl1pPr>
          </a:lstStyle>
          <a:p>
            <a:pPr algn="l"/>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Personal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Prompting: Building a Local AI Document Assistant with LLMs and RAG</dc:title>
  <dc:subject>Beyond Prompting: Building a Local AI Document Assistant with LLMs and RAG</dc:subject>
  <dc:creator>Personal Library</dc:creator>
  <cp:lastModifiedBy>Personal Library</cp:lastModifiedBy>
  <cp:revision>1</cp:revision>
  <dcterms:created xsi:type="dcterms:W3CDTF">2026-10-07T12:25:05Z</dcterms:created>
  <dcterms:modified xsi:type="dcterms:W3CDTF">2026-10-07T12:25:05Z</dcterms:modified>
</cp:coreProperties>
</file>